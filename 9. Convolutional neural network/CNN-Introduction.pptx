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70064D-6BA7-4790-9322-0AF55EB15EE0}">
  <a:tblStyle styleId="{4770064D-6BA7-4790-9322-0AF55EB15E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c110d43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c110d43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11dae6f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11dae6f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c110d43c7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c110d43c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11dae6fc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11dae6fc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11dae6fc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11dae6fc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2bdde3518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2bdde3518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c110d43c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c110d43c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b1e4dea5c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b1e4dea5c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b1e4dea5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b1e4dea5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c110d43c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c110d43c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b1e4dea5c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b1e4dea5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c6578a6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c6578a6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b1e4dea5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b1e4dea5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c110d43c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c110d43c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c110d43c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c110d43c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c6578a60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c6578a60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c6578a60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c6578a60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c6578a60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c6578a60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2bdde3518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2bdde3518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2bdde351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2bdde351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b1e4dea5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b1e4dea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b1e4dea5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b1e4dea5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2bdde35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2bdde35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b1e4dea5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eb1e4dea5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b1e4dea5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eb1e4dea5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b1e4dea5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eb1e4dea5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b1e4dea5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eb1e4dea5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b1e4dea5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b1e4dea5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b1e4dea5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b1e4dea5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b1e4dea5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eb1e4dea5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b1e4dea5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eb1e4dea5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b1e4dea5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eb1e4dea5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b1e4dea5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eb1e4dea5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efcac9d4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efcac9d4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efcac9d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eefcac9d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b1e4dea5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eb1e4dea5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c110d43c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ec110d43c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c110d43c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c110d43c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b1e4dea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eb1e4dea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c110d43c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ec110d43c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c110d43c7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ec110d43c7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c110d43c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c110d43c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c110d43c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ec110d43c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c110d43c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c110d43c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c110d43c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ec110d43c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c110d43c7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ec110d43c7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c110d43c7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ec110d43c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ec110d43c7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ec110d43c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c6578a60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ec6578a60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setosa.io/ev/image-kernels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gif"/><Relationship Id="rId4" Type="http://schemas.openxmlformats.org/officeDocument/2006/relationships/image" Target="../media/image18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gif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gif"/><Relationship Id="rId4" Type="http://schemas.openxmlformats.org/officeDocument/2006/relationships/image" Target="../media/image28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gif"/><Relationship Id="rId4" Type="http://schemas.openxmlformats.org/officeDocument/2006/relationships/image" Target="../media/image37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1.gif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10750"/>
            <a:ext cx="8520600" cy="14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200"/>
              <a:t>Computer Vision and Convolutional Neural Network</a:t>
            </a:r>
            <a:endParaRPr sz="3200"/>
          </a:p>
        </p:txBody>
      </p:sp>
      <p:sp>
        <p:nvSpPr>
          <p:cNvPr id="55" name="Google Shape;55;p13"/>
          <p:cNvSpPr txBox="1"/>
          <p:nvPr/>
        </p:nvSpPr>
        <p:spPr>
          <a:xfrm>
            <a:off x="2462213" y="3364350"/>
            <a:ext cx="42192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Abdullah Saihan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A</a:t>
            </a:r>
            <a:r>
              <a:rPr lang="en" sz="2200"/>
              <a:t>rtificial Intelligence</a:t>
            </a:r>
            <a:r>
              <a:rPr lang="en" sz="2200">
                <a:solidFill>
                  <a:srgbClr val="000000"/>
                </a:solidFill>
              </a:rPr>
              <a:t> Engineer</a:t>
            </a:r>
            <a:endParaRPr sz="2200">
              <a:solidFill>
                <a:srgbClr val="595959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5250" y="4226325"/>
            <a:ext cx="1793126" cy="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Vision Application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063" y="1186625"/>
            <a:ext cx="8053875" cy="334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Detection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613" y="1281875"/>
            <a:ext cx="5848781" cy="3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Medical Imaging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612925" cy="292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52476"/>
            <a:ext cx="4260300" cy="3062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Manufacturing and Sports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90899"/>
            <a:ext cx="4485523" cy="2995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7216" y="1190900"/>
            <a:ext cx="3922507" cy="2995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are Fundamentally </a:t>
            </a:r>
            <a:r>
              <a:rPr lang="en"/>
              <a:t>Metrics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4100" y="1348175"/>
            <a:ext cx="66294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1425" y="1258013"/>
            <a:ext cx="3838575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8986" y="2263899"/>
            <a:ext cx="5969026" cy="21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075" y="1152475"/>
            <a:ext cx="8306099" cy="335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RGB Image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2225" y="1170850"/>
            <a:ext cx="4540600" cy="337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 Theory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 rotWithShape="1">
          <a:blip r:embed="rId3">
            <a:alphaModFix/>
          </a:blip>
          <a:srcRect b="0" l="19278" r="16865" t="0"/>
          <a:stretch/>
        </p:blipFill>
        <p:spPr>
          <a:xfrm>
            <a:off x="387050" y="1231150"/>
            <a:ext cx="3103474" cy="3239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7750" y="1465400"/>
            <a:ext cx="3005724" cy="300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Channel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2100"/>
            <a:ext cx="8520600" cy="2544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 for Image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2100" y="1152475"/>
            <a:ext cx="5171450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300" y="1152475"/>
            <a:ext cx="48314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225" y="1197975"/>
            <a:ext cx="7035551" cy="332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500" y="1223375"/>
            <a:ext cx="5841149" cy="328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of Spatial Information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Nature of Image Data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Images contain spatial information, not just numbers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Nearby pixels are related (local patterns)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Edges, shapes, and textures matter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Feature location is important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Problem with ANN: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Image is flattened into a 1D vector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Loses pixel relationships and spatial structure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Example: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</a:rPr>
              <a:t>100×100 Image → 10,000 pixel values</a:t>
            </a:r>
            <a:endParaRPr sz="11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Massive Number of Parameters</a:t>
            </a:r>
            <a:endParaRPr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ANN uses fully connected layers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Example: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Image: </a:t>
            </a:r>
            <a:r>
              <a:rPr lang="en" sz="1100">
                <a:solidFill>
                  <a:srgbClr val="188038"/>
                </a:solidFill>
              </a:rPr>
              <a:t>100×100 = 10,000 inputs</a:t>
            </a:r>
            <a:endParaRPr sz="1100"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Hidden layer: </a:t>
            </a:r>
            <a:r>
              <a:rPr lang="en" sz="1100">
                <a:solidFill>
                  <a:srgbClr val="188038"/>
                </a:solidFill>
              </a:rPr>
              <a:t>100 neurons</a:t>
            </a:r>
            <a:endParaRPr sz="1100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Parameters: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</a:rPr>
              <a:t>10,000 × 100 = 1,000,000 weights</a:t>
            </a:r>
            <a:endParaRPr sz="1100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For large images: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Huge memory usage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Slow training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More overfitting risk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of Translational Invariance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Objects can appear anywhere in an image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In one image, the dog is on the left.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In another image, the dog is on the right.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Basic ANN: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Treats them as different patterns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Needs to learn each position separately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CNN: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Detects the same feature anywhere in the image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Better handles object movement/position changes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4874" y="1496912"/>
            <a:ext cx="3285175" cy="214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1"/>
          <p:cNvSpPr txBox="1"/>
          <p:nvPr/>
        </p:nvSpPr>
        <p:spPr>
          <a:xfrm>
            <a:off x="1805700" y="2284475"/>
            <a:ext cx="4719300" cy="9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Image Kernels explained visually</a:t>
            </a:r>
            <a:endParaRPr sz="2700"/>
          </a:p>
        </p:txBody>
      </p:sp>
      <p:sp>
        <p:nvSpPr>
          <p:cNvPr id="185" name="Google Shape;185;p31"/>
          <p:cNvSpPr txBox="1"/>
          <p:nvPr/>
        </p:nvSpPr>
        <p:spPr>
          <a:xfrm>
            <a:off x="452525" y="1268225"/>
            <a:ext cx="8118600" cy="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 image filter is a mathematical or digital process that changes the pixels of an image to alter its colors, reduce noise, or highlight </a:t>
            </a:r>
            <a:r>
              <a:rPr b="1" lang="en" sz="1800">
                <a:solidFill>
                  <a:srgbClr val="3C78D8"/>
                </a:solidFill>
              </a:rPr>
              <a:t>specific features</a:t>
            </a:r>
            <a:r>
              <a:rPr lang="en" sz="1800">
                <a:solidFill>
                  <a:schemeClr val="dk1"/>
                </a:solidFill>
              </a:rPr>
              <a:t> like edges and shapes 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</a:t>
            </a:r>
            <a:endParaRPr/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32"/>
          <p:cNvPicPr preferRelativeResize="0"/>
          <p:nvPr/>
        </p:nvPicPr>
        <p:blipFill rotWithShape="1">
          <a:blip r:embed="rId3">
            <a:alphaModFix/>
          </a:blip>
          <a:srcRect b="19027" l="9607" r="13600" t="18032"/>
          <a:stretch/>
        </p:blipFill>
        <p:spPr>
          <a:xfrm>
            <a:off x="4117550" y="1915150"/>
            <a:ext cx="4628724" cy="21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025" y="1793675"/>
            <a:ext cx="3663532" cy="21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0550" y="1401503"/>
            <a:ext cx="4130600" cy="269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375" y="1204137"/>
            <a:ext cx="7049075" cy="331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RGB Convolution</a:t>
            </a:r>
            <a:endParaRPr/>
          </a:p>
        </p:txBody>
      </p:sp>
      <p:sp>
        <p:nvSpPr>
          <p:cNvPr id="213" name="Google Shape;21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900" y="1183950"/>
            <a:ext cx="5963926" cy="335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Pooling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425" y="1152475"/>
            <a:ext cx="6747375" cy="300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Pooling</a:t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37"/>
          <p:cNvPicPr preferRelativeResize="0"/>
          <p:nvPr/>
        </p:nvPicPr>
        <p:blipFill rotWithShape="1">
          <a:blip r:embed="rId3">
            <a:alphaModFix/>
          </a:blip>
          <a:srcRect b="20000" l="0" r="8817" t="18080"/>
          <a:stretch/>
        </p:blipFill>
        <p:spPr>
          <a:xfrm>
            <a:off x="311700" y="1152475"/>
            <a:ext cx="8337699" cy="31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38"/>
          <p:cNvPicPr preferRelativeResize="0"/>
          <p:nvPr/>
        </p:nvPicPr>
        <p:blipFill rotWithShape="1">
          <a:blip r:embed="rId3">
            <a:alphaModFix/>
          </a:blip>
          <a:srcRect b="5959" l="4105" r="7046" t="4024"/>
          <a:stretch/>
        </p:blipFill>
        <p:spPr>
          <a:xfrm>
            <a:off x="938325" y="1152475"/>
            <a:ext cx="6665825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9543" y="1169713"/>
            <a:ext cx="5124155" cy="338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Padding</a:t>
            </a:r>
            <a:endParaRPr/>
          </a:p>
        </p:txBody>
      </p:sp>
      <p:sp>
        <p:nvSpPr>
          <p:cNvPr id="248" name="Google Shape;24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400" y="1152475"/>
            <a:ext cx="68328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 Padding (No Padding)</a:t>
            </a:r>
            <a:endParaRPr/>
          </a:p>
        </p:txBody>
      </p:sp>
      <p:sp>
        <p:nvSpPr>
          <p:cNvPr id="255" name="Google Shape;25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41"/>
          <p:cNvPicPr preferRelativeResize="0"/>
          <p:nvPr/>
        </p:nvPicPr>
        <p:blipFill rotWithShape="1">
          <a:blip r:embed="rId3">
            <a:alphaModFix/>
          </a:blip>
          <a:srcRect b="18338" l="6777" r="0" t="11130"/>
          <a:stretch/>
        </p:blipFill>
        <p:spPr>
          <a:xfrm>
            <a:off x="1410225" y="1152475"/>
            <a:ext cx="5984275" cy="328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Lost Pixels</a:t>
            </a:r>
            <a:endParaRPr/>
          </a:p>
        </p:txBody>
      </p:sp>
      <p:sp>
        <p:nvSpPr>
          <p:cNvPr id="262" name="Google Shape;26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0800" y="1152475"/>
            <a:ext cx="4445226" cy="33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Padding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8750" y="1195100"/>
            <a:ext cx="2930525" cy="333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Stride</a:t>
            </a:r>
            <a:endParaRPr/>
          </a:p>
        </p:txBody>
      </p:sp>
      <p:sp>
        <p:nvSpPr>
          <p:cNvPr id="276" name="Google Shape;276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300" y="1178425"/>
            <a:ext cx="4845752" cy="336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Strided vs Non-Strided Convolution</a:t>
            </a:r>
            <a:endParaRPr/>
          </a:p>
        </p:txBody>
      </p:sp>
      <p:sp>
        <p:nvSpPr>
          <p:cNvPr id="283" name="Google Shape;28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5975" y="1152475"/>
            <a:ext cx="2930525" cy="333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425" y="1152477"/>
            <a:ext cx="3453567" cy="333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Stride =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2221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Stride = 2</a:t>
            </a:r>
            <a:endParaRPr/>
          </a:p>
        </p:txBody>
      </p:sp>
      <p:sp>
        <p:nvSpPr>
          <p:cNvPr id="298" name="Google Shape;298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2156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Stride with and without padding</a:t>
            </a:r>
            <a:endParaRPr/>
          </a:p>
        </p:txBody>
      </p:sp>
      <p:sp>
        <p:nvSpPr>
          <p:cNvPr id="305" name="Google Shape;305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775" y="1152476"/>
            <a:ext cx="3213625" cy="30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0100" y="1152475"/>
            <a:ext cx="3271000" cy="320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550" y="1183125"/>
            <a:ext cx="6723384" cy="335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500" y="1217450"/>
            <a:ext cx="7387625" cy="328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a CNN learn from images? </a:t>
            </a:r>
            <a:endParaRPr/>
          </a:p>
        </p:txBody>
      </p:sp>
      <p:sp>
        <p:nvSpPr>
          <p:cNvPr id="327" name="Google Shape;32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8" name="Google Shape;32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7485" y="1152475"/>
            <a:ext cx="6064616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233" y="1191398"/>
            <a:ext cx="6668866" cy="33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4230" y="1152475"/>
            <a:ext cx="289554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9" name="Google Shape;34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200" y="1152475"/>
            <a:ext cx="705319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600" y="1152475"/>
            <a:ext cx="5510316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3" name="Google Shape;363;p56"/>
          <p:cNvPicPr preferRelativeResize="0"/>
          <p:nvPr/>
        </p:nvPicPr>
        <p:blipFill rotWithShape="1">
          <a:blip r:embed="rId3">
            <a:alphaModFix/>
          </a:blip>
          <a:srcRect b="0" l="0" r="0" t="7425"/>
          <a:stretch/>
        </p:blipFill>
        <p:spPr>
          <a:xfrm>
            <a:off x="927275" y="1463700"/>
            <a:ext cx="7485226" cy="31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300" y="591800"/>
            <a:ext cx="6615226" cy="412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025" y="1615999"/>
            <a:ext cx="8453949" cy="174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84" name="Google Shape;384;p59"/>
          <p:cNvGraphicFramePr/>
          <p:nvPr/>
        </p:nvGraphicFramePr>
        <p:xfrm>
          <a:off x="3117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{4770064D-6BA7-4790-9322-0AF55EB15EE0}</a:tableStyleId>
              </a:tblPr>
              <a:tblGrid>
                <a:gridCol w="2818825"/>
                <a:gridCol w="2818825"/>
                <a:gridCol w="2818825"/>
              </a:tblGrid>
              <a:tr h="464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CNN Layer Stage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What it Learns / Detects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Intuition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Input Layer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Raw pixels (RGB values)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Just the image as numbers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Early Convolutional Layers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Edges, lines, corners, simple textures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Detects basic shapes like vertical/horizontal lines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Middle Convolutional Layers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Patterns, parts of objects (eyes, wheels, fur, curves)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Combines edges into meaningful parts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Deep </a:t>
                      </a:r>
                      <a:r>
                        <a:rPr b="1" lang="en" sz="1100"/>
                        <a:t>Convolutional</a:t>
                      </a:r>
                      <a:r>
                        <a:rPr b="1" lang="en" sz="1100"/>
                        <a:t> Layers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High-level object structures (faces, animals, cars)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Understands “what object is present”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Fully Connected Layers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Final decision / classification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Uses learned features to predict label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1" name="Google Shape;39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700" y="445025"/>
            <a:ext cx="7549245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61"/>
          <p:cNvSpPr txBox="1"/>
          <p:nvPr/>
        </p:nvSpPr>
        <p:spPr>
          <a:xfrm>
            <a:off x="3081000" y="2298175"/>
            <a:ext cx="29820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dk2"/>
                </a:solidFill>
              </a:rPr>
              <a:t>Thank You</a:t>
            </a:r>
            <a:endParaRPr sz="4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