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" name="Google Shape;41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" name="Google Shape;43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4" name="Google Shape;46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6" name="Google Shape;49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5" name="Google Shape;52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9" name="Google Shape;54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6" name="Google Shape;56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3" name="Google Shape;60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0" name="Google Shape;640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8" name="Google Shape;678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slide" Target="/ppt/slides/slide15.xml"/><Relationship Id="rId10" Type="http://schemas.openxmlformats.org/officeDocument/2006/relationships/slide" Target="/ppt/slides/slide10.xml"/><Relationship Id="rId13" Type="http://schemas.openxmlformats.org/officeDocument/2006/relationships/slide" Target="/ppt/slides/slide15.xml"/><Relationship Id="rId12" Type="http://schemas.openxmlformats.org/officeDocument/2006/relationships/slide" Target="/ppt/slides/slide15.xm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slide" Target="/ppt/slides/slide3.xml"/><Relationship Id="rId4" Type="http://schemas.openxmlformats.org/officeDocument/2006/relationships/slide" Target="/ppt/slides/slide3.xml"/><Relationship Id="rId9" Type="http://schemas.openxmlformats.org/officeDocument/2006/relationships/slide" Target="/ppt/slides/slide10.xml"/><Relationship Id="rId15" Type="http://schemas.openxmlformats.org/officeDocument/2006/relationships/slide" Target="/ppt/slides/slide23.xml"/><Relationship Id="rId14" Type="http://schemas.openxmlformats.org/officeDocument/2006/relationships/slide" Target="/ppt/slides/slide15.xml"/><Relationship Id="rId17" Type="http://schemas.openxmlformats.org/officeDocument/2006/relationships/slide" Target="/ppt/slides/slide23.xml"/><Relationship Id="rId16" Type="http://schemas.openxmlformats.org/officeDocument/2006/relationships/slide" Target="/ppt/slides/slide23.xml"/><Relationship Id="rId5" Type="http://schemas.openxmlformats.org/officeDocument/2006/relationships/slide" Target="/ppt/slides/slide3.xml"/><Relationship Id="rId6" Type="http://schemas.openxmlformats.org/officeDocument/2006/relationships/slide" Target="/ppt/slides/slide3.xml"/><Relationship Id="rId18" Type="http://schemas.openxmlformats.org/officeDocument/2006/relationships/slide" Target="/ppt/slides/slide23.xml"/><Relationship Id="rId7" Type="http://schemas.openxmlformats.org/officeDocument/2006/relationships/slide" Target="/ppt/slides/slide10.xml"/><Relationship Id="rId8" Type="http://schemas.openxmlformats.org/officeDocument/2006/relationships/slide" Target="/ppt/slides/slide10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219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6880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5D6880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6766560" y="1051560"/>
            <a:ext cx="4846320" cy="4754880"/>
          </a:xfrm>
          <a:prstGeom prst="roundRect">
            <a:avLst>
              <a:gd fmla="val 2692" name="adj"/>
            </a:avLst>
          </a:prstGeom>
          <a:solidFill>
            <a:srgbClr val="1E2430"/>
          </a:solidFill>
          <a:ln cap="flat" cmpd="sng" w="12700">
            <a:solidFill>
              <a:srgbClr val="262E3D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6995160" y="1280160"/>
            <a:ext cx="146304" cy="146304"/>
          </a:xfrm>
          <a:prstGeom prst="ellipse">
            <a:avLst/>
          </a:prstGeom>
          <a:solidFill>
            <a:srgbClr val="FF5F56"/>
          </a:solidFill>
          <a:ln cap="flat" cmpd="sng" w="12700">
            <a:solidFill>
              <a:srgbClr val="FF5F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7251192" y="1280160"/>
            <a:ext cx="146304" cy="146304"/>
          </a:xfrm>
          <a:prstGeom prst="ellipse">
            <a:avLst/>
          </a:prstGeom>
          <a:solidFill>
            <a:srgbClr val="FFBD2E"/>
          </a:solidFill>
          <a:ln cap="flat" cmpd="sng" w="12700">
            <a:solidFill>
              <a:srgbClr val="FFBD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7507224" y="1280160"/>
            <a:ext cx="146304" cy="146304"/>
          </a:xfrm>
          <a:prstGeom prst="ellipse">
            <a:avLst/>
          </a:prstGeom>
          <a:solidFill>
            <a:srgbClr val="27C93F"/>
          </a:solidFill>
          <a:ln cap="flat" cmpd="sng" w="12700">
            <a:solidFill>
              <a:srgbClr val="27C9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7040880" y="1645920"/>
            <a:ext cx="438912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rgbClr val="F37626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F37626"/>
                </a:solidFill>
                <a:latin typeface="Courier New"/>
                <a:ea typeface="Courier New"/>
                <a:cs typeface="Courier New"/>
                <a:sym typeface="Courier New"/>
              </a:rPr>
              <a:t># Project Title</a:t>
            </a:r>
            <a:br>
              <a:rPr b="1" i="0" lang="en-US" sz="1200" u="none" cap="none" strike="noStrike">
                <a:solidFill>
                  <a:srgbClr val="F37626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00" u="none" cap="none" strike="noStrike">
                <a:solidFill>
                  <a:srgbClr val="8C99AE"/>
                </a:solidFill>
                <a:latin typeface="Courier New"/>
                <a:ea typeface="Courier New"/>
                <a:cs typeface="Courier New"/>
                <a:sym typeface="Courier New"/>
              </a:rPr>
              <a:t>Loads the dataset and builds the model.</a:t>
            </a:r>
            <a:br>
              <a:rPr b="0" i="0" lang="en-US" sz="1200" u="none" cap="none" strike="noStrike">
                <a:solidFill>
                  <a:srgbClr val="8C99AE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1200" u="none" cap="none" strike="noStrike">
                <a:solidFill>
                  <a:srgbClr val="8C99AE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200" u="none" cap="none" strike="noStrike">
                <a:solidFill>
                  <a:srgbClr val="FFB454"/>
                </a:solidFill>
                <a:latin typeface="Courier New"/>
                <a:ea typeface="Courier New"/>
                <a:cs typeface="Courier New"/>
                <a:sym typeface="Courier New"/>
              </a:rPr>
              <a:t>## 1. Setup</a:t>
            </a:r>
            <a:br>
              <a:rPr b="1" i="0" lang="en-US" sz="1200" u="none" cap="none" strike="noStrike">
                <a:solidFill>
                  <a:srgbClr val="FFB45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00" u="none" cap="none" strike="noStrike">
                <a:solidFill>
                  <a:srgbClr val="5CC8FF"/>
                </a:solidFill>
                <a:latin typeface="Courier New"/>
                <a:ea typeface="Courier New"/>
                <a:cs typeface="Courier New"/>
                <a:sym typeface="Courier New"/>
              </a:rPr>
              <a:t>import pandas as pd</a:t>
            </a:r>
            <a:br>
              <a:rPr b="0" i="0" lang="en-US" sz="1200" u="none" cap="none" strike="noStrike">
                <a:solidFill>
                  <a:srgbClr val="5CC8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0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  <a:t>SEED = 42</a:t>
            </a:r>
            <a:br>
              <a:rPr b="0" i="0" lang="en-US" sz="120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120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200" u="none" cap="none" strike="noStrike">
                <a:solidFill>
                  <a:srgbClr val="FFB454"/>
                </a:solidFill>
                <a:latin typeface="Courier New"/>
                <a:ea typeface="Courier New"/>
                <a:cs typeface="Courier New"/>
                <a:sym typeface="Courier New"/>
              </a:rPr>
              <a:t>## 2. Load Data</a:t>
            </a:r>
            <a:br>
              <a:rPr b="1" i="0" lang="en-US" sz="1200" u="none" cap="none" strike="noStrike">
                <a:solidFill>
                  <a:srgbClr val="FFB45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00" u="none" cap="none" strike="noStrike">
                <a:solidFill>
                  <a:srgbClr val="3DDC97"/>
                </a:solidFill>
                <a:latin typeface="Courier New"/>
                <a:ea typeface="Courier New"/>
                <a:cs typeface="Courier New"/>
                <a:sym typeface="Courier New"/>
              </a:rPr>
              <a:t>&gt; Note: 3% values missing</a:t>
            </a:r>
            <a:br>
              <a:rPr b="0" i="0" lang="en-US" sz="1200" u="none" cap="none" strike="noStrike">
                <a:solidFill>
                  <a:srgbClr val="3DDC97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0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  <a:t>df = pd.read_csv(path)</a:t>
            </a:r>
            <a:br>
              <a:rPr b="0" i="0" lang="en-US" sz="120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120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200" u="none" cap="none" strike="noStrike">
                <a:solidFill>
                  <a:srgbClr val="FFB454"/>
                </a:solidFill>
                <a:latin typeface="Courier New"/>
                <a:ea typeface="Courier New"/>
                <a:cs typeface="Courier New"/>
                <a:sym typeface="Courier New"/>
              </a:rPr>
              <a:t>## 3. Analysis</a:t>
            </a:r>
            <a:br>
              <a:rPr b="1" i="0" lang="en-US" sz="1200" u="none" cap="none" strike="noStrike">
                <a:solidFill>
                  <a:srgbClr val="FFB45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0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  <a:t>df.describe()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48640" y="17373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7626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F37626"/>
                </a:solidFill>
                <a:latin typeface="Courier New"/>
                <a:ea typeface="Courier New"/>
                <a:cs typeface="Courier New"/>
                <a:sym typeface="Courier New"/>
              </a:rPr>
              <a:t>A PRACTICAL WORKSHOP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48640" y="2103120"/>
            <a:ext cx="585216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448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5800"/>
              <a:buFont typeface="Arial"/>
              <a:buNone/>
            </a:pPr>
            <a:r>
              <a:rPr b="1" lang="en-US" sz="5800">
                <a:solidFill>
                  <a:srgbClr val="F2F5FA"/>
                </a:solidFill>
              </a:rPr>
              <a:t>Code</a:t>
            </a:r>
            <a:endParaRPr b="0" i="0" sz="5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448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5800"/>
              <a:buFont typeface="Arial"/>
              <a:buNone/>
            </a:pPr>
            <a:r>
              <a:rPr b="1" i="0" lang="en-US" sz="5800" u="none" cap="none" strike="noStrike">
                <a:solidFill>
                  <a:srgbClr val="F2F5FA"/>
                </a:solidFill>
                <a:latin typeface="Arial"/>
                <a:ea typeface="Arial"/>
                <a:cs typeface="Arial"/>
                <a:sym typeface="Arial"/>
              </a:rPr>
              <a:t>Mastery</a:t>
            </a:r>
            <a:endParaRPr b="0" i="0" sz="5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548640" y="4069080"/>
            <a:ext cx="5852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454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FFB454"/>
                </a:solidFill>
                <a:latin typeface="Calibri"/>
                <a:ea typeface="Calibri"/>
                <a:cs typeface="Calibri"/>
                <a:sym typeface="Calibri"/>
              </a:rPr>
              <a:t>Clean Code, Markdown &amp; Pro-Tips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548640" y="4572000"/>
            <a:ext cx="5852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9AE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8C99AE"/>
                </a:solidFill>
                <a:latin typeface="Calibri"/>
                <a:ea typeface="Calibri"/>
                <a:cs typeface="Calibri"/>
                <a:sym typeface="Calibri"/>
              </a:rPr>
              <a:t>Same code. Same output. Ten times the usefulness.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548640" y="5623560"/>
            <a:ext cx="5852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880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5D6880"/>
                </a:solidFill>
                <a:latin typeface="Courier New"/>
                <a:ea typeface="Courier New"/>
                <a:cs typeface="Courier New"/>
                <a:sym typeface="Courier New"/>
              </a:rPr>
              <a:t>Click any item on the next slide to jump to a section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219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7626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F37626"/>
                </a:solidFill>
                <a:latin typeface="Courier New"/>
                <a:ea typeface="Courier New"/>
                <a:cs typeface="Courier New"/>
                <a:sym typeface="Courier New"/>
              </a:rPr>
              <a:t>ROADMAP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48640" y="658368"/>
            <a:ext cx="102412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2F5FA"/>
                </a:solidFill>
                <a:latin typeface="Arial"/>
                <a:ea typeface="Arial"/>
                <a:cs typeface="Arial"/>
                <a:sym typeface="Arial"/>
              </a:rPr>
              <a:t>Three Habits, One Hour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6880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5D6880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548640" y="1874520"/>
            <a:ext cx="11064240" cy="896112"/>
          </a:xfrm>
          <a:prstGeom prst="roundRect">
            <a:avLst>
              <a:gd fmla="val 10204" name="adj"/>
            </a:avLst>
          </a:prstGeom>
          <a:solidFill>
            <a:srgbClr val="1E2430"/>
          </a:solidFill>
          <a:ln cap="flat" cmpd="sng" w="12700">
            <a:solidFill>
              <a:srgbClr val="262E3D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804672" y="2075688"/>
            <a:ext cx="493776" cy="493776"/>
          </a:xfrm>
          <a:prstGeom prst="ellipse">
            <a:avLst/>
          </a:prstGeom>
          <a:solidFill>
            <a:srgbClr val="F37626"/>
          </a:solidFill>
          <a:ln cap="flat" cmpd="sng" w="12700">
            <a:solidFill>
              <a:srgbClr val="F37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804672" y="2075688"/>
            <a:ext cx="49377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219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F1219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>
            <a:hlinkClick action="ppaction://hlinksldjump" r:id="rId3"/>
          </p:cNvPr>
          <p:cNvSpPr/>
          <p:nvPr/>
        </p:nvSpPr>
        <p:spPr>
          <a:xfrm>
            <a:off x="1508760" y="2020824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900"/>
              <a:buFont typeface="Arial"/>
              <a:buNone/>
            </a:pPr>
            <a:r>
              <a:rPr b="1" i="0" lang="en-US" sz="19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action="ppaction://hlinksldjump" r:id="rId4"/>
              </a:rPr>
              <a:t>Colab Essentials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508760" y="2377440"/>
            <a:ext cx="6766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9A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C99AE"/>
                </a:solidFill>
                <a:latin typeface="Calibri"/>
                <a:ea typeface="Calibri"/>
                <a:cs typeface="Calibri"/>
                <a:sym typeface="Calibri"/>
              </a:rPr>
              <a:t>Kernel, state, shortcuts, GPUs &amp; limits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>
            <a:hlinkClick action="ppaction://hlinksldjump" r:id="rId5"/>
          </p:cNvPr>
          <p:cNvSpPr/>
          <p:nvPr/>
        </p:nvSpPr>
        <p:spPr>
          <a:xfrm>
            <a:off x="10149840" y="2148840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37626"/>
              </a:buClr>
              <a:buSzPts val="1100"/>
              <a:buFont typeface="Courier New"/>
              <a:buNone/>
            </a:pPr>
            <a:r>
              <a:rPr b="1" i="0" lang="en-US" sz="1100" u="sng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action="ppaction://hlinksldjump" r:id="rId6"/>
              </a:rPr>
              <a:t>JUMP  &gt;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548640" y="2935224"/>
            <a:ext cx="11064240" cy="896112"/>
          </a:xfrm>
          <a:prstGeom prst="roundRect">
            <a:avLst>
              <a:gd fmla="val 10204" name="adj"/>
            </a:avLst>
          </a:prstGeom>
          <a:solidFill>
            <a:srgbClr val="1E2430"/>
          </a:solidFill>
          <a:ln cap="flat" cmpd="sng" w="12700">
            <a:solidFill>
              <a:srgbClr val="262E3D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804672" y="3136392"/>
            <a:ext cx="493776" cy="493776"/>
          </a:xfrm>
          <a:prstGeom prst="ellipse">
            <a:avLst/>
          </a:prstGeom>
          <a:solidFill>
            <a:srgbClr val="3DDC97"/>
          </a:solidFill>
          <a:ln cap="flat" cmpd="sng" w="12700">
            <a:solidFill>
              <a:srgbClr val="3DDC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804672" y="3136392"/>
            <a:ext cx="49377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219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F1219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>
            <a:hlinkClick action="ppaction://hlinksldjump" r:id="rId7"/>
          </p:cNvPr>
          <p:cNvSpPr/>
          <p:nvPr/>
        </p:nvSpPr>
        <p:spPr>
          <a:xfrm>
            <a:off x="1508760" y="3081528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900"/>
              <a:buFont typeface="Arial"/>
              <a:buNone/>
            </a:pPr>
            <a:r>
              <a:rPr b="1" i="0" lang="en-US" sz="19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action="ppaction://hlinksldjump" r:id="rId8"/>
              </a:rPr>
              <a:t>Clean &amp; Readable Code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508760" y="3438144"/>
            <a:ext cx="6766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9A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C99AE"/>
                </a:solidFill>
                <a:latin typeface="Calibri"/>
                <a:ea typeface="Calibri"/>
                <a:cs typeface="Calibri"/>
                <a:sym typeface="Calibri"/>
              </a:rPr>
              <a:t>PEP 8, naming, comments, modular cells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>
            <a:hlinkClick action="ppaction://hlinksldjump" r:id="rId9"/>
          </p:cNvPr>
          <p:cNvSpPr/>
          <p:nvPr/>
        </p:nvSpPr>
        <p:spPr>
          <a:xfrm>
            <a:off x="10149840" y="3209544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DDC97"/>
              </a:buClr>
              <a:buSzPts val="1100"/>
              <a:buFont typeface="Courier New"/>
              <a:buNone/>
            </a:pPr>
            <a:r>
              <a:rPr b="1" i="0" lang="en-US" sz="1100" u="sng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action="ppaction://hlinksldjump" r:id="rId10"/>
              </a:rPr>
              <a:t>JUMP  &gt;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548640" y="3995928"/>
            <a:ext cx="11064240" cy="896112"/>
          </a:xfrm>
          <a:prstGeom prst="roundRect">
            <a:avLst>
              <a:gd fmla="val 10204" name="adj"/>
            </a:avLst>
          </a:prstGeom>
          <a:solidFill>
            <a:srgbClr val="1E2430"/>
          </a:solidFill>
          <a:ln cap="flat" cmpd="sng" w="12700">
            <a:solidFill>
              <a:srgbClr val="262E3D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804672" y="4197096"/>
            <a:ext cx="493776" cy="493776"/>
          </a:xfrm>
          <a:prstGeom prst="ellipse">
            <a:avLst/>
          </a:prstGeom>
          <a:solidFill>
            <a:srgbClr val="5CC8FF"/>
          </a:solidFill>
          <a:ln cap="flat" cmpd="sng" w="12700">
            <a:solidFill>
              <a:srgbClr val="5C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804672" y="4197096"/>
            <a:ext cx="49377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219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F1219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>
            <a:hlinkClick action="ppaction://hlinksldjump" r:id="rId11"/>
          </p:cNvPr>
          <p:cNvSpPr/>
          <p:nvPr/>
        </p:nvSpPr>
        <p:spPr>
          <a:xfrm>
            <a:off x="1508760" y="4142232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900"/>
              <a:buFont typeface="Arial"/>
              <a:buNone/>
            </a:pPr>
            <a:r>
              <a:rPr b="1" i="0" lang="en-US" sz="19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action="ppaction://hlinksldjump" r:id="rId12"/>
              </a:rPr>
              <a:t>Markdown Mastery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1508760" y="4498848"/>
            <a:ext cx="6766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9A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C99AE"/>
                </a:solidFill>
                <a:latin typeface="Calibri"/>
                <a:ea typeface="Calibri"/>
                <a:cs typeface="Calibri"/>
                <a:sym typeface="Calibri"/>
              </a:rPr>
              <a:t>Hierarchy, formatting, callouts, structure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>
            <a:hlinkClick action="ppaction://hlinksldjump" r:id="rId13"/>
          </p:cNvPr>
          <p:cNvSpPr/>
          <p:nvPr/>
        </p:nvSpPr>
        <p:spPr>
          <a:xfrm>
            <a:off x="10149840" y="4270248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C8FF"/>
              </a:buClr>
              <a:buSzPts val="1100"/>
              <a:buFont typeface="Courier New"/>
              <a:buNone/>
            </a:pPr>
            <a:r>
              <a:rPr b="1" i="0" lang="en-US" sz="1100" u="sng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action="ppaction://hlinksldjump" r:id="rId14"/>
              </a:rPr>
              <a:t>JUMP  &gt;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548640" y="5056632"/>
            <a:ext cx="11064240" cy="896112"/>
          </a:xfrm>
          <a:prstGeom prst="roundRect">
            <a:avLst>
              <a:gd fmla="val 10204" name="adj"/>
            </a:avLst>
          </a:prstGeom>
          <a:solidFill>
            <a:srgbClr val="1E2430"/>
          </a:solidFill>
          <a:ln cap="flat" cmpd="sng" w="12700">
            <a:solidFill>
              <a:srgbClr val="262E3D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804672" y="5257800"/>
            <a:ext cx="493776" cy="493776"/>
          </a:xfrm>
          <a:prstGeom prst="ellipse">
            <a:avLst/>
          </a:prstGeom>
          <a:solidFill>
            <a:srgbClr val="FFB454"/>
          </a:solidFill>
          <a:ln cap="flat" cmpd="sng" w="12700">
            <a:solidFill>
              <a:srgbClr val="FFB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804672" y="5257800"/>
            <a:ext cx="49377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219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F1219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>
            <a:hlinkClick action="ppaction://hlinksldjump" r:id="rId15"/>
          </p:cNvPr>
          <p:cNvSpPr/>
          <p:nvPr/>
        </p:nvSpPr>
        <p:spPr>
          <a:xfrm>
            <a:off x="1508760" y="5202936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900"/>
              <a:buFont typeface="Arial"/>
              <a:buNone/>
            </a:pPr>
            <a:r>
              <a:rPr b="1" i="0" lang="en-US" sz="19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action="ppaction://hlinksldjump" r:id="rId16"/>
              </a:rPr>
              <a:t>Mini-Challenge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1508760" y="5559552"/>
            <a:ext cx="6766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9A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C99AE"/>
                </a:solidFill>
                <a:latin typeface="Calibri"/>
                <a:ea typeface="Calibri"/>
                <a:cs typeface="Calibri"/>
                <a:sym typeface="Calibri"/>
              </a:rPr>
              <a:t>Five minutes. Build it yourself.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>
            <a:hlinkClick action="ppaction://hlinksldjump" r:id="rId17"/>
          </p:cNvPr>
          <p:cNvSpPr/>
          <p:nvPr/>
        </p:nvSpPr>
        <p:spPr>
          <a:xfrm>
            <a:off x="10149840" y="5330952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B454"/>
              </a:buClr>
              <a:buSzPts val="1100"/>
              <a:buFont typeface="Courier New"/>
              <a:buNone/>
            </a:pPr>
            <a:r>
              <a:rPr b="1" i="0" lang="en-US" sz="1100" u="sng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action="ppaction://hlinksldjump" r:id="rId18"/>
              </a:rPr>
              <a:t>JUMP  &gt;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548640" y="61722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88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D6880"/>
                </a:solidFill>
                <a:latin typeface="Calibri"/>
                <a:ea typeface="Calibri"/>
                <a:cs typeface="Calibri"/>
                <a:sym typeface="Calibri"/>
              </a:rPr>
              <a:t>Keep a blank notebook open in a second tab — you will build in it.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6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6880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5D6880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>
            <a:hlinkClick action="ppaction://hlinksldjump" r:id="rId3"/>
          </p:cNvPr>
          <p:cNvSpPr/>
          <p:nvPr/>
        </p:nvSpPr>
        <p:spPr>
          <a:xfrm>
            <a:off x="548640" y="635508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880"/>
              </a:buClr>
              <a:buSzPts val="1000"/>
              <a:buFont typeface="Courier New"/>
              <a:buNone/>
            </a:pPr>
            <a:r>
              <a:rPr b="1" i="0" lang="en-US" sz="1000" u="sng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action="ppaction://hlinksldjump" r:id="rId4"/>
              </a:rPr>
              <a:t>MENU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548640" y="1371600"/>
            <a:ext cx="365760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E3D"/>
              </a:buClr>
              <a:buSzPts val="15000"/>
              <a:buFont typeface="Arial"/>
              <a:buNone/>
            </a:pPr>
            <a:r>
              <a:rPr b="1" i="0" lang="en-US" sz="15000" u="none" cap="none" strike="noStrike">
                <a:solidFill>
                  <a:srgbClr val="262E3D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685800" y="3063240"/>
            <a:ext cx="65836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2F5FA"/>
                </a:solidFill>
                <a:latin typeface="Arial"/>
                <a:ea typeface="Arial"/>
                <a:cs typeface="Arial"/>
                <a:sym typeface="Arial"/>
              </a:rPr>
              <a:t>Colab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2F5FA"/>
                </a:solidFill>
                <a:latin typeface="Arial"/>
                <a:ea typeface="Arial"/>
                <a:cs typeface="Arial"/>
                <a:sym typeface="Arial"/>
              </a:rPr>
              <a:t>Essentials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685800" y="43891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7626"/>
              </a:buClr>
              <a:buSzPts val="1700"/>
              <a:buFont typeface="Calibri"/>
              <a:buNone/>
            </a:pPr>
            <a:r>
              <a:rPr b="0" i="1" lang="en-US" sz="1700" u="none" cap="none" strike="noStrike">
                <a:solidFill>
                  <a:srgbClr val="F37626"/>
                </a:solidFill>
                <a:latin typeface="Calibri"/>
                <a:ea typeface="Calibri"/>
                <a:cs typeface="Calibri"/>
                <a:sym typeface="Calibri"/>
              </a:rPr>
              <a:t>The 20% of mechanics behind 80% of the bugs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7589520" y="1737360"/>
            <a:ext cx="4023360" cy="685800"/>
          </a:xfrm>
          <a:prstGeom prst="roundRect">
            <a:avLst>
              <a:gd fmla="val 12000" name="adj"/>
            </a:avLst>
          </a:prstGeom>
          <a:solidFill>
            <a:srgbClr val="1E2430"/>
          </a:solidFill>
          <a:ln cap="flat" cmpd="sng" w="12700">
            <a:solidFill>
              <a:srgbClr val="1E24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7818120" y="1938528"/>
            <a:ext cx="274320" cy="274320"/>
          </a:xfrm>
          <a:prstGeom prst="ellipse">
            <a:avLst/>
          </a:prstGeom>
          <a:solidFill>
            <a:srgbClr val="F37626"/>
          </a:solidFill>
          <a:ln cap="flat" cmpd="sng" w="12700">
            <a:solidFill>
              <a:srgbClr val="F37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8229600" y="1737360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Cells, kernel &amp; state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7589520" y="2606040"/>
            <a:ext cx="4023360" cy="685800"/>
          </a:xfrm>
          <a:prstGeom prst="roundRect">
            <a:avLst>
              <a:gd fmla="val 12000" name="adj"/>
            </a:avLst>
          </a:prstGeom>
          <a:solidFill>
            <a:srgbClr val="1E2430"/>
          </a:solidFill>
          <a:ln cap="flat" cmpd="sng" w="12700">
            <a:solidFill>
              <a:srgbClr val="1E24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7818120" y="2807208"/>
            <a:ext cx="274320" cy="274320"/>
          </a:xfrm>
          <a:prstGeom prst="ellipse">
            <a:avLst/>
          </a:prstGeom>
          <a:solidFill>
            <a:srgbClr val="F37626"/>
          </a:solidFill>
          <a:ln cap="flat" cmpd="sng" w="12700">
            <a:solidFill>
              <a:srgbClr val="F37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8229600" y="2606040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Shortcuts worth memorising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7589520" y="3474720"/>
            <a:ext cx="4023360" cy="685800"/>
          </a:xfrm>
          <a:prstGeom prst="roundRect">
            <a:avLst>
              <a:gd fmla="val 12000" name="adj"/>
            </a:avLst>
          </a:prstGeom>
          <a:solidFill>
            <a:srgbClr val="1E2430"/>
          </a:solidFill>
          <a:ln cap="flat" cmpd="sng" w="12700">
            <a:solidFill>
              <a:srgbClr val="1E24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7818120" y="3675888"/>
            <a:ext cx="274320" cy="274320"/>
          </a:xfrm>
          <a:prstGeom prst="ellipse">
            <a:avLst/>
          </a:prstGeom>
          <a:solidFill>
            <a:srgbClr val="F37626"/>
          </a:solidFill>
          <a:ln cap="flat" cmpd="sng" w="12700">
            <a:solidFill>
              <a:srgbClr val="F37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8229600" y="3474720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GPU / TPU acceleration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7589520" y="4343400"/>
            <a:ext cx="4023360" cy="685800"/>
          </a:xfrm>
          <a:prstGeom prst="roundRect">
            <a:avLst>
              <a:gd fmla="val 12000" name="adj"/>
            </a:avLst>
          </a:prstGeom>
          <a:solidFill>
            <a:srgbClr val="1E2430"/>
          </a:solidFill>
          <a:ln cap="flat" cmpd="sng" w="12700">
            <a:solidFill>
              <a:srgbClr val="1E24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7818120" y="4544568"/>
            <a:ext cx="274320" cy="274320"/>
          </a:xfrm>
          <a:prstGeom prst="ellipse">
            <a:avLst/>
          </a:prstGeom>
          <a:solidFill>
            <a:srgbClr val="F37626"/>
          </a:solidFill>
          <a:ln cap="flat" cmpd="sng" w="12700">
            <a:solidFill>
              <a:srgbClr val="F37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8229600" y="4343400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Free-tier survival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219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"/>
          <p:cNvSpPr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7626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F37626"/>
                </a:solidFill>
                <a:latin typeface="Courier New"/>
                <a:ea typeface="Courier New"/>
                <a:cs typeface="Courier New"/>
                <a:sym typeface="Courier New"/>
              </a:rPr>
              <a:t>ARCHITECTURE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548640" y="658368"/>
            <a:ext cx="102412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2F5FA"/>
                </a:solidFill>
                <a:latin typeface="Arial"/>
                <a:ea typeface="Arial"/>
                <a:cs typeface="Arial"/>
                <a:sym typeface="Arial"/>
              </a:rPr>
              <a:t>Cells, Kernel, State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548640" y="1325880"/>
            <a:ext cx="10424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9AE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8C99AE"/>
                </a:solidFill>
                <a:latin typeface="Calibri"/>
                <a:ea typeface="Calibri"/>
                <a:cs typeface="Calibri"/>
                <a:sym typeface="Calibri"/>
              </a:rPr>
              <a:t>Your notebook is a document. Your kernel is a running program. They can disagree.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6880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5D6880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>
            <a:hlinkClick action="ppaction://hlinksldjump" r:id="rId3"/>
          </p:cNvPr>
          <p:cNvSpPr/>
          <p:nvPr/>
        </p:nvSpPr>
        <p:spPr>
          <a:xfrm>
            <a:off x="548640" y="635508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880"/>
              </a:buClr>
              <a:buSzPts val="1000"/>
              <a:buFont typeface="Courier New"/>
              <a:buNone/>
            </a:pPr>
            <a:r>
              <a:rPr b="1" i="0" lang="en-US" sz="1000" u="sng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action="ppaction://hlinksldjump" r:id="rId4"/>
              </a:rPr>
              <a:t>MENU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548640" y="1965960"/>
            <a:ext cx="3246120" cy="1691640"/>
          </a:xfrm>
          <a:prstGeom prst="roundRect">
            <a:avLst>
              <a:gd fmla="val 5405" name="adj"/>
            </a:avLst>
          </a:prstGeom>
          <a:solidFill>
            <a:srgbClr val="1E2430"/>
          </a:solidFill>
          <a:ln cap="flat" cmpd="sng" w="12700">
            <a:solidFill>
              <a:srgbClr val="1E243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804672" y="214884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7626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F37626"/>
                </a:solidFill>
                <a:latin typeface="Courier New"/>
                <a:ea typeface="Courier New"/>
                <a:cs typeface="Courier New"/>
                <a:sym typeface="Courier New"/>
              </a:rPr>
              <a:t>CELLS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804672" y="2514600"/>
            <a:ext cx="2743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8C99A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8C99AE"/>
                </a:solidFill>
                <a:latin typeface="Calibri"/>
                <a:ea typeface="Calibri"/>
                <a:cs typeface="Calibri"/>
                <a:sym typeface="Calibri"/>
              </a:rPr>
              <a:t>What you see.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8C99A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8C99AE"/>
                </a:solidFill>
                <a:latin typeface="Calibri"/>
                <a:ea typeface="Calibri"/>
                <a:cs typeface="Calibri"/>
                <a:sym typeface="Calibri"/>
              </a:rPr>
              <a:t>Code or text.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8C99A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8C99AE"/>
                </a:solidFill>
                <a:latin typeface="Calibri"/>
                <a:ea typeface="Calibri"/>
                <a:cs typeface="Calibri"/>
                <a:sym typeface="Calibri"/>
              </a:rPr>
              <a:t>Just a file.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3858768" y="2514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688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5D688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4343400" y="1965960"/>
            <a:ext cx="3246120" cy="1691640"/>
          </a:xfrm>
          <a:prstGeom prst="roundRect">
            <a:avLst>
              <a:gd fmla="val 5405" name="adj"/>
            </a:avLst>
          </a:prstGeom>
          <a:solidFill>
            <a:srgbClr val="1E2430"/>
          </a:solidFill>
          <a:ln cap="flat" cmpd="sng" w="12700">
            <a:solidFill>
              <a:srgbClr val="1E243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4599432" y="214884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C8FF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5CC8FF"/>
                </a:solidFill>
                <a:latin typeface="Courier New"/>
                <a:ea typeface="Courier New"/>
                <a:cs typeface="Courier New"/>
                <a:sym typeface="Courier New"/>
              </a:rPr>
              <a:t>KERNEL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4599432" y="2514600"/>
            <a:ext cx="2743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8C99A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8C99AE"/>
                </a:solidFill>
                <a:latin typeface="Calibri"/>
                <a:ea typeface="Calibri"/>
                <a:cs typeface="Calibri"/>
                <a:sym typeface="Calibri"/>
              </a:rPr>
              <a:t>A live Python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8C99A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8C99AE"/>
                </a:solidFill>
                <a:latin typeface="Calibri"/>
                <a:ea typeface="Calibri"/>
                <a:cs typeface="Calibri"/>
                <a:sym typeface="Calibri"/>
              </a:rPr>
              <a:t>process 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8C99A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8C99AE"/>
                </a:solidFill>
                <a:latin typeface="Calibri"/>
                <a:ea typeface="Calibri"/>
                <a:cs typeface="Calibri"/>
                <a:sym typeface="Calibri"/>
              </a:rPr>
              <a:t>Google's server.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7653528" y="2514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688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5D688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8138160" y="1965960"/>
            <a:ext cx="3246120" cy="1691640"/>
          </a:xfrm>
          <a:prstGeom prst="roundRect">
            <a:avLst>
              <a:gd fmla="val 5405" name="adj"/>
            </a:avLst>
          </a:prstGeom>
          <a:solidFill>
            <a:srgbClr val="1E2430"/>
          </a:solidFill>
          <a:ln cap="flat" cmpd="sng" w="12700">
            <a:solidFill>
              <a:srgbClr val="1E243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8394192" y="214884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C97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3DDC97"/>
                </a:solidFill>
                <a:latin typeface="Courier New"/>
                <a:ea typeface="Courier New"/>
                <a:cs typeface="Courier New"/>
                <a:sym typeface="Courier New"/>
              </a:rPr>
              <a:t>OUTPUT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8394192" y="2514600"/>
            <a:ext cx="2743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8C99A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8C99AE"/>
                </a:solidFill>
                <a:latin typeface="Calibri"/>
                <a:ea typeface="Calibri"/>
                <a:cs typeface="Calibri"/>
                <a:sym typeface="Calibri"/>
              </a:rPr>
              <a:t>What the kernel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8C99A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8C99AE"/>
                </a:solidFill>
                <a:latin typeface="Calibri"/>
                <a:ea typeface="Calibri"/>
                <a:cs typeface="Calibri"/>
                <a:sym typeface="Calibri"/>
              </a:rPr>
              <a:t>sends back to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8C99A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8C99AE"/>
                </a:solidFill>
                <a:latin typeface="Calibri"/>
                <a:ea typeface="Calibri"/>
                <a:cs typeface="Calibri"/>
                <a:sym typeface="Calibri"/>
              </a:rPr>
              <a:t>the cell.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548640" y="3977640"/>
            <a:ext cx="10652760" cy="1600200"/>
          </a:xfrm>
          <a:prstGeom prst="roundRect">
            <a:avLst>
              <a:gd fmla="val 5714" name="adj"/>
            </a:avLst>
          </a:prstGeom>
          <a:solidFill>
            <a:srgbClr val="262E3D"/>
          </a:solidFill>
          <a:ln cap="flat" cmpd="sng" w="15875">
            <a:solidFill>
              <a:srgbClr val="F37626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868680" y="42062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7626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F37626"/>
                </a:solidFill>
                <a:latin typeface="Courier New"/>
                <a:ea typeface="Courier New"/>
                <a:cs typeface="Courier New"/>
                <a:sym typeface="Courier New"/>
              </a:rPr>
              <a:t>STATE  /  MEMORY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868680" y="4553712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Every variable, import and function the kernel is currently holding.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868680" y="4983480"/>
            <a:ext cx="1417320" cy="365760"/>
          </a:xfrm>
          <a:prstGeom prst="roundRect">
            <a:avLst>
              <a:gd fmla="val 50000" name="adj"/>
            </a:avLst>
          </a:prstGeom>
          <a:solidFill>
            <a:srgbClr val="262E3D"/>
          </a:solidFill>
          <a:ln cap="flat" cmpd="sng" w="12700">
            <a:solidFill>
              <a:srgbClr val="3DDC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868680" y="498348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DC97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3DDC97"/>
                </a:solidFill>
                <a:latin typeface="Courier New"/>
                <a:ea typeface="Courier New"/>
                <a:cs typeface="Courier New"/>
                <a:sym typeface="Courier New"/>
              </a:rPr>
              <a:t>x = 10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2441448" y="4983480"/>
            <a:ext cx="1417320" cy="365760"/>
          </a:xfrm>
          <a:prstGeom prst="roundRect">
            <a:avLst>
              <a:gd fmla="val 50000" name="adj"/>
            </a:avLst>
          </a:prstGeom>
          <a:solidFill>
            <a:srgbClr val="262E3D"/>
          </a:solidFill>
          <a:ln cap="flat" cmpd="sng" w="12700">
            <a:solidFill>
              <a:srgbClr val="3DDC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2441448" y="498348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DC97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3DDC97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4014216" y="4983480"/>
            <a:ext cx="1417320" cy="365760"/>
          </a:xfrm>
          <a:prstGeom prst="roundRect">
            <a:avLst>
              <a:gd fmla="val 50000" name="adj"/>
            </a:avLst>
          </a:prstGeom>
          <a:solidFill>
            <a:srgbClr val="262E3D"/>
          </a:solidFill>
          <a:ln cap="flat" cmpd="sng" w="12700">
            <a:solidFill>
              <a:srgbClr val="3DDC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4014216" y="498348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DC97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3DDC97"/>
                </a:solidFill>
                <a:latin typeface="Courier New"/>
                <a:ea typeface="Courier New"/>
                <a:cs typeface="Courier New"/>
                <a:sym typeface="Courier New"/>
              </a:rPr>
              <a:t>import pandas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5586984" y="4983480"/>
            <a:ext cx="1417320" cy="365760"/>
          </a:xfrm>
          <a:prstGeom prst="roundRect">
            <a:avLst>
              <a:gd fmla="val 50000" name="adj"/>
            </a:avLst>
          </a:prstGeom>
          <a:solidFill>
            <a:srgbClr val="262E3D"/>
          </a:solidFill>
          <a:ln cap="flat" cmpd="sng" w="12700">
            <a:solidFill>
              <a:srgbClr val="3DDC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5586984" y="498348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DC97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3DDC97"/>
                </a:solidFill>
                <a:latin typeface="Courier New"/>
                <a:ea typeface="Courier New"/>
                <a:cs typeface="Courier New"/>
                <a:sym typeface="Courier New"/>
              </a:rPr>
              <a:t>train()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8321040" y="4315968"/>
            <a:ext cx="2651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B454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FFB454"/>
                </a:solidFill>
                <a:latin typeface="Calibri"/>
                <a:ea typeface="Calibri"/>
                <a:cs typeface="Calibri"/>
                <a:sym typeface="Calibri"/>
              </a:rPr>
              <a:t>This — not the file 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B454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FFB454"/>
                </a:solidFill>
                <a:latin typeface="Calibri"/>
                <a:ea typeface="Calibri"/>
                <a:cs typeface="Calibri"/>
                <a:sym typeface="Calibri"/>
              </a:rPr>
              <a:t>is what actually runs.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548640" y="580644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9AE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8C99AE"/>
                </a:solidFill>
                <a:latin typeface="Calibri"/>
                <a:ea typeface="Calibri"/>
                <a:cs typeface="Calibri"/>
                <a:sym typeface="Calibri"/>
              </a:rPr>
              <a:t>A variable survives even after you delete the cell that created it.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219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7626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F37626"/>
                </a:solidFill>
                <a:latin typeface="Courier New"/>
                <a:ea typeface="Courier New"/>
                <a:cs typeface="Courier New"/>
                <a:sym typeface="Courier New"/>
              </a:rPr>
              <a:t>LIVE DEMO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548640" y="658368"/>
            <a:ext cx="102412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2F5FA"/>
                </a:solidFill>
                <a:latin typeface="Arial"/>
                <a:ea typeface="Arial"/>
                <a:cs typeface="Arial"/>
                <a:sym typeface="Arial"/>
              </a:rPr>
              <a:t>The State Trap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6880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5D6880"/>
                </a:solidFill>
                <a:latin typeface="Courier New"/>
                <a:ea typeface="Courier New"/>
                <a:cs typeface="Courier New"/>
                <a:sym typeface="Courier New"/>
              </a:rPr>
              <a:t>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>
            <a:hlinkClick action="ppaction://hlinksldjump" r:id="rId3"/>
          </p:cNvPr>
          <p:cNvSpPr/>
          <p:nvPr/>
        </p:nvSpPr>
        <p:spPr>
          <a:xfrm>
            <a:off x="548640" y="635508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880"/>
              </a:buClr>
              <a:buSzPts val="1000"/>
              <a:buFont typeface="Courier New"/>
              <a:buNone/>
            </a:pPr>
            <a:r>
              <a:rPr b="1" i="0" lang="en-US" sz="1000" u="sng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action="ppaction://hlinksldjump" r:id="rId4"/>
              </a:rPr>
              <a:t>MENU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548640" y="1600200"/>
            <a:ext cx="5669280" cy="2514600"/>
          </a:xfrm>
          <a:prstGeom prst="roundRect">
            <a:avLst>
              <a:gd fmla="val 3273" name="adj"/>
            </a:avLst>
          </a:prstGeom>
          <a:solidFill>
            <a:srgbClr val="1E2430"/>
          </a:solidFill>
          <a:ln cap="flat" cmpd="sng" w="15875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713232" y="1746504"/>
            <a:ext cx="1234440" cy="274320"/>
          </a:xfrm>
          <a:prstGeom prst="roundRect">
            <a:avLst>
              <a:gd fmla="val 50000" name="adj"/>
            </a:avLst>
          </a:prstGeom>
          <a:solidFill>
            <a:srgbClr val="FF6B6B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713232" y="1746504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219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0F1219"/>
                </a:solidFill>
                <a:latin typeface="Courier New"/>
                <a:ea typeface="Courier New"/>
                <a:cs typeface="Courier New"/>
                <a:sym typeface="Courier New"/>
              </a:rPr>
              <a:t>WHAT RAN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749808" y="2130552"/>
            <a:ext cx="5266944" cy="1801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  <a:t>[1]  x = 10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  <a:t>[3]  print(x)    -&gt;  99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  <a:t>[2]  x = 99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  <a:t># the bracket number is the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  <a:t># EXECUTION order, not the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  <a:t># order on your screen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6537960" y="1600200"/>
            <a:ext cx="5074920" cy="2514600"/>
          </a:xfrm>
          <a:prstGeom prst="roundRect">
            <a:avLst>
              <a:gd fmla="val 3636" name="adj"/>
            </a:avLst>
          </a:prstGeom>
          <a:solidFill>
            <a:srgbClr val="262E3D"/>
          </a:solidFill>
          <a:ln cap="flat" cmpd="sng" w="12700">
            <a:solidFill>
              <a:srgbClr val="262E3D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6812280" y="1810512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2F5FA"/>
                </a:solidFill>
                <a:latin typeface="Arial"/>
                <a:ea typeface="Arial"/>
                <a:cs typeface="Arial"/>
                <a:sym typeface="Arial"/>
              </a:rPr>
              <a:t>Why it bites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6812280" y="2240280"/>
            <a:ext cx="45262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350"/>
              <a:buFont typeface="Calibri"/>
              <a:buChar char="▪"/>
            </a:pPr>
            <a:r>
              <a:rPr b="0" i="0" lang="en-US" sz="135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Deleted cells leave their variables alive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2F5FA"/>
              </a:buClr>
              <a:buSzPts val="1350"/>
              <a:buFont typeface="Calibri"/>
              <a:buChar char="▪"/>
            </a:pPr>
            <a:r>
              <a:rPr b="0" i="0" lang="en-US" sz="135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Re-running out of order silently rewrites state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2F5FA"/>
              </a:buClr>
              <a:buSzPts val="1350"/>
              <a:buFont typeface="Calibri"/>
              <a:buChar char="▪"/>
            </a:pPr>
            <a:r>
              <a:rPr b="0" i="0" lang="en-US" sz="135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The notebook can look right and be broken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2F5FA"/>
              </a:buClr>
              <a:buSzPts val="1350"/>
              <a:buFont typeface="Calibri"/>
              <a:buChar char="▪"/>
            </a:pPr>
            <a:r>
              <a:rPr b="0" i="0" lang="en-US" sz="135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It works for you, fails for everyone else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548640" y="4434840"/>
            <a:ext cx="11064240" cy="1234440"/>
          </a:xfrm>
          <a:prstGeom prst="roundRect">
            <a:avLst>
              <a:gd fmla="val 7407" name="adj"/>
            </a:avLst>
          </a:prstGeom>
          <a:solidFill>
            <a:srgbClr val="1E2430"/>
          </a:solidFill>
          <a:ln cap="flat" cmpd="sng" w="19050">
            <a:solidFill>
              <a:srgbClr val="3DDC97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868680" y="4773168"/>
            <a:ext cx="548640" cy="548640"/>
          </a:xfrm>
          <a:prstGeom prst="ellipse">
            <a:avLst/>
          </a:prstGeom>
          <a:solidFill>
            <a:srgbClr val="3DDC97"/>
          </a:solidFill>
          <a:ln cap="flat" cmpd="sng" w="12700">
            <a:solidFill>
              <a:srgbClr val="3DDC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868680" y="477316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219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F1219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1645920" y="4681728"/>
            <a:ext cx="6400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C97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3DDC97"/>
                </a:solidFill>
                <a:latin typeface="Courier New"/>
                <a:ea typeface="Courier New"/>
                <a:cs typeface="Courier New"/>
                <a:sym typeface="Courier New"/>
              </a:rPr>
              <a:t>Runtime  &gt;  Restart and run all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1645920" y="5102352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9A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C99AE"/>
                </a:solidFill>
                <a:latin typeface="Calibri"/>
                <a:ea typeface="Calibri"/>
                <a:cs typeface="Calibri"/>
                <a:sym typeface="Calibri"/>
              </a:rPr>
              <a:t>Before you share, submit or close. Every single time.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219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"/>
          <p:cNvSpPr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7626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F37626"/>
                </a:solidFill>
                <a:latin typeface="Courier New"/>
                <a:ea typeface="Courier New"/>
                <a:cs typeface="Courier New"/>
                <a:sym typeface="Courier New"/>
              </a:rPr>
              <a:t>MUSCLE MEMORY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548640" y="658368"/>
            <a:ext cx="102412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2F5FA"/>
                </a:solidFill>
                <a:latin typeface="Arial"/>
                <a:ea typeface="Arial"/>
                <a:cs typeface="Arial"/>
                <a:sym typeface="Arial"/>
              </a:rPr>
              <a:t>Shortcuts That Earn Their Keep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548640" y="1325880"/>
            <a:ext cx="10424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9AE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8C99AE"/>
                </a:solidFill>
                <a:latin typeface="Calibri"/>
                <a:ea typeface="Calibri"/>
                <a:cs typeface="Calibri"/>
                <a:sym typeface="Calibri"/>
              </a:rPr>
              <a:t>Pick two tonight. Use them exclusively. Add more next week.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6880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5D6880"/>
                </a:solidFill>
                <a:latin typeface="Courier New"/>
                <a:ea typeface="Courier New"/>
                <a:cs typeface="Courier New"/>
                <a:sym typeface="Courier New"/>
              </a:rPr>
              <a:t>06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>
            <a:hlinkClick action="ppaction://hlinksldjump" r:id="rId3"/>
          </p:cNvPr>
          <p:cNvSpPr/>
          <p:nvPr/>
        </p:nvSpPr>
        <p:spPr>
          <a:xfrm>
            <a:off x="548640" y="635508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880"/>
              </a:buClr>
              <a:buSzPts val="1000"/>
              <a:buFont typeface="Courier New"/>
              <a:buNone/>
            </a:pPr>
            <a:r>
              <a:rPr b="1" i="0" lang="en-US" sz="1000" u="sng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action="ppaction://hlinksldjump" r:id="rId4"/>
              </a:rPr>
              <a:t>MENU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548640" y="1783080"/>
            <a:ext cx="5349240" cy="1005840"/>
          </a:xfrm>
          <a:prstGeom prst="roundRect">
            <a:avLst>
              <a:gd fmla="val 9091" name="adj"/>
            </a:avLst>
          </a:prstGeom>
          <a:solidFill>
            <a:srgbClr val="1E2430"/>
          </a:solidFill>
          <a:ln cap="flat" cmpd="sng" w="12700">
            <a:solidFill>
              <a:srgbClr val="1E243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777240" y="2029968"/>
            <a:ext cx="1371600" cy="502920"/>
          </a:xfrm>
          <a:prstGeom prst="roundRect">
            <a:avLst>
              <a:gd fmla="val 14545" name="adj"/>
            </a:avLst>
          </a:prstGeom>
          <a:solidFill>
            <a:srgbClr val="262E3D"/>
          </a:solidFill>
          <a:ln cap="flat" cmpd="sng" w="15875">
            <a:solidFill>
              <a:srgbClr val="5C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"/>
          <p:cNvSpPr/>
          <p:nvPr/>
        </p:nvSpPr>
        <p:spPr>
          <a:xfrm>
            <a:off x="777240" y="2029968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C8FF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5CC8FF"/>
                </a:solidFill>
                <a:latin typeface="Courier New"/>
                <a:ea typeface="Courier New"/>
                <a:cs typeface="Courier New"/>
                <a:sym typeface="Courier New"/>
              </a:rPr>
              <a:t>Esc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2331720" y="2029968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COMMAND MODE  —  the cell is selected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6263640" y="1783080"/>
            <a:ext cx="5349240" cy="1005840"/>
          </a:xfrm>
          <a:prstGeom prst="roundRect">
            <a:avLst>
              <a:gd fmla="val 9091" name="adj"/>
            </a:avLst>
          </a:prstGeom>
          <a:solidFill>
            <a:srgbClr val="1E2430"/>
          </a:solidFill>
          <a:ln cap="flat" cmpd="sng" w="12700">
            <a:solidFill>
              <a:srgbClr val="1E243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6492240" y="2029968"/>
            <a:ext cx="1371600" cy="502920"/>
          </a:xfrm>
          <a:prstGeom prst="roundRect">
            <a:avLst>
              <a:gd fmla="val 14545" name="adj"/>
            </a:avLst>
          </a:prstGeom>
          <a:solidFill>
            <a:srgbClr val="262E3D"/>
          </a:solidFill>
          <a:ln cap="flat" cmpd="sng" w="15875">
            <a:solidFill>
              <a:srgbClr val="3DDC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6492240" y="2029968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DC97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3DDC97"/>
                </a:solidFill>
                <a:latin typeface="Courier New"/>
                <a:ea typeface="Courier New"/>
                <a:cs typeface="Courier New"/>
                <a:sym typeface="Courier New"/>
              </a:rPr>
              <a:t>Enter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8046720" y="2029968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EDIT MODE  —  you are inside the cell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548640" y="2999232"/>
            <a:ext cx="5349240" cy="548640"/>
          </a:xfrm>
          <a:prstGeom prst="roundRect">
            <a:avLst>
              <a:gd fmla="val 13333" name="adj"/>
            </a:avLst>
          </a:prstGeom>
          <a:solidFill>
            <a:srgbClr val="1E2430"/>
          </a:solidFill>
          <a:ln cap="flat" cmpd="sng" w="12700">
            <a:solidFill>
              <a:srgbClr val="1E24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749808" y="2999232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C8FF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5CC8FF"/>
                </a:solidFill>
                <a:latin typeface="Courier New"/>
                <a:ea typeface="Courier New"/>
                <a:cs typeface="Courier New"/>
                <a:sym typeface="Courier New"/>
              </a:rPr>
              <a:t>Ctrl + Enter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2926080" y="2999232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9A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C99AE"/>
                </a:solidFill>
                <a:latin typeface="Calibri"/>
                <a:ea typeface="Calibri"/>
                <a:cs typeface="Calibri"/>
                <a:sym typeface="Calibri"/>
              </a:rPr>
              <a:t>Run cell, stay put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6263640" y="2999232"/>
            <a:ext cx="5349240" cy="548640"/>
          </a:xfrm>
          <a:prstGeom prst="roundRect">
            <a:avLst>
              <a:gd fmla="val 13333" name="adj"/>
            </a:avLst>
          </a:prstGeom>
          <a:solidFill>
            <a:srgbClr val="1E2430"/>
          </a:solidFill>
          <a:ln cap="flat" cmpd="sng" w="12700">
            <a:solidFill>
              <a:srgbClr val="1E24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6464808" y="2999232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C8FF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5CC8FF"/>
                </a:solidFill>
                <a:latin typeface="Courier New"/>
                <a:ea typeface="Courier New"/>
                <a:cs typeface="Courier New"/>
                <a:sym typeface="Courier New"/>
              </a:rPr>
              <a:t>Shift + Enter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8641080" y="2999232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9A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C99AE"/>
                </a:solidFill>
                <a:latin typeface="Calibri"/>
                <a:ea typeface="Calibri"/>
                <a:cs typeface="Calibri"/>
                <a:sym typeface="Calibri"/>
              </a:rPr>
              <a:t>Run cell, move down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548640" y="3639312"/>
            <a:ext cx="5349240" cy="548640"/>
          </a:xfrm>
          <a:prstGeom prst="roundRect">
            <a:avLst>
              <a:gd fmla="val 13333" name="adj"/>
            </a:avLst>
          </a:prstGeom>
          <a:solidFill>
            <a:srgbClr val="1E2430"/>
          </a:solidFill>
          <a:ln cap="flat" cmpd="sng" w="12700">
            <a:solidFill>
              <a:srgbClr val="1E24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749808" y="3639312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C8FF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5CC8FF"/>
                </a:solidFill>
                <a:latin typeface="Courier New"/>
                <a:ea typeface="Courier New"/>
                <a:cs typeface="Courier New"/>
                <a:sym typeface="Courier New"/>
              </a:rPr>
              <a:t>Alt + Enter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2926080" y="3639312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9A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C99AE"/>
                </a:solidFill>
                <a:latin typeface="Calibri"/>
                <a:ea typeface="Calibri"/>
                <a:cs typeface="Calibri"/>
                <a:sym typeface="Calibri"/>
              </a:rPr>
              <a:t>Run, insert new below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6263640" y="3639312"/>
            <a:ext cx="5349240" cy="548640"/>
          </a:xfrm>
          <a:prstGeom prst="roundRect">
            <a:avLst>
              <a:gd fmla="val 13333" name="adj"/>
            </a:avLst>
          </a:prstGeom>
          <a:solidFill>
            <a:srgbClr val="1E2430"/>
          </a:solidFill>
          <a:ln cap="flat" cmpd="sng" w="12700">
            <a:solidFill>
              <a:srgbClr val="1E24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6464808" y="3639312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C8FF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5CC8FF"/>
                </a:solidFill>
                <a:latin typeface="Courier New"/>
                <a:ea typeface="Courier New"/>
                <a:cs typeface="Courier New"/>
                <a:sym typeface="Courier New"/>
              </a:rPr>
              <a:t>Ctrl+M  A / B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8641080" y="3639312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9A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C99AE"/>
                </a:solidFill>
                <a:latin typeface="Calibri"/>
                <a:ea typeface="Calibri"/>
                <a:cs typeface="Calibri"/>
                <a:sym typeface="Calibri"/>
              </a:rPr>
              <a:t>Insert above / below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548640" y="4279392"/>
            <a:ext cx="5349240" cy="548640"/>
          </a:xfrm>
          <a:prstGeom prst="roundRect">
            <a:avLst>
              <a:gd fmla="val 13333" name="adj"/>
            </a:avLst>
          </a:prstGeom>
          <a:solidFill>
            <a:srgbClr val="1E2430"/>
          </a:solidFill>
          <a:ln cap="flat" cmpd="sng" w="12700">
            <a:solidFill>
              <a:srgbClr val="1E24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749808" y="4279392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C8FF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5CC8FF"/>
                </a:solidFill>
                <a:latin typeface="Courier New"/>
                <a:ea typeface="Courier New"/>
                <a:cs typeface="Courier New"/>
                <a:sym typeface="Courier New"/>
              </a:rPr>
              <a:t>Ctrl+M  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2926080" y="4279392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9A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C99AE"/>
                </a:solidFill>
                <a:latin typeface="Calibri"/>
                <a:ea typeface="Calibri"/>
                <a:cs typeface="Calibri"/>
                <a:sym typeface="Calibri"/>
              </a:rPr>
              <a:t>Delete cell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6263640" y="4279392"/>
            <a:ext cx="5349240" cy="548640"/>
          </a:xfrm>
          <a:prstGeom prst="roundRect">
            <a:avLst>
              <a:gd fmla="val 13333" name="adj"/>
            </a:avLst>
          </a:prstGeom>
          <a:solidFill>
            <a:srgbClr val="262E3D"/>
          </a:solidFill>
          <a:ln cap="flat" cmpd="sng" w="15875">
            <a:solidFill>
              <a:srgbClr val="F37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6464808" y="4279392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7626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F37626"/>
                </a:solidFill>
                <a:latin typeface="Courier New"/>
                <a:ea typeface="Courier New"/>
                <a:cs typeface="Courier New"/>
                <a:sym typeface="Courier New"/>
              </a:rPr>
              <a:t>Ctrl+M  Z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8641080" y="4279392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Undo delete  (lifesaver)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548640" y="4919472"/>
            <a:ext cx="5349240" cy="548640"/>
          </a:xfrm>
          <a:prstGeom prst="roundRect">
            <a:avLst>
              <a:gd fmla="val 13333" name="adj"/>
            </a:avLst>
          </a:prstGeom>
          <a:solidFill>
            <a:srgbClr val="1E2430"/>
          </a:solidFill>
          <a:ln cap="flat" cmpd="sng" w="12700">
            <a:solidFill>
              <a:srgbClr val="1E24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749808" y="4919472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C8FF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5CC8FF"/>
                </a:solidFill>
                <a:latin typeface="Courier New"/>
                <a:ea typeface="Courier New"/>
                <a:cs typeface="Courier New"/>
                <a:sym typeface="Courier New"/>
              </a:rPr>
              <a:t>Ctrl+M  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2926080" y="4919472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9A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C99AE"/>
                </a:solidFill>
                <a:latin typeface="Calibri"/>
                <a:ea typeface="Calibri"/>
                <a:cs typeface="Calibri"/>
                <a:sym typeface="Calibri"/>
              </a:rPr>
              <a:t>Convert to Markdown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6263640" y="4919472"/>
            <a:ext cx="5349240" cy="548640"/>
          </a:xfrm>
          <a:prstGeom prst="roundRect">
            <a:avLst>
              <a:gd fmla="val 13333" name="adj"/>
            </a:avLst>
          </a:prstGeom>
          <a:solidFill>
            <a:srgbClr val="1E2430"/>
          </a:solidFill>
          <a:ln cap="flat" cmpd="sng" w="12700">
            <a:solidFill>
              <a:srgbClr val="1E24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6464808" y="4919472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C8FF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5CC8FF"/>
                </a:solidFill>
                <a:latin typeface="Courier New"/>
                <a:ea typeface="Courier New"/>
                <a:cs typeface="Courier New"/>
                <a:sym typeface="Courier New"/>
              </a:rPr>
              <a:t>Ctrl+M  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8641080" y="4919472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9A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C99AE"/>
                </a:solidFill>
                <a:latin typeface="Calibri"/>
                <a:ea typeface="Calibri"/>
                <a:cs typeface="Calibri"/>
                <a:sym typeface="Calibri"/>
              </a:rPr>
              <a:t>Convert to code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548640" y="5559552"/>
            <a:ext cx="5349240" cy="548640"/>
          </a:xfrm>
          <a:prstGeom prst="roundRect">
            <a:avLst>
              <a:gd fmla="val 13333" name="adj"/>
            </a:avLst>
          </a:prstGeom>
          <a:solidFill>
            <a:srgbClr val="262E3D"/>
          </a:solidFill>
          <a:ln cap="flat" cmpd="sng" w="15875">
            <a:solidFill>
              <a:srgbClr val="F37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749808" y="5559552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7626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F37626"/>
                </a:solidFill>
                <a:latin typeface="Courier New"/>
                <a:ea typeface="Courier New"/>
                <a:cs typeface="Courier New"/>
                <a:sym typeface="Courier New"/>
              </a:rPr>
              <a:t>Ctrl+Shift+P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2926080" y="5559552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Command palette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6263640" y="5559552"/>
            <a:ext cx="5349240" cy="548640"/>
          </a:xfrm>
          <a:prstGeom prst="roundRect">
            <a:avLst>
              <a:gd fmla="val 13333" name="adj"/>
            </a:avLst>
          </a:prstGeom>
          <a:solidFill>
            <a:srgbClr val="1E2430"/>
          </a:solidFill>
          <a:ln cap="flat" cmpd="sng" w="12700">
            <a:solidFill>
              <a:srgbClr val="1E24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6464808" y="5559552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C8FF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5CC8FF"/>
                </a:solidFill>
                <a:latin typeface="Courier New"/>
                <a:ea typeface="Courier New"/>
                <a:cs typeface="Courier New"/>
                <a:sym typeface="Courier New"/>
              </a:rPr>
              <a:t>Ctrl+M  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8641080" y="5559552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9A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C99AE"/>
                </a:solidFill>
                <a:latin typeface="Calibri"/>
                <a:ea typeface="Calibri"/>
                <a:cs typeface="Calibri"/>
                <a:sym typeface="Calibri"/>
              </a:rPr>
              <a:t>Interrupt execution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3657600" y="6144768"/>
            <a:ext cx="7726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688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D6880"/>
                </a:solidFill>
                <a:latin typeface="Calibri"/>
                <a:ea typeface="Calibri"/>
                <a:cs typeface="Calibri"/>
                <a:sym typeface="Calibri"/>
              </a:rPr>
              <a:t>Highlighted = start here.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219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7626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F37626"/>
                </a:solidFill>
                <a:latin typeface="Courier New"/>
                <a:ea typeface="Courier New"/>
                <a:cs typeface="Courier New"/>
                <a:sym typeface="Courier New"/>
              </a:rPr>
              <a:t>HARDWARE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548640" y="658368"/>
            <a:ext cx="102412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2F5FA"/>
                </a:solidFill>
                <a:latin typeface="Arial"/>
                <a:ea typeface="Arial"/>
                <a:cs typeface="Arial"/>
                <a:sym typeface="Arial"/>
              </a:rPr>
              <a:t>Accelerators: Use One When You Need One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6880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5D6880"/>
                </a:solidFill>
                <a:latin typeface="Courier New"/>
                <a:ea typeface="Courier New"/>
                <a:cs typeface="Courier New"/>
                <a:sym typeface="Courier New"/>
              </a:rPr>
              <a:t>07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>
            <a:hlinkClick action="ppaction://hlinksldjump" r:id="rId3"/>
          </p:cNvPr>
          <p:cNvSpPr/>
          <p:nvPr/>
        </p:nvSpPr>
        <p:spPr>
          <a:xfrm>
            <a:off x="548640" y="635508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880"/>
              </a:buClr>
              <a:buSzPts val="1000"/>
              <a:buFont typeface="Courier New"/>
              <a:buNone/>
            </a:pPr>
            <a:r>
              <a:rPr b="1" i="0" lang="en-US" sz="1000" u="sng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action="ppaction://hlinksldjump" r:id="rId4"/>
              </a:rPr>
              <a:t>MENU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548640" y="1572768"/>
            <a:ext cx="11064240" cy="566928"/>
          </a:xfrm>
          <a:prstGeom prst="roundRect">
            <a:avLst>
              <a:gd fmla="val 14516" name="adj"/>
            </a:avLst>
          </a:prstGeom>
          <a:solidFill>
            <a:srgbClr val="262E3D"/>
          </a:solidFill>
          <a:ln cap="flat" cmpd="sng" w="12700">
            <a:solidFill>
              <a:srgbClr val="262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822960" y="1572768"/>
            <a:ext cx="7315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454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FFB454"/>
                </a:solidFill>
                <a:latin typeface="Courier New"/>
                <a:ea typeface="Courier New"/>
                <a:cs typeface="Courier New"/>
                <a:sym typeface="Courier New"/>
              </a:rPr>
              <a:t>Runtime  &gt;  Change runtime type  &gt;  Hardware accelerator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548640" y="2377440"/>
            <a:ext cx="5349240" cy="2148840"/>
          </a:xfrm>
          <a:prstGeom prst="roundRect">
            <a:avLst>
              <a:gd fmla="val 4255" name="adj"/>
            </a:avLst>
          </a:prstGeom>
          <a:solidFill>
            <a:srgbClr val="1E2430"/>
          </a:solidFill>
          <a:ln cap="flat" cmpd="sng" w="15875">
            <a:solidFill>
              <a:srgbClr val="3DDC97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822960" y="2578608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C97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3DDC97"/>
                </a:solidFill>
                <a:latin typeface="Courier New"/>
                <a:ea typeface="Courier New"/>
                <a:cs typeface="Courier New"/>
                <a:sym typeface="Courier New"/>
              </a:rPr>
              <a:t>USE  A  GPU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822960" y="3017520"/>
            <a:ext cx="47548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350"/>
              <a:buFont typeface="Calibri"/>
              <a:buChar char="▪"/>
            </a:pPr>
            <a:r>
              <a:rPr b="0" i="0" lang="en-US" sz="135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Training neural networks (PyTorch / TF)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2F5FA"/>
              </a:buClr>
              <a:buSzPts val="1350"/>
              <a:buFont typeface="Calibri"/>
              <a:buChar char="▪"/>
            </a:pPr>
            <a:r>
              <a:rPr b="0" i="0" lang="en-US" sz="135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Batch image or video processing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2F5FA"/>
              </a:buClr>
              <a:buSzPts val="1350"/>
              <a:buFont typeface="Calibri"/>
              <a:buChar char="▪"/>
            </a:pPr>
            <a:r>
              <a:rPr b="0" i="0" lang="en-US" sz="135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Large NLP &amp; transformer models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6263640" y="2377440"/>
            <a:ext cx="5349240" cy="2148840"/>
          </a:xfrm>
          <a:prstGeom prst="roundRect">
            <a:avLst>
              <a:gd fmla="val 4255" name="adj"/>
            </a:avLst>
          </a:prstGeom>
          <a:solidFill>
            <a:srgbClr val="1E2430"/>
          </a:solidFill>
          <a:ln cap="flat" cmpd="sng" w="15875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"/>
          <p:cNvSpPr/>
          <p:nvPr/>
        </p:nvSpPr>
        <p:spPr>
          <a:xfrm>
            <a:off x="6537960" y="2578608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FF6B6B"/>
                </a:solidFill>
                <a:latin typeface="Courier New"/>
                <a:ea typeface="Courier New"/>
                <a:cs typeface="Courier New"/>
                <a:sym typeface="Courier New"/>
              </a:rPr>
              <a:t>STAY  ON  CPU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6537960" y="3017520"/>
            <a:ext cx="47548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350"/>
              <a:buFont typeface="Calibri"/>
              <a:buChar char="▪"/>
            </a:pPr>
            <a:r>
              <a:rPr b="0" i="0" lang="en-US" sz="135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pandas, CSV loading, matplotlib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2F5FA"/>
              </a:buClr>
              <a:buSzPts val="1350"/>
              <a:buFont typeface="Calibri"/>
              <a:buChar char="▪"/>
            </a:pPr>
            <a:r>
              <a:rPr b="0" i="0" lang="en-US" sz="135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scikit-learn on small data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2F5FA"/>
              </a:buClr>
              <a:buSzPts val="1350"/>
              <a:buFont typeface="Calibri"/>
              <a:buChar char="▪"/>
            </a:pPr>
            <a:r>
              <a:rPr b="0" i="0" lang="en-US" sz="135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Anything where you are the bottleneck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548640" y="4709160"/>
            <a:ext cx="5669280" cy="1280160"/>
          </a:xfrm>
          <a:prstGeom prst="roundRect">
            <a:avLst>
              <a:gd fmla="val 6429" name="adj"/>
            </a:avLst>
          </a:prstGeom>
          <a:solidFill>
            <a:srgbClr val="1E2430"/>
          </a:solidFill>
          <a:ln cap="flat" cmpd="sng" w="15875">
            <a:solidFill>
              <a:srgbClr val="5CC8FF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713232" y="4855464"/>
            <a:ext cx="1234440" cy="274320"/>
          </a:xfrm>
          <a:prstGeom prst="roundRect">
            <a:avLst>
              <a:gd fmla="val 50000" name="adj"/>
            </a:avLst>
          </a:prstGeom>
          <a:solidFill>
            <a:srgbClr val="5CC8FF"/>
          </a:solidFill>
          <a:ln cap="flat" cmpd="sng" w="12700">
            <a:solidFill>
              <a:srgbClr val="5C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713232" y="4855464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219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0F1219"/>
                </a:solidFill>
                <a:latin typeface="Courier New"/>
                <a:ea typeface="Courier New"/>
                <a:cs typeface="Courier New"/>
                <a:sym typeface="Courier New"/>
              </a:rPr>
              <a:t>VERIFY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749808" y="5239512"/>
            <a:ext cx="5266944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  <a:t>import torch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  <a:t>print(torch.cuda.is_available())   # True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6537960" y="4709160"/>
            <a:ext cx="5074920" cy="1280160"/>
          </a:xfrm>
          <a:prstGeom prst="roundRect">
            <a:avLst>
              <a:gd fmla="val 6429" name="adj"/>
            </a:avLst>
          </a:prstGeom>
          <a:solidFill>
            <a:srgbClr val="262E3D"/>
          </a:solidFill>
          <a:ln cap="flat" cmpd="sng" w="15875">
            <a:solidFill>
              <a:srgbClr val="F37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6812280" y="4892040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Changing the runtime type restarts the kernel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and wipes every variable you had in memory.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219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"/>
          <p:cNvSpPr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7626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F37626"/>
                </a:solidFill>
                <a:latin typeface="Courier New"/>
                <a:ea typeface="Courier New"/>
                <a:cs typeface="Courier New"/>
                <a:sym typeface="Courier New"/>
              </a:rPr>
              <a:t>FREE TIER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548640" y="658368"/>
            <a:ext cx="102412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2F5FA"/>
                </a:solidFill>
                <a:latin typeface="Arial"/>
                <a:ea typeface="Arial"/>
                <a:cs typeface="Arial"/>
                <a:sym typeface="Arial"/>
              </a:rPr>
              <a:t>Reality Check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548640" y="1325880"/>
            <a:ext cx="10424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9AE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8C99AE"/>
                </a:solidFill>
                <a:latin typeface="Calibri"/>
                <a:ea typeface="Calibri"/>
                <a:cs typeface="Calibri"/>
                <a:sym typeface="Calibri"/>
              </a:rPr>
              <a:t>The numbers shift. The behaviour does not — plan around it.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6880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5D6880"/>
                </a:solidFill>
                <a:latin typeface="Courier New"/>
                <a:ea typeface="Courier New"/>
                <a:cs typeface="Courier New"/>
                <a:sym typeface="Courier New"/>
              </a:rPr>
              <a:t>08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>
            <a:hlinkClick action="ppaction://hlinksldjump" r:id="rId3"/>
          </p:cNvPr>
          <p:cNvSpPr/>
          <p:nvPr/>
        </p:nvSpPr>
        <p:spPr>
          <a:xfrm>
            <a:off x="548640" y="635508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880"/>
              </a:buClr>
              <a:buSzPts val="1000"/>
              <a:buFont typeface="Courier New"/>
              <a:buNone/>
            </a:pPr>
            <a:r>
              <a:rPr b="1" i="0" lang="en-US" sz="1000" u="sng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action="ppaction://hlinksldjump" r:id="rId4"/>
              </a:rPr>
              <a:t>MENU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548640" y="1828800"/>
            <a:ext cx="5349240" cy="1874520"/>
          </a:xfrm>
          <a:prstGeom prst="roundRect">
            <a:avLst>
              <a:gd fmla="val 4878" name="adj"/>
            </a:avLst>
          </a:prstGeom>
          <a:solidFill>
            <a:srgbClr val="1E2430"/>
          </a:solidFill>
          <a:ln cap="flat" cmpd="sng" w="12700">
            <a:solidFill>
              <a:srgbClr val="1E243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"/>
          <p:cNvSpPr/>
          <p:nvPr/>
        </p:nvSpPr>
        <p:spPr>
          <a:xfrm>
            <a:off x="822960" y="2084832"/>
            <a:ext cx="310896" cy="310896"/>
          </a:xfrm>
          <a:prstGeom prst="ellipse">
            <a:avLst/>
          </a:prstGeom>
          <a:solidFill>
            <a:srgbClr val="F37626"/>
          </a:solidFill>
          <a:ln cap="flat" cmpd="sng" w="12700">
            <a:solidFill>
              <a:srgbClr val="F37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0"/>
          <p:cNvSpPr/>
          <p:nvPr/>
        </p:nvSpPr>
        <p:spPr>
          <a:xfrm>
            <a:off x="1298448" y="205740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7626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F37626"/>
                </a:solidFill>
                <a:latin typeface="Courier New"/>
                <a:ea typeface="Courier New"/>
                <a:cs typeface="Courier New"/>
                <a:sym typeface="Courier New"/>
              </a:rPr>
              <a:t>IDLE TIMEOUT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822960" y="2542032"/>
            <a:ext cx="47548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~90 min with no interaction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and the runtime dies.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822960" y="3182112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7626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F37626"/>
                </a:solidFill>
                <a:latin typeface="Calibri"/>
                <a:ea typeface="Calibri"/>
                <a:cs typeface="Calibri"/>
                <a:sym typeface="Calibri"/>
              </a:rPr>
              <a:t>Save often. Don't walk away mid-run.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6263640" y="1828800"/>
            <a:ext cx="5349240" cy="1874520"/>
          </a:xfrm>
          <a:prstGeom prst="roundRect">
            <a:avLst>
              <a:gd fmla="val 4878" name="adj"/>
            </a:avLst>
          </a:prstGeom>
          <a:solidFill>
            <a:srgbClr val="1E2430"/>
          </a:solidFill>
          <a:ln cap="flat" cmpd="sng" w="12700">
            <a:solidFill>
              <a:srgbClr val="1E243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"/>
          <p:cNvSpPr/>
          <p:nvPr/>
        </p:nvSpPr>
        <p:spPr>
          <a:xfrm>
            <a:off x="6537960" y="2084832"/>
            <a:ext cx="310896" cy="310896"/>
          </a:xfrm>
          <a:prstGeom prst="ellipse">
            <a:avLst/>
          </a:prstGeom>
          <a:solidFill>
            <a:srgbClr val="5CC8FF"/>
          </a:solidFill>
          <a:ln cap="flat" cmpd="sng" w="12700">
            <a:solidFill>
              <a:srgbClr val="5C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"/>
          <p:cNvSpPr/>
          <p:nvPr/>
        </p:nvSpPr>
        <p:spPr>
          <a:xfrm>
            <a:off x="7013448" y="205740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C8FF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5CC8FF"/>
                </a:solidFill>
                <a:latin typeface="Courier New"/>
                <a:ea typeface="Courier New"/>
                <a:cs typeface="Courier New"/>
                <a:sym typeface="Courier New"/>
              </a:rPr>
              <a:t>MAX SESSION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6537960" y="2542032"/>
            <a:ext cx="47548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~12 hours, even while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actively running.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6537960" y="3182112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C8FF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CC8FF"/>
                </a:solidFill>
                <a:latin typeface="Calibri"/>
                <a:ea typeface="Calibri"/>
                <a:cs typeface="Calibri"/>
                <a:sym typeface="Calibri"/>
              </a:rPr>
              <a:t>Checkpoint long jobs to Drive.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548640" y="3977640"/>
            <a:ext cx="5349240" cy="1874520"/>
          </a:xfrm>
          <a:prstGeom prst="roundRect">
            <a:avLst>
              <a:gd fmla="val 4878" name="adj"/>
            </a:avLst>
          </a:prstGeom>
          <a:solidFill>
            <a:srgbClr val="1E2430"/>
          </a:solidFill>
          <a:ln cap="flat" cmpd="sng" w="12700">
            <a:solidFill>
              <a:srgbClr val="1E243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"/>
          <p:cNvSpPr/>
          <p:nvPr/>
        </p:nvSpPr>
        <p:spPr>
          <a:xfrm>
            <a:off x="822960" y="4233672"/>
            <a:ext cx="310896" cy="310896"/>
          </a:xfrm>
          <a:prstGeom prst="ellipse">
            <a:avLst/>
          </a:prstGeom>
          <a:solidFill>
            <a:srgbClr val="FFB454"/>
          </a:solidFill>
          <a:ln cap="flat" cmpd="sng" w="12700">
            <a:solidFill>
              <a:srgbClr val="FFB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0"/>
          <p:cNvSpPr/>
          <p:nvPr/>
        </p:nvSpPr>
        <p:spPr>
          <a:xfrm>
            <a:off x="1298448" y="420624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454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FFB454"/>
                </a:solidFill>
                <a:latin typeface="Courier New"/>
                <a:ea typeface="Courier New"/>
                <a:cs typeface="Courier New"/>
                <a:sym typeface="Courier New"/>
              </a:rPr>
              <a:t>GPU QUOTA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822960" y="4690872"/>
            <a:ext cx="47548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Heavy use triggers cooldowns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and slower hardware.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822960" y="5330952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454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FFB454"/>
                </a:solidFill>
                <a:latin typeface="Calibri"/>
                <a:ea typeface="Calibri"/>
                <a:cs typeface="Calibri"/>
                <a:sym typeface="Calibri"/>
              </a:rPr>
              <a:t>Only request a GPU you'll use.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6263640" y="3977640"/>
            <a:ext cx="5349240" cy="1874520"/>
          </a:xfrm>
          <a:prstGeom prst="roundRect">
            <a:avLst>
              <a:gd fmla="val 4878" name="adj"/>
            </a:avLst>
          </a:prstGeom>
          <a:solidFill>
            <a:srgbClr val="1E2430"/>
          </a:solidFill>
          <a:ln cap="flat" cmpd="sng" w="12700">
            <a:solidFill>
              <a:srgbClr val="1E243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0"/>
          <p:cNvSpPr/>
          <p:nvPr/>
        </p:nvSpPr>
        <p:spPr>
          <a:xfrm>
            <a:off x="6537960" y="4233672"/>
            <a:ext cx="310896" cy="310896"/>
          </a:xfrm>
          <a:prstGeom prst="ellipse">
            <a:avLst/>
          </a:prstGeom>
          <a:solidFill>
            <a:srgbClr val="3DDC97"/>
          </a:solidFill>
          <a:ln cap="flat" cmpd="sng" w="12700">
            <a:solidFill>
              <a:srgbClr val="3DDC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"/>
          <p:cNvSpPr/>
          <p:nvPr/>
        </p:nvSpPr>
        <p:spPr>
          <a:xfrm>
            <a:off x="7013448" y="420624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C97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3DDC97"/>
                </a:solidFill>
                <a:latin typeface="Courier New"/>
                <a:ea typeface="Courier New"/>
                <a:cs typeface="Courier New"/>
                <a:sym typeface="Courier New"/>
              </a:rPr>
              <a:t>TEMP STORAGE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6537960" y="4690872"/>
            <a:ext cx="47548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/content is wiped the moment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you disconnect.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6537960" y="5330952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C97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3DDC97"/>
                </a:solidFill>
                <a:latin typeface="Calibri"/>
                <a:ea typeface="Calibri"/>
                <a:cs typeface="Calibri"/>
                <a:sym typeface="Calibri"/>
              </a:rPr>
              <a:t>Mount Drive for anything you keep.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219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1"/>
          <p:cNvSpPr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7626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F37626"/>
                </a:solidFill>
                <a:latin typeface="Courier New"/>
                <a:ea typeface="Courier New"/>
                <a:cs typeface="Courier New"/>
                <a:sym typeface="Courier New"/>
              </a:rPr>
              <a:t>WORKFLOW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548640" y="658368"/>
            <a:ext cx="102412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2F5FA"/>
                </a:solidFill>
                <a:latin typeface="Arial"/>
                <a:ea typeface="Arial"/>
                <a:cs typeface="Arial"/>
                <a:sym typeface="Arial"/>
              </a:rPr>
              <a:t>In, Out, and Across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6880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5D6880"/>
                </a:solidFill>
                <a:latin typeface="Courier New"/>
                <a:ea typeface="Courier New"/>
                <a:cs typeface="Courier New"/>
                <a:sym typeface="Courier New"/>
              </a:rPr>
              <a:t>09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>
            <a:hlinkClick action="ppaction://hlinksldjump" r:id="rId3"/>
          </p:cNvPr>
          <p:cNvSpPr/>
          <p:nvPr/>
        </p:nvSpPr>
        <p:spPr>
          <a:xfrm>
            <a:off x="548640" y="635508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880"/>
              </a:buClr>
              <a:buSzPts val="1000"/>
              <a:buFont typeface="Courier New"/>
              <a:buNone/>
            </a:pPr>
            <a:r>
              <a:rPr b="1" i="0" lang="en-US" sz="1000" u="sng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action="ppaction://hlinksldjump" r:id="rId4"/>
              </a:rPr>
              <a:t>MENU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548640" y="1691640"/>
            <a:ext cx="3246120" cy="3200400"/>
          </a:xfrm>
          <a:prstGeom prst="roundRect">
            <a:avLst>
              <a:gd fmla="val 2857" name="adj"/>
            </a:avLst>
          </a:prstGeom>
          <a:solidFill>
            <a:srgbClr val="1E2430"/>
          </a:solidFill>
          <a:ln cap="flat" cmpd="sng" w="12700">
            <a:solidFill>
              <a:srgbClr val="1E243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1"/>
          <p:cNvSpPr/>
          <p:nvPr/>
        </p:nvSpPr>
        <p:spPr>
          <a:xfrm>
            <a:off x="804672" y="1901952"/>
            <a:ext cx="1234440" cy="329184"/>
          </a:xfrm>
          <a:prstGeom prst="roundRect">
            <a:avLst>
              <a:gd fmla="val 50000" name="adj"/>
            </a:avLst>
          </a:prstGeom>
          <a:solidFill>
            <a:srgbClr val="F37626"/>
          </a:solidFill>
          <a:ln cap="flat" cmpd="sng" w="12700">
            <a:solidFill>
              <a:srgbClr val="F37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1"/>
          <p:cNvSpPr/>
          <p:nvPr/>
        </p:nvSpPr>
        <p:spPr>
          <a:xfrm>
            <a:off x="804672" y="1901952"/>
            <a:ext cx="1234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219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0F1219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804672" y="237744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2F5FA"/>
                </a:solidFill>
                <a:latin typeface="Arial"/>
                <a:ea typeface="Arial"/>
                <a:cs typeface="Arial"/>
                <a:sym typeface="Arial"/>
              </a:rPr>
              <a:t>Getting data in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804672" y="2788920"/>
            <a:ext cx="2743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300"/>
              <a:buFont typeface="Calibri"/>
              <a:buChar char="▪"/>
            </a:pPr>
            <a:r>
              <a:rPr b="0" i="0" lang="en-US" sz="13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Drag into Files sidebar  =  temporary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2F5FA"/>
              </a:buClr>
              <a:buSzPts val="1300"/>
              <a:buFont typeface="Calibri"/>
              <a:buChar char="▪"/>
            </a:pPr>
            <a:r>
              <a:rPr b="0" i="0" lang="en-US" sz="13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Mount Drive  =  persistent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804672" y="3977640"/>
            <a:ext cx="2743200" cy="749808"/>
          </a:xfrm>
          <a:prstGeom prst="roundRect">
            <a:avLst>
              <a:gd fmla="val 8537" name="adj"/>
            </a:avLst>
          </a:prstGeom>
          <a:solidFill>
            <a:srgbClr val="0F1219"/>
          </a:solidFill>
          <a:ln cap="flat" cmpd="sng" w="12700">
            <a:solidFill>
              <a:srgbClr val="262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1"/>
          <p:cNvSpPr/>
          <p:nvPr/>
        </p:nvSpPr>
        <p:spPr>
          <a:xfrm>
            <a:off x="932688" y="4069080"/>
            <a:ext cx="2560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3DDC97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3DDC97"/>
                </a:solidFill>
                <a:latin typeface="Courier New"/>
                <a:ea typeface="Courier New"/>
                <a:cs typeface="Courier New"/>
                <a:sym typeface="Courier New"/>
              </a:rPr>
              <a:t>from google.colab import drive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3DDC97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3DDC97"/>
                </a:solidFill>
                <a:latin typeface="Courier New"/>
                <a:ea typeface="Courier New"/>
                <a:cs typeface="Courier New"/>
                <a:sym typeface="Courier New"/>
              </a:rPr>
              <a:t>drive.mount('/content/drive')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4343400" y="1691640"/>
            <a:ext cx="3246120" cy="3200400"/>
          </a:xfrm>
          <a:prstGeom prst="roundRect">
            <a:avLst>
              <a:gd fmla="val 2857" name="adj"/>
            </a:avLst>
          </a:prstGeom>
          <a:solidFill>
            <a:srgbClr val="1E2430"/>
          </a:solidFill>
          <a:ln cap="flat" cmpd="sng" w="12700">
            <a:solidFill>
              <a:srgbClr val="1E243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1"/>
          <p:cNvSpPr/>
          <p:nvPr/>
        </p:nvSpPr>
        <p:spPr>
          <a:xfrm>
            <a:off x="4599432" y="1901952"/>
            <a:ext cx="1234440" cy="329184"/>
          </a:xfrm>
          <a:prstGeom prst="roundRect">
            <a:avLst>
              <a:gd fmla="val 50000" name="adj"/>
            </a:avLst>
          </a:prstGeom>
          <a:solidFill>
            <a:srgbClr val="5CC8FF"/>
          </a:solidFill>
          <a:ln cap="flat" cmpd="sng" w="12700">
            <a:solidFill>
              <a:srgbClr val="5C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"/>
          <p:cNvSpPr/>
          <p:nvPr/>
        </p:nvSpPr>
        <p:spPr>
          <a:xfrm>
            <a:off x="4599432" y="1901952"/>
            <a:ext cx="1234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219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0F1219"/>
                </a:solidFill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4599432" y="237744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2F5FA"/>
                </a:solidFill>
                <a:latin typeface="Arial"/>
                <a:ea typeface="Arial"/>
                <a:cs typeface="Arial"/>
                <a:sym typeface="Arial"/>
              </a:rPr>
              <a:t>Getting work out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4599432" y="2788920"/>
            <a:ext cx="2743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300"/>
              <a:buFont typeface="Calibri"/>
              <a:buChar char="▪"/>
            </a:pPr>
            <a:r>
              <a:rPr b="0" i="0" lang="en-US" sz="13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File &gt; Download &gt; .ipynb or .py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2F5FA"/>
              </a:buClr>
              <a:buSzPts val="1300"/>
              <a:buFont typeface="Calibri"/>
              <a:buChar char="▪"/>
            </a:pPr>
            <a:r>
              <a:rPr b="0" i="0" lang="en-US" sz="13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File &gt; Save a copy in GitHub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8138160" y="1691640"/>
            <a:ext cx="3246120" cy="3200400"/>
          </a:xfrm>
          <a:prstGeom prst="roundRect">
            <a:avLst>
              <a:gd fmla="val 2857" name="adj"/>
            </a:avLst>
          </a:prstGeom>
          <a:solidFill>
            <a:srgbClr val="1E2430"/>
          </a:solidFill>
          <a:ln cap="flat" cmpd="sng" w="12700">
            <a:solidFill>
              <a:srgbClr val="1E243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"/>
          <p:cNvSpPr/>
          <p:nvPr/>
        </p:nvSpPr>
        <p:spPr>
          <a:xfrm>
            <a:off x="8394192" y="1901952"/>
            <a:ext cx="1234440" cy="329184"/>
          </a:xfrm>
          <a:prstGeom prst="roundRect">
            <a:avLst>
              <a:gd fmla="val 50000" name="adj"/>
            </a:avLst>
          </a:prstGeom>
          <a:solidFill>
            <a:srgbClr val="3DDC97"/>
          </a:solidFill>
          <a:ln cap="flat" cmpd="sng" w="12700">
            <a:solidFill>
              <a:srgbClr val="3DDC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1"/>
          <p:cNvSpPr/>
          <p:nvPr/>
        </p:nvSpPr>
        <p:spPr>
          <a:xfrm>
            <a:off x="8394192" y="1901952"/>
            <a:ext cx="1234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219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0F1219"/>
                </a:solidFill>
                <a:latin typeface="Courier New"/>
                <a:ea typeface="Courier New"/>
                <a:cs typeface="Courier New"/>
                <a:sym typeface="Courier New"/>
              </a:rPr>
              <a:t>ACROSS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8394192" y="237744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2F5FA"/>
                </a:solidFill>
                <a:latin typeface="Arial"/>
                <a:ea typeface="Arial"/>
                <a:cs typeface="Arial"/>
                <a:sym typeface="Arial"/>
              </a:rPr>
              <a:t>Sharing it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8394192" y="2788920"/>
            <a:ext cx="2743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300"/>
              <a:buFont typeface="Calibri"/>
              <a:buChar char="▪"/>
            </a:pPr>
            <a:r>
              <a:rPr b="0" i="0" lang="en-US" sz="13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Share &gt; set link access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2F5FA"/>
              </a:buClr>
              <a:buSzPts val="1300"/>
              <a:buFont typeface="Calibri"/>
              <a:buChar char="▪"/>
            </a:pPr>
            <a:r>
              <a:rPr b="0" i="0" lang="en-US" sz="13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Choose Viewer vs Editor deliberately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548640" y="5120640"/>
            <a:ext cx="11064240" cy="868680"/>
          </a:xfrm>
          <a:prstGeom prst="roundRect">
            <a:avLst>
              <a:gd fmla="val 9474" name="adj"/>
            </a:avLst>
          </a:prstGeom>
          <a:solidFill>
            <a:srgbClr val="262E3D"/>
          </a:solidFill>
          <a:ln cap="flat" cmpd="sng" w="15875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1"/>
          <p:cNvSpPr/>
          <p:nvPr/>
        </p:nvSpPr>
        <p:spPr>
          <a:xfrm>
            <a:off x="868680" y="5120640"/>
            <a:ext cx="104241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The two classics: sharing a link still set to 'Restricted', and sharing code that reads from YOUR Drive path.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6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6880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5D6880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2">
            <a:hlinkClick action="ppaction://hlinksldjump" r:id="rId3"/>
          </p:cNvPr>
          <p:cNvSpPr/>
          <p:nvPr/>
        </p:nvSpPr>
        <p:spPr>
          <a:xfrm>
            <a:off x="548640" y="635508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880"/>
              </a:buClr>
              <a:buSzPts val="1000"/>
              <a:buFont typeface="Courier New"/>
              <a:buNone/>
            </a:pPr>
            <a:r>
              <a:rPr b="1" i="0" lang="en-US" sz="1000" u="sng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action="ppaction://hlinksldjump" r:id="rId4"/>
              </a:rPr>
              <a:t>MENU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2"/>
          <p:cNvSpPr/>
          <p:nvPr/>
        </p:nvSpPr>
        <p:spPr>
          <a:xfrm>
            <a:off x="548640" y="1371600"/>
            <a:ext cx="365760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E3D"/>
              </a:buClr>
              <a:buSzPts val="15000"/>
              <a:buFont typeface="Arial"/>
              <a:buNone/>
            </a:pPr>
            <a:r>
              <a:rPr b="1" i="0" lang="en-US" sz="15000" u="none" cap="none" strike="noStrike">
                <a:solidFill>
                  <a:srgbClr val="262E3D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2"/>
          <p:cNvSpPr/>
          <p:nvPr/>
        </p:nvSpPr>
        <p:spPr>
          <a:xfrm>
            <a:off x="685800" y="3063240"/>
            <a:ext cx="65836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2F5FA"/>
                </a:solidFill>
                <a:latin typeface="Arial"/>
                <a:ea typeface="Arial"/>
                <a:cs typeface="Arial"/>
                <a:sym typeface="Arial"/>
              </a:rPr>
              <a:t>Clean &amp;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2F5FA"/>
                </a:solidFill>
                <a:latin typeface="Arial"/>
                <a:ea typeface="Arial"/>
                <a:cs typeface="Arial"/>
                <a:sym typeface="Arial"/>
              </a:rPr>
              <a:t>Readable Code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2"/>
          <p:cNvSpPr/>
          <p:nvPr/>
        </p:nvSpPr>
        <p:spPr>
          <a:xfrm>
            <a:off x="685800" y="43891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C97"/>
              </a:buClr>
              <a:buSzPts val="1700"/>
              <a:buFont typeface="Calibri"/>
              <a:buNone/>
            </a:pPr>
            <a:r>
              <a:rPr b="0" i="1" lang="en-US" sz="1700" u="none" cap="none" strike="noStrike">
                <a:solidFill>
                  <a:srgbClr val="3DDC97"/>
                </a:solidFill>
                <a:latin typeface="Calibri"/>
                <a:ea typeface="Calibri"/>
                <a:cs typeface="Calibri"/>
                <a:sym typeface="Calibri"/>
              </a:rPr>
              <a:t>"Code is read far more often than it is written."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2"/>
          <p:cNvSpPr/>
          <p:nvPr/>
        </p:nvSpPr>
        <p:spPr>
          <a:xfrm>
            <a:off x="7589520" y="1737360"/>
            <a:ext cx="4023360" cy="685800"/>
          </a:xfrm>
          <a:prstGeom prst="roundRect">
            <a:avLst>
              <a:gd fmla="val 12000" name="adj"/>
            </a:avLst>
          </a:prstGeom>
          <a:solidFill>
            <a:srgbClr val="1E2430"/>
          </a:solidFill>
          <a:ln cap="flat" cmpd="sng" w="12700">
            <a:solidFill>
              <a:srgbClr val="1E24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2"/>
          <p:cNvSpPr/>
          <p:nvPr/>
        </p:nvSpPr>
        <p:spPr>
          <a:xfrm>
            <a:off x="7818120" y="1938528"/>
            <a:ext cx="274320" cy="274320"/>
          </a:xfrm>
          <a:prstGeom prst="ellipse">
            <a:avLst/>
          </a:prstGeom>
          <a:solidFill>
            <a:srgbClr val="3DDC97"/>
          </a:solidFill>
          <a:ln cap="flat" cmpd="sng" w="12700">
            <a:solidFill>
              <a:srgbClr val="3DDC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2"/>
          <p:cNvSpPr/>
          <p:nvPr/>
        </p:nvSpPr>
        <p:spPr>
          <a:xfrm>
            <a:off x="8229600" y="1737360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PEP 8 non-negotiables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2"/>
          <p:cNvSpPr/>
          <p:nvPr/>
        </p:nvSpPr>
        <p:spPr>
          <a:xfrm>
            <a:off x="7589520" y="2606040"/>
            <a:ext cx="4023360" cy="685800"/>
          </a:xfrm>
          <a:prstGeom prst="roundRect">
            <a:avLst>
              <a:gd fmla="val 12000" name="adj"/>
            </a:avLst>
          </a:prstGeom>
          <a:solidFill>
            <a:srgbClr val="1E2430"/>
          </a:solidFill>
          <a:ln cap="flat" cmpd="sng" w="12700">
            <a:solidFill>
              <a:srgbClr val="1E24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2"/>
          <p:cNvSpPr/>
          <p:nvPr/>
        </p:nvSpPr>
        <p:spPr>
          <a:xfrm>
            <a:off x="7818120" y="2807208"/>
            <a:ext cx="274320" cy="274320"/>
          </a:xfrm>
          <a:prstGeom prst="ellipse">
            <a:avLst/>
          </a:prstGeom>
          <a:solidFill>
            <a:srgbClr val="3DDC97"/>
          </a:solidFill>
          <a:ln cap="flat" cmpd="sng" w="12700">
            <a:solidFill>
              <a:srgbClr val="3DDC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2"/>
          <p:cNvSpPr/>
          <p:nvPr/>
        </p:nvSpPr>
        <p:spPr>
          <a:xfrm>
            <a:off x="8229600" y="2606040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Naming as leverage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2"/>
          <p:cNvSpPr/>
          <p:nvPr/>
        </p:nvSpPr>
        <p:spPr>
          <a:xfrm>
            <a:off x="7589520" y="3474720"/>
            <a:ext cx="4023360" cy="685800"/>
          </a:xfrm>
          <a:prstGeom prst="roundRect">
            <a:avLst>
              <a:gd fmla="val 12000" name="adj"/>
            </a:avLst>
          </a:prstGeom>
          <a:solidFill>
            <a:srgbClr val="1E2430"/>
          </a:solidFill>
          <a:ln cap="flat" cmpd="sng" w="12700">
            <a:solidFill>
              <a:srgbClr val="1E24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2"/>
          <p:cNvSpPr/>
          <p:nvPr/>
        </p:nvSpPr>
        <p:spPr>
          <a:xfrm>
            <a:off x="7818120" y="3675888"/>
            <a:ext cx="274320" cy="274320"/>
          </a:xfrm>
          <a:prstGeom prst="ellipse">
            <a:avLst/>
          </a:prstGeom>
          <a:solidFill>
            <a:srgbClr val="3DDC97"/>
          </a:solidFill>
          <a:ln cap="flat" cmpd="sng" w="12700">
            <a:solidFill>
              <a:srgbClr val="3DDC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2"/>
          <p:cNvSpPr/>
          <p:nvPr/>
        </p:nvSpPr>
        <p:spPr>
          <a:xfrm>
            <a:off x="8229600" y="3474720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Comments vs docstrings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2"/>
          <p:cNvSpPr/>
          <p:nvPr/>
        </p:nvSpPr>
        <p:spPr>
          <a:xfrm>
            <a:off x="7589520" y="4343400"/>
            <a:ext cx="4023360" cy="685800"/>
          </a:xfrm>
          <a:prstGeom prst="roundRect">
            <a:avLst>
              <a:gd fmla="val 12000" name="adj"/>
            </a:avLst>
          </a:prstGeom>
          <a:solidFill>
            <a:srgbClr val="1E2430"/>
          </a:solidFill>
          <a:ln cap="flat" cmpd="sng" w="12700">
            <a:solidFill>
              <a:srgbClr val="1E24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2"/>
          <p:cNvSpPr/>
          <p:nvPr/>
        </p:nvSpPr>
        <p:spPr>
          <a:xfrm>
            <a:off x="7818120" y="4544568"/>
            <a:ext cx="274320" cy="274320"/>
          </a:xfrm>
          <a:prstGeom prst="ellipse">
            <a:avLst/>
          </a:prstGeom>
          <a:solidFill>
            <a:srgbClr val="3DDC97"/>
          </a:solidFill>
          <a:ln cap="flat" cmpd="sng" w="12700">
            <a:solidFill>
              <a:srgbClr val="3DDC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2"/>
          <p:cNvSpPr/>
          <p:nvPr/>
        </p:nvSpPr>
        <p:spPr>
          <a:xfrm>
            <a:off x="8229600" y="4343400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Death to the monster cell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219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3"/>
          <p:cNvSpPr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7626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F37626"/>
                </a:solidFill>
                <a:latin typeface="Courier New"/>
                <a:ea typeface="Courier New"/>
                <a:cs typeface="Courier New"/>
                <a:sym typeface="Courier New"/>
              </a:rPr>
              <a:t>STYLE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548640" y="658368"/>
            <a:ext cx="102412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2F5FA"/>
                </a:solidFill>
                <a:latin typeface="Arial"/>
                <a:ea typeface="Arial"/>
                <a:cs typeface="Arial"/>
                <a:sym typeface="Arial"/>
              </a:rPr>
              <a:t>PEP 8: The Non-Negotiables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3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6880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5D6880"/>
                </a:solidFill>
                <a:latin typeface="Courier New"/>
                <a:ea typeface="Courier New"/>
                <a:cs typeface="Courier New"/>
                <a:sym typeface="Courier New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3">
            <a:hlinkClick action="ppaction://hlinksldjump" r:id="rId3"/>
          </p:cNvPr>
          <p:cNvSpPr/>
          <p:nvPr/>
        </p:nvSpPr>
        <p:spPr>
          <a:xfrm>
            <a:off x="548640" y="635508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880"/>
              </a:buClr>
              <a:buSzPts val="1000"/>
              <a:buFont typeface="Courier New"/>
              <a:buNone/>
            </a:pPr>
            <a:r>
              <a:rPr b="1" i="0" lang="en-US" sz="1000" u="sng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action="ppaction://hlinksldjump" r:id="rId4"/>
              </a:rPr>
              <a:t>MENU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548640" y="1645920"/>
            <a:ext cx="2606040" cy="1371600"/>
          </a:xfrm>
          <a:prstGeom prst="roundRect">
            <a:avLst>
              <a:gd fmla="val 6000" name="adj"/>
            </a:avLst>
          </a:prstGeom>
          <a:solidFill>
            <a:srgbClr val="1E2430"/>
          </a:solidFill>
          <a:ln cap="flat" cmpd="sng" w="12700">
            <a:solidFill>
              <a:srgbClr val="1E243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3"/>
          <p:cNvSpPr/>
          <p:nvPr/>
        </p:nvSpPr>
        <p:spPr>
          <a:xfrm>
            <a:off x="749808" y="182880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C97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3DDC97"/>
                </a:solidFill>
                <a:latin typeface="Courier New"/>
                <a:ea typeface="Courier New"/>
                <a:cs typeface="Courier New"/>
                <a:sym typeface="Courier New"/>
              </a:rPr>
              <a:t>4 SPACES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3"/>
          <p:cNvSpPr/>
          <p:nvPr/>
        </p:nvSpPr>
        <p:spPr>
          <a:xfrm>
            <a:off x="749808" y="2212848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8C99A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8C99AE"/>
                </a:solidFill>
                <a:latin typeface="Calibri"/>
                <a:ea typeface="Calibri"/>
                <a:cs typeface="Calibri"/>
                <a:sym typeface="Calibri"/>
              </a:rPr>
              <a:t>Never tabs.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8C99A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8C99AE"/>
                </a:solidFill>
                <a:latin typeface="Calibri"/>
                <a:ea typeface="Calibri"/>
                <a:cs typeface="Calibri"/>
                <a:sym typeface="Calibri"/>
              </a:rPr>
              <a:t>Never mixed.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3"/>
          <p:cNvSpPr/>
          <p:nvPr/>
        </p:nvSpPr>
        <p:spPr>
          <a:xfrm>
            <a:off x="3364992" y="1645920"/>
            <a:ext cx="2606040" cy="1371600"/>
          </a:xfrm>
          <a:prstGeom prst="roundRect">
            <a:avLst>
              <a:gd fmla="val 6000" name="adj"/>
            </a:avLst>
          </a:prstGeom>
          <a:solidFill>
            <a:srgbClr val="1E2430"/>
          </a:solidFill>
          <a:ln cap="flat" cmpd="sng" w="12700">
            <a:solidFill>
              <a:srgbClr val="1E243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3"/>
          <p:cNvSpPr/>
          <p:nvPr/>
        </p:nvSpPr>
        <p:spPr>
          <a:xfrm>
            <a:off x="3566160" y="182880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C97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3DDC97"/>
                </a:solidFill>
                <a:latin typeface="Courier New"/>
                <a:ea typeface="Courier New"/>
                <a:cs typeface="Courier New"/>
                <a:sym typeface="Courier New"/>
              </a:rPr>
              <a:t>&lt;= 79 CHARS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3"/>
          <p:cNvSpPr/>
          <p:nvPr/>
        </p:nvSpPr>
        <p:spPr>
          <a:xfrm>
            <a:off x="3566160" y="2212848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8C99A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8C99AE"/>
                </a:solidFill>
                <a:latin typeface="Calibri"/>
                <a:ea typeface="Calibri"/>
                <a:cs typeface="Calibri"/>
                <a:sym typeface="Calibri"/>
              </a:rPr>
              <a:t>Colab shows the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8C99A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8C99AE"/>
                </a:solidFill>
                <a:latin typeface="Calibri"/>
                <a:ea typeface="Calibri"/>
                <a:cs typeface="Calibri"/>
                <a:sym typeface="Calibri"/>
              </a:rPr>
              <a:t>vertical guide.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3"/>
          <p:cNvSpPr/>
          <p:nvPr/>
        </p:nvSpPr>
        <p:spPr>
          <a:xfrm>
            <a:off x="6181344" y="1645920"/>
            <a:ext cx="2606040" cy="1371600"/>
          </a:xfrm>
          <a:prstGeom prst="roundRect">
            <a:avLst>
              <a:gd fmla="val 6000" name="adj"/>
            </a:avLst>
          </a:prstGeom>
          <a:solidFill>
            <a:srgbClr val="1E2430"/>
          </a:solidFill>
          <a:ln cap="flat" cmpd="sng" w="12700">
            <a:solidFill>
              <a:srgbClr val="1E243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3"/>
          <p:cNvSpPr/>
          <p:nvPr/>
        </p:nvSpPr>
        <p:spPr>
          <a:xfrm>
            <a:off x="6382512" y="182880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C97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3DDC97"/>
                </a:solidFill>
                <a:latin typeface="Courier New"/>
                <a:ea typeface="Courier New"/>
                <a:cs typeface="Courier New"/>
                <a:sym typeface="Courier New"/>
              </a:rPr>
              <a:t>SPACE OPERATORS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3"/>
          <p:cNvSpPr/>
          <p:nvPr/>
        </p:nvSpPr>
        <p:spPr>
          <a:xfrm>
            <a:off x="6382512" y="2212848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8C99A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8C99AE"/>
                </a:solidFill>
                <a:latin typeface="Calibri"/>
                <a:ea typeface="Calibri"/>
                <a:cs typeface="Calibri"/>
                <a:sym typeface="Calibri"/>
              </a:rPr>
              <a:t>total = price * qty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8C99A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8C99AE"/>
                </a:solidFill>
                <a:latin typeface="Calibri"/>
                <a:ea typeface="Calibri"/>
                <a:cs typeface="Calibri"/>
                <a:sym typeface="Calibri"/>
              </a:rPr>
              <a:t>not total=price*qty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3"/>
          <p:cNvSpPr/>
          <p:nvPr/>
        </p:nvSpPr>
        <p:spPr>
          <a:xfrm>
            <a:off x="8997696" y="1645920"/>
            <a:ext cx="2606040" cy="1371600"/>
          </a:xfrm>
          <a:prstGeom prst="roundRect">
            <a:avLst>
              <a:gd fmla="val 6000" name="adj"/>
            </a:avLst>
          </a:prstGeom>
          <a:solidFill>
            <a:srgbClr val="1E2430"/>
          </a:solidFill>
          <a:ln cap="flat" cmpd="sng" w="12700">
            <a:solidFill>
              <a:srgbClr val="1E243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3"/>
          <p:cNvSpPr/>
          <p:nvPr/>
        </p:nvSpPr>
        <p:spPr>
          <a:xfrm>
            <a:off x="9198864" y="182880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C97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3DDC97"/>
                </a:solidFill>
                <a:latin typeface="Courier New"/>
                <a:ea typeface="Courier New"/>
                <a:cs typeface="Courier New"/>
                <a:sym typeface="Courier New"/>
              </a:rPr>
              <a:t>2 BLANK LINES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3"/>
          <p:cNvSpPr/>
          <p:nvPr/>
        </p:nvSpPr>
        <p:spPr>
          <a:xfrm>
            <a:off x="9198864" y="2212848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8C99A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8C99AE"/>
                </a:solidFill>
                <a:latin typeface="Calibri"/>
                <a:ea typeface="Calibri"/>
                <a:cs typeface="Calibri"/>
                <a:sym typeface="Calibri"/>
              </a:rPr>
              <a:t>Between top-level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8C99A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8C99AE"/>
                </a:solidFill>
                <a:latin typeface="Calibri"/>
                <a:ea typeface="Calibri"/>
                <a:cs typeface="Calibri"/>
                <a:sym typeface="Calibri"/>
              </a:rPr>
              <a:t>function definitions.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3"/>
          <p:cNvSpPr/>
          <p:nvPr/>
        </p:nvSpPr>
        <p:spPr>
          <a:xfrm>
            <a:off x="548640" y="3246120"/>
            <a:ext cx="5349240" cy="2377440"/>
          </a:xfrm>
          <a:prstGeom prst="roundRect">
            <a:avLst>
              <a:gd fmla="val 3462" name="adj"/>
            </a:avLst>
          </a:prstGeom>
          <a:solidFill>
            <a:srgbClr val="1E2430"/>
          </a:solidFill>
          <a:ln cap="flat" cmpd="sng" w="15875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3"/>
          <p:cNvSpPr/>
          <p:nvPr/>
        </p:nvSpPr>
        <p:spPr>
          <a:xfrm>
            <a:off x="713232" y="3392424"/>
            <a:ext cx="1234440" cy="274320"/>
          </a:xfrm>
          <a:prstGeom prst="roundRect">
            <a:avLst>
              <a:gd fmla="val 50000" name="adj"/>
            </a:avLst>
          </a:prstGeom>
          <a:solidFill>
            <a:srgbClr val="FF6B6B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3"/>
          <p:cNvSpPr/>
          <p:nvPr/>
        </p:nvSpPr>
        <p:spPr>
          <a:xfrm>
            <a:off x="713232" y="3392424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219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0F1219"/>
                </a:solidFill>
                <a:latin typeface="Courier New"/>
                <a:ea typeface="Courier New"/>
                <a:cs typeface="Courier New"/>
                <a:sym typeface="Courier New"/>
              </a:rPr>
              <a:t>X  BAD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749808" y="3776472"/>
            <a:ext cx="4946904" cy="1664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  <a:t>x=[1,2,3]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  <a:t>def f(a,b):return a+b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  <a:t>if x: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  <a:t>  print( 'hi' 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3"/>
          <p:cNvSpPr/>
          <p:nvPr/>
        </p:nvSpPr>
        <p:spPr>
          <a:xfrm>
            <a:off x="6263640" y="3246120"/>
            <a:ext cx="5349240" cy="2377440"/>
          </a:xfrm>
          <a:prstGeom prst="roundRect">
            <a:avLst>
              <a:gd fmla="val 3462" name="adj"/>
            </a:avLst>
          </a:prstGeom>
          <a:solidFill>
            <a:srgbClr val="1E2430"/>
          </a:solidFill>
          <a:ln cap="flat" cmpd="sng" w="15875">
            <a:solidFill>
              <a:srgbClr val="3DDC97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3"/>
          <p:cNvSpPr/>
          <p:nvPr/>
        </p:nvSpPr>
        <p:spPr>
          <a:xfrm>
            <a:off x="6428232" y="3392424"/>
            <a:ext cx="1234440" cy="274320"/>
          </a:xfrm>
          <a:prstGeom prst="roundRect">
            <a:avLst>
              <a:gd fmla="val 50000" name="adj"/>
            </a:avLst>
          </a:prstGeom>
          <a:solidFill>
            <a:srgbClr val="3DDC97"/>
          </a:solidFill>
          <a:ln cap="flat" cmpd="sng" w="12700">
            <a:solidFill>
              <a:srgbClr val="3DDC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3"/>
          <p:cNvSpPr/>
          <p:nvPr/>
        </p:nvSpPr>
        <p:spPr>
          <a:xfrm>
            <a:off x="6428232" y="3392424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219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0F1219"/>
                </a:solidFill>
                <a:latin typeface="Courier New"/>
                <a:ea typeface="Courier New"/>
                <a:cs typeface="Courier New"/>
                <a:sym typeface="Courier New"/>
              </a:rPr>
              <a:t>OK  GOOD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3"/>
          <p:cNvSpPr/>
          <p:nvPr/>
        </p:nvSpPr>
        <p:spPr>
          <a:xfrm>
            <a:off x="6464808" y="3776472"/>
            <a:ext cx="4946904" cy="1664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  <a:t>x = [1, 2, 3]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  <a:t>def add(a, b):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a + 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  <a:t>if x: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  <a:t>    print('hi')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3"/>
          <p:cNvSpPr/>
          <p:nvPr/>
        </p:nvSpPr>
        <p:spPr>
          <a:xfrm>
            <a:off x="548640" y="585216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88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D6880"/>
                </a:solidFill>
                <a:latin typeface="Calibri"/>
                <a:ea typeface="Calibri"/>
                <a:cs typeface="Calibri"/>
                <a:sym typeface="Calibri"/>
              </a:rPr>
              <a:t>You don't have to memorise PEP 8. You have to stop fighting it — pip install black.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219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4"/>
          <p:cNvSpPr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7626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F37626"/>
                </a:solidFill>
                <a:latin typeface="Courier New"/>
                <a:ea typeface="Courier New"/>
                <a:cs typeface="Courier New"/>
                <a:sym typeface="Courier New"/>
              </a:rPr>
              <a:t>HIGHEST LEVERAGE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4"/>
          <p:cNvSpPr/>
          <p:nvPr/>
        </p:nvSpPr>
        <p:spPr>
          <a:xfrm>
            <a:off x="548640" y="658368"/>
            <a:ext cx="102412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2F5FA"/>
                </a:solidFill>
                <a:latin typeface="Arial"/>
                <a:ea typeface="Arial"/>
                <a:cs typeface="Arial"/>
                <a:sym typeface="Arial"/>
              </a:rPr>
              <a:t>Name Things Like Someone Else Will Read Them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4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6880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5D6880"/>
                </a:solidFill>
                <a:latin typeface="Courier New"/>
                <a:ea typeface="Courier New"/>
                <a:cs typeface="Courier New"/>
                <a:sym typeface="Courier New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4">
            <a:hlinkClick action="ppaction://hlinksldjump" r:id="rId3"/>
          </p:cNvPr>
          <p:cNvSpPr/>
          <p:nvPr/>
        </p:nvSpPr>
        <p:spPr>
          <a:xfrm>
            <a:off x="548640" y="635508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880"/>
              </a:buClr>
              <a:buSzPts val="1000"/>
              <a:buFont typeface="Courier New"/>
              <a:buNone/>
            </a:pPr>
            <a:r>
              <a:rPr b="1" i="0" lang="en-US" sz="1000" u="sng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action="ppaction://hlinksldjump" r:id="rId4"/>
              </a:rPr>
              <a:t>MENU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4"/>
          <p:cNvSpPr/>
          <p:nvPr/>
        </p:nvSpPr>
        <p:spPr>
          <a:xfrm>
            <a:off x="548640" y="1645920"/>
            <a:ext cx="5349240" cy="2286000"/>
          </a:xfrm>
          <a:prstGeom prst="roundRect">
            <a:avLst>
              <a:gd fmla="val 3600" name="adj"/>
            </a:avLst>
          </a:prstGeom>
          <a:solidFill>
            <a:srgbClr val="1E2430"/>
          </a:solidFill>
          <a:ln cap="flat" cmpd="sng" w="15875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4"/>
          <p:cNvSpPr/>
          <p:nvPr/>
        </p:nvSpPr>
        <p:spPr>
          <a:xfrm>
            <a:off x="713232" y="1792224"/>
            <a:ext cx="1234440" cy="274320"/>
          </a:xfrm>
          <a:prstGeom prst="roundRect">
            <a:avLst>
              <a:gd fmla="val 50000" name="adj"/>
            </a:avLst>
          </a:prstGeom>
          <a:solidFill>
            <a:srgbClr val="FF6B6B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4"/>
          <p:cNvSpPr/>
          <p:nvPr/>
        </p:nvSpPr>
        <p:spPr>
          <a:xfrm>
            <a:off x="713232" y="1792224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219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0F1219"/>
                </a:solidFill>
                <a:latin typeface="Courier New"/>
                <a:ea typeface="Courier New"/>
                <a:cs typeface="Courier New"/>
                <a:sym typeface="Courier New"/>
              </a:rPr>
              <a:t>X  BAD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4"/>
          <p:cNvSpPr/>
          <p:nvPr/>
        </p:nvSpPr>
        <p:spPr>
          <a:xfrm>
            <a:off x="749808" y="2176272"/>
            <a:ext cx="4946904" cy="1572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4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  <a:t>d = 86400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4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4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  <a:t>def c(l):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4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sum(l)/len(l)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4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4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  <a:t>tmp2 = c(l1)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4"/>
          <p:cNvSpPr/>
          <p:nvPr/>
        </p:nvSpPr>
        <p:spPr>
          <a:xfrm>
            <a:off x="6263640" y="1645920"/>
            <a:ext cx="5349240" cy="2286000"/>
          </a:xfrm>
          <a:prstGeom prst="roundRect">
            <a:avLst>
              <a:gd fmla="val 3600" name="adj"/>
            </a:avLst>
          </a:prstGeom>
          <a:solidFill>
            <a:srgbClr val="1E2430"/>
          </a:solidFill>
          <a:ln cap="flat" cmpd="sng" w="15875">
            <a:solidFill>
              <a:srgbClr val="3DDC97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4"/>
          <p:cNvSpPr/>
          <p:nvPr/>
        </p:nvSpPr>
        <p:spPr>
          <a:xfrm>
            <a:off x="6428232" y="1792224"/>
            <a:ext cx="1234440" cy="274320"/>
          </a:xfrm>
          <a:prstGeom prst="roundRect">
            <a:avLst>
              <a:gd fmla="val 50000" name="adj"/>
            </a:avLst>
          </a:prstGeom>
          <a:solidFill>
            <a:srgbClr val="3DDC97"/>
          </a:solidFill>
          <a:ln cap="flat" cmpd="sng" w="12700">
            <a:solidFill>
              <a:srgbClr val="3DDC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4"/>
          <p:cNvSpPr/>
          <p:nvPr/>
        </p:nvSpPr>
        <p:spPr>
          <a:xfrm>
            <a:off x="6428232" y="1792224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219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0F1219"/>
                </a:solidFill>
                <a:latin typeface="Courier New"/>
                <a:ea typeface="Courier New"/>
                <a:cs typeface="Courier New"/>
                <a:sym typeface="Courier New"/>
              </a:rPr>
              <a:t>OK  GOOD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4"/>
          <p:cNvSpPr/>
          <p:nvPr/>
        </p:nvSpPr>
        <p:spPr>
          <a:xfrm>
            <a:off x="6464808" y="2176272"/>
            <a:ext cx="4946904" cy="1572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4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  <a:t>SECONDS_PER_DAY = 86400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4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4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  <a:t>def calculate_average(values):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4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sum(values) / len(values)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4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4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  <a:t>average_score = calculate_average(scores)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4"/>
          <p:cNvSpPr/>
          <p:nvPr/>
        </p:nvSpPr>
        <p:spPr>
          <a:xfrm>
            <a:off x="548640" y="4160520"/>
            <a:ext cx="2606040" cy="1143000"/>
          </a:xfrm>
          <a:prstGeom prst="roundRect">
            <a:avLst>
              <a:gd fmla="val 7200" name="adj"/>
            </a:avLst>
          </a:prstGeom>
          <a:solidFill>
            <a:srgbClr val="1E2430"/>
          </a:solidFill>
          <a:ln cap="flat" cmpd="sng" w="12700">
            <a:solidFill>
              <a:srgbClr val="1E24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4"/>
          <p:cNvSpPr/>
          <p:nvPr/>
        </p:nvSpPr>
        <p:spPr>
          <a:xfrm>
            <a:off x="731520" y="429768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C8FF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5CC8FF"/>
                </a:solidFill>
                <a:latin typeface="Courier New"/>
                <a:ea typeface="Courier New"/>
                <a:cs typeface="Courier New"/>
                <a:sym typeface="Courier New"/>
              </a:rPr>
              <a:t>snake_case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4"/>
          <p:cNvSpPr/>
          <p:nvPr/>
        </p:nvSpPr>
        <p:spPr>
          <a:xfrm>
            <a:off x="731520" y="4617720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9A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C99AE"/>
                </a:solidFill>
                <a:latin typeface="Calibri"/>
                <a:ea typeface="Calibri"/>
                <a:cs typeface="Calibri"/>
                <a:sym typeface="Calibri"/>
              </a:rPr>
              <a:t>variables &amp; functions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4"/>
          <p:cNvSpPr/>
          <p:nvPr/>
        </p:nvSpPr>
        <p:spPr>
          <a:xfrm>
            <a:off x="731520" y="489204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C97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3DDC97"/>
                </a:solidFill>
                <a:latin typeface="Courier New"/>
                <a:ea typeface="Courier New"/>
                <a:cs typeface="Courier New"/>
                <a:sym typeface="Courier New"/>
              </a:rPr>
              <a:t>student_count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4"/>
          <p:cNvSpPr/>
          <p:nvPr/>
        </p:nvSpPr>
        <p:spPr>
          <a:xfrm>
            <a:off x="3364992" y="4160520"/>
            <a:ext cx="2606040" cy="1143000"/>
          </a:xfrm>
          <a:prstGeom prst="roundRect">
            <a:avLst>
              <a:gd fmla="val 7200" name="adj"/>
            </a:avLst>
          </a:prstGeom>
          <a:solidFill>
            <a:srgbClr val="1E2430"/>
          </a:solidFill>
          <a:ln cap="flat" cmpd="sng" w="12700">
            <a:solidFill>
              <a:srgbClr val="1E24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4"/>
          <p:cNvSpPr/>
          <p:nvPr/>
        </p:nvSpPr>
        <p:spPr>
          <a:xfrm>
            <a:off x="3547872" y="429768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C8FF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5CC8FF"/>
                </a:solidFill>
                <a:latin typeface="Courier New"/>
                <a:ea typeface="Courier New"/>
                <a:cs typeface="Courier New"/>
                <a:sym typeface="Courier New"/>
              </a:rPr>
              <a:t>UPPER_SNAKE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4"/>
          <p:cNvSpPr/>
          <p:nvPr/>
        </p:nvSpPr>
        <p:spPr>
          <a:xfrm>
            <a:off x="3547872" y="4617720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9A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C99AE"/>
                </a:solidFill>
                <a:latin typeface="Calibri"/>
                <a:ea typeface="Calibri"/>
                <a:cs typeface="Calibri"/>
                <a:sym typeface="Calibri"/>
              </a:rPr>
              <a:t>constants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4"/>
          <p:cNvSpPr/>
          <p:nvPr/>
        </p:nvSpPr>
        <p:spPr>
          <a:xfrm>
            <a:off x="3547872" y="489204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C97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3DDC97"/>
                </a:solidFill>
                <a:latin typeface="Courier New"/>
                <a:ea typeface="Courier New"/>
                <a:cs typeface="Courier New"/>
                <a:sym typeface="Courier New"/>
              </a:rPr>
              <a:t>MAX_RETRIES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4"/>
          <p:cNvSpPr/>
          <p:nvPr/>
        </p:nvSpPr>
        <p:spPr>
          <a:xfrm>
            <a:off x="6181344" y="4160520"/>
            <a:ext cx="2606040" cy="1143000"/>
          </a:xfrm>
          <a:prstGeom prst="roundRect">
            <a:avLst>
              <a:gd fmla="val 7200" name="adj"/>
            </a:avLst>
          </a:prstGeom>
          <a:solidFill>
            <a:srgbClr val="1E2430"/>
          </a:solidFill>
          <a:ln cap="flat" cmpd="sng" w="12700">
            <a:solidFill>
              <a:srgbClr val="1E24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4"/>
          <p:cNvSpPr/>
          <p:nvPr/>
        </p:nvSpPr>
        <p:spPr>
          <a:xfrm>
            <a:off x="6364224" y="429768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C8FF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5CC8FF"/>
                </a:solidFill>
                <a:latin typeface="Courier New"/>
                <a:ea typeface="Courier New"/>
                <a:cs typeface="Courier New"/>
                <a:sym typeface="Courier New"/>
              </a:rPr>
              <a:t>PascalCase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4"/>
          <p:cNvSpPr/>
          <p:nvPr/>
        </p:nvSpPr>
        <p:spPr>
          <a:xfrm>
            <a:off x="6364224" y="4617720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9A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C99AE"/>
                </a:solidFill>
                <a:latin typeface="Calibri"/>
                <a:ea typeface="Calibri"/>
                <a:cs typeface="Calibri"/>
                <a:sym typeface="Calibri"/>
              </a:rPr>
              <a:t>classes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4"/>
          <p:cNvSpPr/>
          <p:nvPr/>
        </p:nvSpPr>
        <p:spPr>
          <a:xfrm>
            <a:off x="6364224" y="489204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C97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3DDC97"/>
                </a:solidFill>
                <a:latin typeface="Courier New"/>
                <a:ea typeface="Courier New"/>
                <a:cs typeface="Courier New"/>
                <a:sym typeface="Courier New"/>
              </a:rPr>
              <a:t>DataLoader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4"/>
          <p:cNvSpPr/>
          <p:nvPr/>
        </p:nvSpPr>
        <p:spPr>
          <a:xfrm>
            <a:off x="8997696" y="4160520"/>
            <a:ext cx="2606040" cy="1143000"/>
          </a:xfrm>
          <a:prstGeom prst="roundRect">
            <a:avLst>
              <a:gd fmla="val 7200" name="adj"/>
            </a:avLst>
          </a:prstGeom>
          <a:solidFill>
            <a:srgbClr val="1E2430"/>
          </a:solidFill>
          <a:ln cap="flat" cmpd="sng" w="12700">
            <a:solidFill>
              <a:srgbClr val="1E24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4"/>
          <p:cNvSpPr/>
          <p:nvPr/>
        </p:nvSpPr>
        <p:spPr>
          <a:xfrm>
            <a:off x="9180576" y="429768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C8FF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5CC8FF"/>
                </a:solidFill>
                <a:latin typeface="Courier New"/>
                <a:ea typeface="Courier New"/>
                <a:cs typeface="Courier New"/>
                <a:sym typeface="Courier New"/>
              </a:rPr>
              <a:t>_underscore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4"/>
          <p:cNvSpPr/>
          <p:nvPr/>
        </p:nvSpPr>
        <p:spPr>
          <a:xfrm>
            <a:off x="9180576" y="4617720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9A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C99AE"/>
                </a:solidFill>
                <a:latin typeface="Calibri"/>
                <a:ea typeface="Calibri"/>
                <a:cs typeface="Calibri"/>
                <a:sym typeface="Calibri"/>
              </a:rPr>
              <a:t>internal use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4"/>
          <p:cNvSpPr/>
          <p:nvPr/>
        </p:nvSpPr>
        <p:spPr>
          <a:xfrm>
            <a:off x="9180576" y="489204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C97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3DDC97"/>
                </a:solidFill>
                <a:latin typeface="Courier New"/>
                <a:ea typeface="Courier New"/>
                <a:cs typeface="Courier New"/>
                <a:sym typeface="Courier New"/>
              </a:rPr>
              <a:t>_cache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4"/>
          <p:cNvSpPr/>
          <p:nvPr/>
        </p:nvSpPr>
        <p:spPr>
          <a:xfrm>
            <a:off x="548640" y="557784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454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FFB454"/>
                </a:solidFill>
                <a:latin typeface="Calibri"/>
                <a:ea typeface="Calibri"/>
                <a:cs typeface="Calibri"/>
                <a:sym typeface="Calibri"/>
              </a:rPr>
              <a:t>If you need a comment to explain what a variable holds — rename the variable instead.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219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5"/>
          <p:cNvSpPr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7626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F37626"/>
                </a:solidFill>
                <a:latin typeface="Courier New"/>
                <a:ea typeface="Courier New"/>
                <a:cs typeface="Courier New"/>
                <a:sym typeface="Courier New"/>
              </a:rPr>
              <a:t>DOCUMENTATION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5"/>
          <p:cNvSpPr/>
          <p:nvPr/>
        </p:nvSpPr>
        <p:spPr>
          <a:xfrm>
            <a:off x="548640" y="658368"/>
            <a:ext cx="102412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2F5FA"/>
                </a:solidFill>
                <a:latin typeface="Arial"/>
                <a:ea typeface="Arial"/>
                <a:cs typeface="Arial"/>
                <a:sym typeface="Arial"/>
              </a:rPr>
              <a:t>Comments vs. Docstrings vs. Self-Documenting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5"/>
          <p:cNvSpPr/>
          <p:nvPr/>
        </p:nvSpPr>
        <p:spPr>
          <a:xfrm>
            <a:off x="548640" y="1325880"/>
            <a:ext cx="10424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9AE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8C99AE"/>
                </a:solidFill>
                <a:latin typeface="Calibri"/>
                <a:ea typeface="Calibri"/>
                <a:cs typeface="Calibri"/>
                <a:sym typeface="Calibri"/>
              </a:rPr>
              <a:t>Reach for the bottom tier first — the best comment is the one you didn't need.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5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6880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5D6880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5">
            <a:hlinkClick action="ppaction://hlinksldjump" r:id="rId3"/>
          </p:cNvPr>
          <p:cNvSpPr/>
          <p:nvPr/>
        </p:nvSpPr>
        <p:spPr>
          <a:xfrm>
            <a:off x="548640" y="635508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880"/>
              </a:buClr>
              <a:buSzPts val="1000"/>
              <a:buFont typeface="Courier New"/>
              <a:buNone/>
            </a:pPr>
            <a:r>
              <a:rPr b="1" i="0" lang="en-US" sz="1000" u="sng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action="ppaction://hlinksldjump" r:id="rId4"/>
              </a:rPr>
              <a:t>MENU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5"/>
          <p:cNvSpPr/>
          <p:nvPr/>
        </p:nvSpPr>
        <p:spPr>
          <a:xfrm>
            <a:off x="2651760" y="1874520"/>
            <a:ext cx="3291840" cy="731520"/>
          </a:xfrm>
          <a:prstGeom prst="roundRect">
            <a:avLst>
              <a:gd fmla="val 11250" name="adj"/>
            </a:avLst>
          </a:prstGeom>
          <a:solidFill>
            <a:srgbClr val="1E2430"/>
          </a:solidFill>
          <a:ln cap="flat" cmpd="sng" w="15875">
            <a:solidFill>
              <a:srgbClr val="FFB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5"/>
          <p:cNvSpPr/>
          <p:nvPr/>
        </p:nvSpPr>
        <p:spPr>
          <a:xfrm>
            <a:off x="2926080" y="1947672"/>
            <a:ext cx="27432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454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FFB454"/>
                </a:solidFill>
                <a:latin typeface="Courier New"/>
                <a:ea typeface="Courier New"/>
                <a:cs typeface="Courier New"/>
                <a:sym typeface="Courier New"/>
              </a:rPr>
              <a:t>3   INLINE COMMENTS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5"/>
          <p:cNvSpPr/>
          <p:nvPr/>
        </p:nvSpPr>
        <p:spPr>
          <a:xfrm>
            <a:off x="2926080" y="225856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9A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8C99AE"/>
                </a:solidFill>
                <a:latin typeface="Calibri"/>
                <a:ea typeface="Calibri"/>
                <a:cs typeface="Calibri"/>
                <a:sym typeface="Calibri"/>
              </a:rPr>
              <a:t>Explain WHY, never WHAT. Rare and deliberate.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5"/>
          <p:cNvSpPr/>
          <p:nvPr/>
        </p:nvSpPr>
        <p:spPr>
          <a:xfrm>
            <a:off x="1600200" y="2743200"/>
            <a:ext cx="5394960" cy="731520"/>
          </a:xfrm>
          <a:prstGeom prst="roundRect">
            <a:avLst>
              <a:gd fmla="val 11250" name="adj"/>
            </a:avLst>
          </a:prstGeom>
          <a:solidFill>
            <a:srgbClr val="1E2430"/>
          </a:solidFill>
          <a:ln cap="flat" cmpd="sng" w="15875">
            <a:solidFill>
              <a:srgbClr val="5C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5"/>
          <p:cNvSpPr/>
          <p:nvPr/>
        </p:nvSpPr>
        <p:spPr>
          <a:xfrm>
            <a:off x="1874520" y="2816352"/>
            <a:ext cx="48463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C8FF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5CC8FF"/>
                </a:solidFill>
                <a:latin typeface="Courier New"/>
                <a:ea typeface="Courier New"/>
                <a:cs typeface="Courier New"/>
                <a:sym typeface="Courier New"/>
              </a:rPr>
              <a:t>2   DOCSTRINGS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5"/>
          <p:cNvSpPr/>
          <p:nvPr/>
        </p:nvSpPr>
        <p:spPr>
          <a:xfrm>
            <a:off x="1874520" y="3127248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9A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8C99AE"/>
                </a:solidFill>
                <a:latin typeface="Calibri"/>
                <a:ea typeface="Calibri"/>
                <a:cs typeface="Calibri"/>
                <a:sym typeface="Calibri"/>
              </a:rPr>
              <a:t>What a function does — written for the caller.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5"/>
          <p:cNvSpPr/>
          <p:nvPr/>
        </p:nvSpPr>
        <p:spPr>
          <a:xfrm>
            <a:off x="548640" y="3611880"/>
            <a:ext cx="7498080" cy="731520"/>
          </a:xfrm>
          <a:prstGeom prst="roundRect">
            <a:avLst>
              <a:gd fmla="val 11250" name="adj"/>
            </a:avLst>
          </a:prstGeom>
          <a:solidFill>
            <a:srgbClr val="1E2430"/>
          </a:solidFill>
          <a:ln cap="flat" cmpd="sng" w="15875">
            <a:solidFill>
              <a:srgbClr val="3DDC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5"/>
          <p:cNvSpPr/>
          <p:nvPr/>
        </p:nvSpPr>
        <p:spPr>
          <a:xfrm>
            <a:off x="822960" y="3685032"/>
            <a:ext cx="69494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C97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3DDC97"/>
                </a:solidFill>
                <a:latin typeface="Courier New"/>
                <a:ea typeface="Courier New"/>
                <a:cs typeface="Courier New"/>
                <a:sym typeface="Courier New"/>
              </a:rPr>
              <a:t>1   SELF-DOCUMENTING CODE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5"/>
          <p:cNvSpPr/>
          <p:nvPr/>
        </p:nvSpPr>
        <p:spPr>
          <a:xfrm>
            <a:off x="822960" y="3995928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9A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8C99AE"/>
                </a:solidFill>
                <a:latin typeface="Calibri"/>
                <a:ea typeface="Calibri"/>
                <a:cs typeface="Calibri"/>
                <a:sym typeface="Calibri"/>
              </a:rPr>
              <a:t>Good names remove the need for explanation.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5"/>
          <p:cNvSpPr/>
          <p:nvPr/>
        </p:nvSpPr>
        <p:spPr>
          <a:xfrm>
            <a:off x="548640" y="4572000"/>
            <a:ext cx="5349240" cy="1417320"/>
          </a:xfrm>
          <a:prstGeom prst="roundRect">
            <a:avLst>
              <a:gd fmla="val 5806" name="adj"/>
            </a:avLst>
          </a:prstGeom>
          <a:solidFill>
            <a:srgbClr val="1E2430"/>
          </a:solidFill>
          <a:ln cap="flat" cmpd="sng" w="15875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5"/>
          <p:cNvSpPr/>
          <p:nvPr/>
        </p:nvSpPr>
        <p:spPr>
          <a:xfrm>
            <a:off x="713232" y="4718304"/>
            <a:ext cx="1234440" cy="274320"/>
          </a:xfrm>
          <a:prstGeom prst="roundRect">
            <a:avLst>
              <a:gd fmla="val 50000" name="adj"/>
            </a:avLst>
          </a:prstGeom>
          <a:solidFill>
            <a:srgbClr val="FF6B6B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5"/>
          <p:cNvSpPr/>
          <p:nvPr/>
        </p:nvSpPr>
        <p:spPr>
          <a:xfrm>
            <a:off x="713232" y="4718304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219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0F1219"/>
                </a:solidFill>
                <a:latin typeface="Courier New"/>
                <a:ea typeface="Courier New"/>
                <a:cs typeface="Courier New"/>
                <a:sym typeface="Courier New"/>
              </a:rPr>
              <a:t>X  WHAT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5"/>
          <p:cNvSpPr/>
          <p:nvPr/>
        </p:nvSpPr>
        <p:spPr>
          <a:xfrm>
            <a:off x="749808" y="5102352"/>
            <a:ext cx="4946904" cy="704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  <a:t># add one to count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  <a:t>count = count + 1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5"/>
          <p:cNvSpPr/>
          <p:nvPr/>
        </p:nvSpPr>
        <p:spPr>
          <a:xfrm>
            <a:off x="6263640" y="4572000"/>
            <a:ext cx="5349240" cy="1417320"/>
          </a:xfrm>
          <a:prstGeom prst="roundRect">
            <a:avLst>
              <a:gd fmla="val 5806" name="adj"/>
            </a:avLst>
          </a:prstGeom>
          <a:solidFill>
            <a:srgbClr val="1E2430"/>
          </a:solidFill>
          <a:ln cap="flat" cmpd="sng" w="15875">
            <a:solidFill>
              <a:srgbClr val="3DDC97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5"/>
          <p:cNvSpPr/>
          <p:nvPr/>
        </p:nvSpPr>
        <p:spPr>
          <a:xfrm>
            <a:off x="6428232" y="4718304"/>
            <a:ext cx="1234440" cy="274320"/>
          </a:xfrm>
          <a:prstGeom prst="roundRect">
            <a:avLst>
              <a:gd fmla="val 50000" name="adj"/>
            </a:avLst>
          </a:prstGeom>
          <a:solidFill>
            <a:srgbClr val="3DDC97"/>
          </a:solidFill>
          <a:ln cap="flat" cmpd="sng" w="12700">
            <a:solidFill>
              <a:srgbClr val="3DDC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5"/>
          <p:cNvSpPr/>
          <p:nvPr/>
        </p:nvSpPr>
        <p:spPr>
          <a:xfrm>
            <a:off x="6428232" y="4718304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219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0F1219"/>
                </a:solidFill>
                <a:latin typeface="Courier New"/>
                <a:ea typeface="Courier New"/>
                <a:cs typeface="Courier New"/>
                <a:sym typeface="Courier New"/>
              </a:rPr>
              <a:t>OK  WHY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5"/>
          <p:cNvSpPr/>
          <p:nvPr/>
        </p:nvSpPr>
        <p:spPr>
          <a:xfrm>
            <a:off x="6464808" y="5102352"/>
            <a:ext cx="4946904" cy="704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  <a:t># API is 1-indexed, offset before send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  <a:t>count = count + 1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5"/>
          <p:cNvSpPr/>
          <p:nvPr/>
        </p:nvSpPr>
        <p:spPr>
          <a:xfrm>
            <a:off x="8412480" y="2103120"/>
            <a:ext cx="32004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FFB454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FFB454"/>
                </a:solidFill>
                <a:latin typeface="Calibri"/>
                <a:ea typeface="Calibri"/>
                <a:cs typeface="Calibri"/>
                <a:sym typeface="Calibri"/>
              </a:rPr>
              <a:t>In a notebook, long explanations belong in a Markdown cell — not a stack of # lines.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219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6"/>
          <p:cNvSpPr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7626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F37626"/>
                </a:solidFill>
                <a:latin typeface="Courier New"/>
                <a:ea typeface="Courier New"/>
                <a:cs typeface="Courier New"/>
                <a:sym typeface="Courier New"/>
              </a:rPr>
              <a:t>STRUCTURE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6"/>
          <p:cNvSpPr/>
          <p:nvPr/>
        </p:nvSpPr>
        <p:spPr>
          <a:xfrm>
            <a:off x="548640" y="658368"/>
            <a:ext cx="102412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2F5FA"/>
                </a:solidFill>
                <a:latin typeface="Arial"/>
                <a:ea typeface="Arial"/>
                <a:cs typeface="Arial"/>
                <a:sym typeface="Arial"/>
              </a:rPr>
              <a:t>Death to the Monster Cell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6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6880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5D6880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6">
            <a:hlinkClick action="ppaction://hlinksldjump" r:id="rId3"/>
          </p:cNvPr>
          <p:cNvSpPr/>
          <p:nvPr/>
        </p:nvSpPr>
        <p:spPr>
          <a:xfrm>
            <a:off x="548640" y="635508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880"/>
              </a:buClr>
              <a:buSzPts val="1000"/>
              <a:buFont typeface="Courier New"/>
              <a:buNone/>
            </a:pPr>
            <a:r>
              <a:rPr b="1" i="0" lang="en-US" sz="1000" u="sng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action="ppaction://hlinksldjump" r:id="rId4"/>
              </a:rPr>
              <a:t>MENU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6"/>
          <p:cNvSpPr/>
          <p:nvPr/>
        </p:nvSpPr>
        <p:spPr>
          <a:xfrm>
            <a:off x="548640" y="1645920"/>
            <a:ext cx="5349240" cy="3566160"/>
          </a:xfrm>
          <a:prstGeom prst="roundRect">
            <a:avLst>
              <a:gd fmla="val 2564" name="adj"/>
            </a:avLst>
          </a:prstGeom>
          <a:solidFill>
            <a:srgbClr val="1E2430"/>
          </a:solidFill>
          <a:ln cap="flat" cmpd="sng" w="15875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6"/>
          <p:cNvSpPr/>
          <p:nvPr/>
        </p:nvSpPr>
        <p:spPr>
          <a:xfrm>
            <a:off x="822960" y="1847088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FF6B6B"/>
                </a:solidFill>
                <a:latin typeface="Courier New"/>
                <a:ea typeface="Courier New"/>
                <a:cs typeface="Courier New"/>
                <a:sym typeface="Courier New"/>
              </a:rPr>
              <a:t>ONE CELL.  80 LINES.  EVERYTHING.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6"/>
          <p:cNvSpPr/>
          <p:nvPr/>
        </p:nvSpPr>
        <p:spPr>
          <a:xfrm>
            <a:off x="822960" y="2286000"/>
            <a:ext cx="4800600" cy="1508760"/>
          </a:xfrm>
          <a:prstGeom prst="roundRect">
            <a:avLst>
              <a:gd fmla="val 4242" name="adj"/>
            </a:avLst>
          </a:prstGeom>
          <a:solidFill>
            <a:srgbClr val="0F1219"/>
          </a:solidFill>
          <a:ln cap="flat" cmpd="sng" w="12700">
            <a:solidFill>
              <a:srgbClr val="262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6"/>
          <p:cNvSpPr/>
          <p:nvPr/>
        </p:nvSpPr>
        <p:spPr>
          <a:xfrm>
            <a:off x="960120" y="2377440"/>
            <a:ext cx="4572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5D6880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5D6880"/>
                </a:solidFill>
                <a:latin typeface="Courier New"/>
                <a:ea typeface="Courier New"/>
                <a:cs typeface="Courier New"/>
                <a:sym typeface="Courier New"/>
              </a:rPr>
              <a:t>import ...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5D6880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5D6880"/>
                </a:solidFill>
                <a:latin typeface="Courier New"/>
                <a:ea typeface="Courier New"/>
                <a:cs typeface="Courier New"/>
                <a:sym typeface="Courier New"/>
              </a:rPr>
              <a:t>df = pd.read_csv(...)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5D6880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5D6880"/>
                </a:solidFill>
                <a:latin typeface="Courier New"/>
                <a:ea typeface="Courier New"/>
                <a:cs typeface="Courier New"/>
                <a:sym typeface="Courier New"/>
              </a:rPr>
              <a:t>df = df.dropna()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5D6880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5D6880"/>
                </a:solidFill>
                <a:latin typeface="Courier New"/>
                <a:ea typeface="Courier New"/>
                <a:cs typeface="Courier New"/>
                <a:sym typeface="Courier New"/>
              </a:rPr>
              <a:t>plt.plot(df.x, df.y)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5D6880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5D6880"/>
                </a:solidFill>
                <a:latin typeface="Courier New"/>
                <a:ea typeface="Courier New"/>
                <a:cs typeface="Courier New"/>
                <a:sym typeface="Courier New"/>
              </a:rPr>
              <a:t>model.fit(X, y)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5D6880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5D6880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6"/>
          <p:cNvSpPr/>
          <p:nvPr/>
        </p:nvSpPr>
        <p:spPr>
          <a:xfrm>
            <a:off x="822960" y="3886200"/>
            <a:ext cx="47548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300"/>
              <a:buFont typeface="Calibri"/>
              <a:buChar char="▪"/>
            </a:pPr>
            <a:r>
              <a:rPr b="0" i="0" lang="en-US" sz="13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One typo means re-running all 80 lines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2F5FA"/>
              </a:buClr>
              <a:buSzPts val="1300"/>
              <a:buFont typeface="Calibri"/>
              <a:buChar char="▪"/>
            </a:pPr>
            <a:r>
              <a:rPr b="0" i="0" lang="en-US" sz="13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Nothing can be tested in isolation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2F5FA"/>
              </a:buClr>
              <a:buSzPts val="1300"/>
              <a:buFont typeface="Calibri"/>
              <a:buChar char="▪"/>
            </a:pPr>
            <a:r>
              <a:rPr b="0" i="0" lang="en-US" sz="13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Impossible to explain step by step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6"/>
          <p:cNvSpPr/>
          <p:nvPr/>
        </p:nvSpPr>
        <p:spPr>
          <a:xfrm>
            <a:off x="6263640" y="1645920"/>
            <a:ext cx="5349240" cy="3566160"/>
          </a:xfrm>
          <a:prstGeom prst="roundRect">
            <a:avLst>
              <a:gd fmla="val 2564" name="adj"/>
            </a:avLst>
          </a:prstGeom>
          <a:solidFill>
            <a:srgbClr val="1E2430"/>
          </a:solidFill>
          <a:ln cap="flat" cmpd="sng" w="15875">
            <a:solidFill>
              <a:srgbClr val="3DDC97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6"/>
          <p:cNvSpPr/>
          <p:nvPr/>
        </p:nvSpPr>
        <p:spPr>
          <a:xfrm>
            <a:off x="6537960" y="1847088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C97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3DDC97"/>
                </a:solidFill>
                <a:latin typeface="Courier New"/>
                <a:ea typeface="Courier New"/>
                <a:cs typeface="Courier New"/>
                <a:sym typeface="Courier New"/>
              </a:rPr>
              <a:t>ONE CELL  =  ONE LOGICAL STEP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6"/>
          <p:cNvSpPr/>
          <p:nvPr/>
        </p:nvSpPr>
        <p:spPr>
          <a:xfrm>
            <a:off x="6537960" y="2286000"/>
            <a:ext cx="4800600" cy="329184"/>
          </a:xfrm>
          <a:prstGeom prst="roundRect">
            <a:avLst>
              <a:gd fmla="val 16667" name="adj"/>
            </a:avLst>
          </a:prstGeom>
          <a:solidFill>
            <a:srgbClr val="0F1219"/>
          </a:solidFill>
          <a:ln cap="flat" cmpd="sng" w="12700">
            <a:solidFill>
              <a:srgbClr val="262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6"/>
          <p:cNvSpPr/>
          <p:nvPr/>
        </p:nvSpPr>
        <p:spPr>
          <a:xfrm>
            <a:off x="6675120" y="2286000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454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FB454"/>
                </a:solidFill>
                <a:latin typeface="Courier New"/>
                <a:ea typeface="Courier New"/>
                <a:cs typeface="Courier New"/>
                <a:sym typeface="Courier New"/>
              </a:rPr>
              <a:t>## 1. Imports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6"/>
          <p:cNvSpPr/>
          <p:nvPr/>
        </p:nvSpPr>
        <p:spPr>
          <a:xfrm>
            <a:off x="9966960" y="2286000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DDC97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3DDC97"/>
                </a:solidFill>
                <a:latin typeface="Courier New"/>
                <a:ea typeface="Courier New"/>
                <a:cs typeface="Courier New"/>
                <a:sym typeface="Courier New"/>
              </a:rPr>
              <a:t>[ code 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6"/>
          <p:cNvSpPr/>
          <p:nvPr/>
        </p:nvSpPr>
        <p:spPr>
          <a:xfrm>
            <a:off x="6537960" y="2688336"/>
            <a:ext cx="4800600" cy="329184"/>
          </a:xfrm>
          <a:prstGeom prst="roundRect">
            <a:avLst>
              <a:gd fmla="val 16667" name="adj"/>
            </a:avLst>
          </a:prstGeom>
          <a:solidFill>
            <a:srgbClr val="0F1219"/>
          </a:solidFill>
          <a:ln cap="flat" cmpd="sng" w="12700">
            <a:solidFill>
              <a:srgbClr val="262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6"/>
          <p:cNvSpPr/>
          <p:nvPr/>
        </p:nvSpPr>
        <p:spPr>
          <a:xfrm>
            <a:off x="6675120" y="2688336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454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FB454"/>
                </a:solidFill>
                <a:latin typeface="Courier New"/>
                <a:ea typeface="Courier New"/>
                <a:cs typeface="Courier New"/>
                <a:sym typeface="Courier New"/>
              </a:rPr>
              <a:t>## 2. Load 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6"/>
          <p:cNvSpPr/>
          <p:nvPr/>
        </p:nvSpPr>
        <p:spPr>
          <a:xfrm>
            <a:off x="9966960" y="2688336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DDC97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3DDC97"/>
                </a:solidFill>
                <a:latin typeface="Courier New"/>
                <a:ea typeface="Courier New"/>
                <a:cs typeface="Courier New"/>
                <a:sym typeface="Courier New"/>
              </a:rPr>
              <a:t>[ code 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6"/>
          <p:cNvSpPr/>
          <p:nvPr/>
        </p:nvSpPr>
        <p:spPr>
          <a:xfrm>
            <a:off x="6537960" y="3090672"/>
            <a:ext cx="4800600" cy="329184"/>
          </a:xfrm>
          <a:prstGeom prst="roundRect">
            <a:avLst>
              <a:gd fmla="val 16667" name="adj"/>
            </a:avLst>
          </a:prstGeom>
          <a:solidFill>
            <a:srgbClr val="0F1219"/>
          </a:solidFill>
          <a:ln cap="flat" cmpd="sng" w="12700">
            <a:solidFill>
              <a:srgbClr val="262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6"/>
          <p:cNvSpPr/>
          <p:nvPr/>
        </p:nvSpPr>
        <p:spPr>
          <a:xfrm>
            <a:off x="6675120" y="3090672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454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FB454"/>
                </a:solidFill>
                <a:latin typeface="Courier New"/>
                <a:ea typeface="Courier New"/>
                <a:cs typeface="Courier New"/>
                <a:sym typeface="Courier New"/>
              </a:rPr>
              <a:t>## 3. Clean 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6"/>
          <p:cNvSpPr/>
          <p:nvPr/>
        </p:nvSpPr>
        <p:spPr>
          <a:xfrm>
            <a:off x="9966960" y="3090672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DDC97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3DDC97"/>
                </a:solidFill>
                <a:latin typeface="Courier New"/>
                <a:ea typeface="Courier New"/>
                <a:cs typeface="Courier New"/>
                <a:sym typeface="Courier New"/>
              </a:rPr>
              <a:t>[ code 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6"/>
          <p:cNvSpPr/>
          <p:nvPr/>
        </p:nvSpPr>
        <p:spPr>
          <a:xfrm>
            <a:off x="6537960" y="3493008"/>
            <a:ext cx="4800600" cy="329184"/>
          </a:xfrm>
          <a:prstGeom prst="roundRect">
            <a:avLst>
              <a:gd fmla="val 16667" name="adj"/>
            </a:avLst>
          </a:prstGeom>
          <a:solidFill>
            <a:srgbClr val="0F1219"/>
          </a:solidFill>
          <a:ln cap="flat" cmpd="sng" w="12700">
            <a:solidFill>
              <a:srgbClr val="262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6"/>
          <p:cNvSpPr/>
          <p:nvPr/>
        </p:nvSpPr>
        <p:spPr>
          <a:xfrm>
            <a:off x="6675120" y="3493008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454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FB454"/>
                </a:solidFill>
                <a:latin typeface="Courier New"/>
                <a:ea typeface="Courier New"/>
                <a:cs typeface="Courier New"/>
                <a:sym typeface="Courier New"/>
              </a:rPr>
              <a:t>## 4. Visualise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6"/>
          <p:cNvSpPr/>
          <p:nvPr/>
        </p:nvSpPr>
        <p:spPr>
          <a:xfrm>
            <a:off x="9966960" y="3493008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DDC97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3DDC97"/>
                </a:solidFill>
                <a:latin typeface="Courier New"/>
                <a:ea typeface="Courier New"/>
                <a:cs typeface="Courier New"/>
                <a:sym typeface="Courier New"/>
              </a:rPr>
              <a:t>[ code 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6"/>
          <p:cNvSpPr/>
          <p:nvPr/>
        </p:nvSpPr>
        <p:spPr>
          <a:xfrm>
            <a:off x="6537960" y="4023360"/>
            <a:ext cx="47548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300"/>
              <a:buFont typeface="Calibri"/>
              <a:buChar char="▪"/>
            </a:pPr>
            <a:r>
              <a:rPr b="0" i="0" lang="en-US" sz="13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If a cell needs scrolling, split 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2F5FA"/>
              </a:buClr>
              <a:buSzPts val="1300"/>
              <a:buFont typeface="Calibri"/>
              <a:buChar char="▪"/>
            </a:pPr>
            <a:r>
              <a:rPr b="0" i="0" lang="en-US" sz="13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Cells you re-run often should be short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2F5FA"/>
              </a:buClr>
              <a:buSzPts val="1300"/>
              <a:buFont typeface="Calibri"/>
              <a:buChar char="▪"/>
            </a:pPr>
            <a:r>
              <a:rPr b="0" i="0" lang="en-US" sz="13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Imports &amp; config: own cell, at the top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6"/>
          <p:cNvSpPr/>
          <p:nvPr/>
        </p:nvSpPr>
        <p:spPr>
          <a:xfrm>
            <a:off x="548640" y="544068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9AE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8C99AE"/>
                </a:solidFill>
                <a:latin typeface="Calibri"/>
                <a:ea typeface="Calibri"/>
                <a:cs typeface="Calibri"/>
                <a:sym typeface="Calibri"/>
              </a:rPr>
              <a:t>Monster cells destroy the one advantage notebooks have over scripts: incremental execution. Aim for 5-15 lines.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6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7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6880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5D6880"/>
                </a:solidFill>
                <a:latin typeface="Courier New"/>
                <a:ea typeface="Courier New"/>
                <a:cs typeface="Courier New"/>
                <a:sym typeface="Courier New"/>
              </a:rPr>
              <a:t>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7">
            <a:hlinkClick action="ppaction://hlinksldjump" r:id="rId3"/>
          </p:cNvPr>
          <p:cNvSpPr/>
          <p:nvPr/>
        </p:nvSpPr>
        <p:spPr>
          <a:xfrm>
            <a:off x="548640" y="635508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880"/>
              </a:buClr>
              <a:buSzPts val="1000"/>
              <a:buFont typeface="Courier New"/>
              <a:buNone/>
            </a:pPr>
            <a:r>
              <a:rPr b="1" i="0" lang="en-US" sz="1000" u="sng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action="ppaction://hlinksldjump" r:id="rId4"/>
              </a:rPr>
              <a:t>MENU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7"/>
          <p:cNvSpPr/>
          <p:nvPr/>
        </p:nvSpPr>
        <p:spPr>
          <a:xfrm>
            <a:off x="548640" y="1371600"/>
            <a:ext cx="365760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E3D"/>
              </a:buClr>
              <a:buSzPts val="15000"/>
              <a:buFont typeface="Arial"/>
              <a:buNone/>
            </a:pPr>
            <a:r>
              <a:rPr b="1" i="0" lang="en-US" sz="15000" u="none" cap="none" strike="noStrike">
                <a:solidFill>
                  <a:srgbClr val="262E3D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7"/>
          <p:cNvSpPr/>
          <p:nvPr/>
        </p:nvSpPr>
        <p:spPr>
          <a:xfrm>
            <a:off x="685800" y="3063240"/>
            <a:ext cx="65836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2F5FA"/>
                </a:solidFill>
                <a:latin typeface="Arial"/>
                <a:ea typeface="Arial"/>
                <a:cs typeface="Arial"/>
                <a:sym typeface="Arial"/>
              </a:rPr>
              <a:t>Markdown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2F5FA"/>
                </a:solidFill>
                <a:latin typeface="Arial"/>
                <a:ea typeface="Arial"/>
                <a:cs typeface="Arial"/>
                <a:sym typeface="Arial"/>
              </a:rPr>
              <a:t>Mastery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7"/>
          <p:cNvSpPr/>
          <p:nvPr/>
        </p:nvSpPr>
        <p:spPr>
          <a:xfrm>
            <a:off x="685800" y="43891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C8FF"/>
              </a:buClr>
              <a:buSzPts val="1700"/>
              <a:buFont typeface="Calibri"/>
              <a:buNone/>
            </a:pPr>
            <a:r>
              <a:rPr b="0" i="1" lang="en-US" sz="1700" u="none" cap="none" strike="noStrike">
                <a:solidFill>
                  <a:srgbClr val="5CC8FF"/>
                </a:solidFill>
                <a:latin typeface="Calibri"/>
                <a:ea typeface="Calibri"/>
                <a:cs typeface="Calibri"/>
                <a:sym typeface="Calibri"/>
              </a:rPr>
              <a:t>Turn a pile of cells into a document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7"/>
          <p:cNvSpPr/>
          <p:nvPr/>
        </p:nvSpPr>
        <p:spPr>
          <a:xfrm>
            <a:off x="7589520" y="1737360"/>
            <a:ext cx="4023360" cy="685800"/>
          </a:xfrm>
          <a:prstGeom prst="roundRect">
            <a:avLst>
              <a:gd fmla="val 12000" name="adj"/>
            </a:avLst>
          </a:prstGeom>
          <a:solidFill>
            <a:srgbClr val="1E2430"/>
          </a:solidFill>
          <a:ln cap="flat" cmpd="sng" w="12700">
            <a:solidFill>
              <a:srgbClr val="1E24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7"/>
          <p:cNvSpPr/>
          <p:nvPr/>
        </p:nvSpPr>
        <p:spPr>
          <a:xfrm>
            <a:off x="7818120" y="1938528"/>
            <a:ext cx="274320" cy="274320"/>
          </a:xfrm>
          <a:prstGeom prst="ellipse">
            <a:avLst/>
          </a:prstGeom>
          <a:solidFill>
            <a:srgbClr val="5CC8FF"/>
          </a:solidFill>
          <a:ln cap="flat" cmpd="sng" w="12700">
            <a:solidFill>
              <a:srgbClr val="5C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7"/>
          <p:cNvSpPr/>
          <p:nvPr/>
        </p:nvSpPr>
        <p:spPr>
          <a:xfrm>
            <a:off x="8229600" y="1737360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Headers as navigation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7"/>
          <p:cNvSpPr/>
          <p:nvPr/>
        </p:nvSpPr>
        <p:spPr>
          <a:xfrm>
            <a:off x="7589520" y="2606040"/>
            <a:ext cx="4023360" cy="685800"/>
          </a:xfrm>
          <a:prstGeom prst="roundRect">
            <a:avLst>
              <a:gd fmla="val 12000" name="adj"/>
            </a:avLst>
          </a:prstGeom>
          <a:solidFill>
            <a:srgbClr val="1E2430"/>
          </a:solidFill>
          <a:ln cap="flat" cmpd="sng" w="12700">
            <a:solidFill>
              <a:srgbClr val="1E24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7"/>
          <p:cNvSpPr/>
          <p:nvPr/>
        </p:nvSpPr>
        <p:spPr>
          <a:xfrm>
            <a:off x="7818120" y="2807208"/>
            <a:ext cx="274320" cy="274320"/>
          </a:xfrm>
          <a:prstGeom prst="ellipse">
            <a:avLst/>
          </a:prstGeom>
          <a:solidFill>
            <a:srgbClr val="5CC8FF"/>
          </a:solidFill>
          <a:ln cap="flat" cmpd="sng" w="12700">
            <a:solidFill>
              <a:srgbClr val="5C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7"/>
          <p:cNvSpPr/>
          <p:nvPr/>
        </p:nvSpPr>
        <p:spPr>
          <a:xfrm>
            <a:off x="8229600" y="2606040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Formatting &amp; callouts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7"/>
          <p:cNvSpPr/>
          <p:nvPr/>
        </p:nvSpPr>
        <p:spPr>
          <a:xfrm>
            <a:off x="7589520" y="3474720"/>
            <a:ext cx="4023360" cy="685800"/>
          </a:xfrm>
          <a:prstGeom prst="roundRect">
            <a:avLst>
              <a:gd fmla="val 12000" name="adj"/>
            </a:avLst>
          </a:prstGeom>
          <a:solidFill>
            <a:srgbClr val="1E2430"/>
          </a:solidFill>
          <a:ln cap="flat" cmpd="sng" w="12700">
            <a:solidFill>
              <a:srgbClr val="1E24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7"/>
          <p:cNvSpPr/>
          <p:nvPr/>
        </p:nvSpPr>
        <p:spPr>
          <a:xfrm>
            <a:off x="7818120" y="3675888"/>
            <a:ext cx="274320" cy="274320"/>
          </a:xfrm>
          <a:prstGeom prst="ellipse">
            <a:avLst/>
          </a:prstGeom>
          <a:solidFill>
            <a:srgbClr val="5CC8FF"/>
          </a:solidFill>
          <a:ln cap="flat" cmpd="sng" w="12700">
            <a:solidFill>
              <a:srgbClr val="5C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7"/>
          <p:cNvSpPr/>
          <p:nvPr/>
        </p:nvSpPr>
        <p:spPr>
          <a:xfrm>
            <a:off x="8229600" y="3474720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Lists and code blocks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7"/>
          <p:cNvSpPr/>
          <p:nvPr/>
        </p:nvSpPr>
        <p:spPr>
          <a:xfrm>
            <a:off x="7589520" y="4343400"/>
            <a:ext cx="4023360" cy="685800"/>
          </a:xfrm>
          <a:prstGeom prst="roundRect">
            <a:avLst>
              <a:gd fmla="val 12000" name="adj"/>
            </a:avLst>
          </a:prstGeom>
          <a:solidFill>
            <a:srgbClr val="1E2430"/>
          </a:solidFill>
          <a:ln cap="flat" cmpd="sng" w="12700">
            <a:solidFill>
              <a:srgbClr val="1E24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7"/>
          <p:cNvSpPr/>
          <p:nvPr/>
        </p:nvSpPr>
        <p:spPr>
          <a:xfrm>
            <a:off x="7818120" y="4544568"/>
            <a:ext cx="274320" cy="274320"/>
          </a:xfrm>
          <a:prstGeom prst="ellipse">
            <a:avLst/>
          </a:prstGeom>
          <a:solidFill>
            <a:srgbClr val="5CC8FF"/>
          </a:solidFill>
          <a:ln cap="flat" cmpd="sng" w="12700">
            <a:solidFill>
              <a:srgbClr val="5C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7"/>
          <p:cNvSpPr/>
          <p:nvPr/>
        </p:nvSpPr>
        <p:spPr>
          <a:xfrm>
            <a:off x="8229600" y="4343400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HTML for real emphasis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219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8"/>
          <p:cNvSpPr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7626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F37626"/>
                </a:solidFill>
                <a:latin typeface="Courier New"/>
                <a:ea typeface="Courier New"/>
                <a:cs typeface="Courier New"/>
                <a:sym typeface="Courier New"/>
              </a:rPr>
              <a:t>HIERARCHY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8"/>
          <p:cNvSpPr/>
          <p:nvPr/>
        </p:nvSpPr>
        <p:spPr>
          <a:xfrm>
            <a:off x="548640" y="658368"/>
            <a:ext cx="102412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2F5FA"/>
                </a:solidFill>
                <a:latin typeface="Arial"/>
                <a:ea typeface="Arial"/>
                <a:cs typeface="Arial"/>
                <a:sym typeface="Arial"/>
              </a:rPr>
              <a:t>Headers Are Navigation, Not Decoration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8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6880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5D6880"/>
                </a:solidFill>
                <a:latin typeface="Courier New"/>
                <a:ea typeface="Courier New"/>
                <a:cs typeface="Courier New"/>
                <a:sym typeface="Courier New"/>
              </a:rPr>
              <a:t>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8">
            <a:hlinkClick action="ppaction://hlinksldjump" r:id="rId3"/>
          </p:cNvPr>
          <p:cNvSpPr/>
          <p:nvPr/>
        </p:nvSpPr>
        <p:spPr>
          <a:xfrm>
            <a:off x="548640" y="635508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880"/>
              </a:buClr>
              <a:buSzPts val="1000"/>
              <a:buFont typeface="Courier New"/>
              <a:buNone/>
            </a:pPr>
            <a:r>
              <a:rPr b="1" i="0" lang="en-US" sz="1000" u="sng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action="ppaction://hlinksldjump" r:id="rId4"/>
              </a:rPr>
              <a:t>MENU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8"/>
          <p:cNvSpPr/>
          <p:nvPr/>
        </p:nvSpPr>
        <p:spPr>
          <a:xfrm>
            <a:off x="548640" y="1691640"/>
            <a:ext cx="6400800" cy="2743200"/>
          </a:xfrm>
          <a:prstGeom prst="roundRect">
            <a:avLst>
              <a:gd fmla="val 3000" name="adj"/>
            </a:avLst>
          </a:prstGeom>
          <a:solidFill>
            <a:srgbClr val="1E2430"/>
          </a:solidFill>
          <a:ln cap="flat" cmpd="sng" w="15875">
            <a:solidFill>
              <a:srgbClr val="F37626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8"/>
          <p:cNvSpPr/>
          <p:nvPr/>
        </p:nvSpPr>
        <p:spPr>
          <a:xfrm>
            <a:off x="713232" y="1837944"/>
            <a:ext cx="1234440" cy="274320"/>
          </a:xfrm>
          <a:prstGeom prst="roundRect">
            <a:avLst>
              <a:gd fmla="val 50000" name="adj"/>
            </a:avLst>
          </a:prstGeom>
          <a:solidFill>
            <a:srgbClr val="F37626"/>
          </a:solidFill>
          <a:ln cap="flat" cmpd="sng" w="12700">
            <a:solidFill>
              <a:srgbClr val="F37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8"/>
          <p:cNvSpPr/>
          <p:nvPr/>
        </p:nvSpPr>
        <p:spPr>
          <a:xfrm>
            <a:off x="713232" y="1837944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219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0F1219"/>
                </a:solidFill>
                <a:latin typeface="Courier New"/>
                <a:ea typeface="Courier New"/>
                <a:cs typeface="Courier New"/>
                <a:sym typeface="Courier New"/>
              </a:rPr>
              <a:t>MARKDOWN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8"/>
          <p:cNvSpPr/>
          <p:nvPr/>
        </p:nvSpPr>
        <p:spPr>
          <a:xfrm>
            <a:off x="749808" y="2221992"/>
            <a:ext cx="5998464" cy="20299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  <a:t># Project Title          &lt;- one per notebook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  <a:t>## 1. Data Loading       &lt;- major sections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  <a:t>### 1.1 Cleaning Steps   &lt;- subsections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  <a:t>#### Edge cases          &lt;- detail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8"/>
          <p:cNvSpPr/>
          <p:nvPr/>
        </p:nvSpPr>
        <p:spPr>
          <a:xfrm>
            <a:off x="7223760" y="1691640"/>
            <a:ext cx="4389120" cy="2743200"/>
          </a:xfrm>
          <a:prstGeom prst="roundRect">
            <a:avLst>
              <a:gd fmla="val 3333" name="adj"/>
            </a:avLst>
          </a:prstGeom>
          <a:solidFill>
            <a:srgbClr val="1E2430"/>
          </a:solidFill>
          <a:ln cap="flat" cmpd="sng" w="15875">
            <a:solidFill>
              <a:srgbClr val="5CC8FF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8"/>
          <p:cNvSpPr/>
          <p:nvPr/>
        </p:nvSpPr>
        <p:spPr>
          <a:xfrm>
            <a:off x="7498080" y="187452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C8FF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5CC8FF"/>
                </a:solidFill>
                <a:latin typeface="Courier New"/>
                <a:ea typeface="Courier New"/>
                <a:cs typeface="Courier New"/>
                <a:sym typeface="Courier New"/>
              </a:rPr>
              <a:t>TABLE OF CONTENTS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8"/>
          <p:cNvSpPr/>
          <p:nvPr/>
        </p:nvSpPr>
        <p:spPr>
          <a:xfrm>
            <a:off x="7498080" y="2286000"/>
            <a:ext cx="3657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Project Title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8"/>
          <p:cNvSpPr/>
          <p:nvPr/>
        </p:nvSpPr>
        <p:spPr>
          <a:xfrm>
            <a:off x="7726680" y="2670048"/>
            <a:ext cx="3657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9A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8C99AE"/>
                </a:solidFill>
                <a:latin typeface="Calibri"/>
                <a:ea typeface="Calibri"/>
                <a:cs typeface="Calibri"/>
                <a:sym typeface="Calibri"/>
              </a:rPr>
              <a:t>1. Data Loading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8"/>
          <p:cNvSpPr/>
          <p:nvPr/>
        </p:nvSpPr>
        <p:spPr>
          <a:xfrm>
            <a:off x="7955280" y="3054096"/>
            <a:ext cx="3657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9A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8C99AE"/>
                </a:solidFill>
                <a:latin typeface="Calibri"/>
                <a:ea typeface="Calibri"/>
                <a:cs typeface="Calibri"/>
                <a:sym typeface="Calibri"/>
              </a:rPr>
              <a:t>1.1 Cleaning Steps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8"/>
          <p:cNvSpPr/>
          <p:nvPr/>
        </p:nvSpPr>
        <p:spPr>
          <a:xfrm>
            <a:off x="8183880" y="3438144"/>
            <a:ext cx="3657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9A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8C99AE"/>
                </a:solidFill>
                <a:latin typeface="Calibri"/>
                <a:ea typeface="Calibri"/>
                <a:cs typeface="Calibri"/>
                <a:sym typeface="Calibri"/>
              </a:rPr>
              <a:t>Edge cases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8"/>
          <p:cNvSpPr/>
          <p:nvPr/>
        </p:nvSpPr>
        <p:spPr>
          <a:xfrm>
            <a:off x="7498080" y="397764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C97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3DDC97"/>
                </a:solidFill>
                <a:latin typeface="Courier New"/>
                <a:ea typeface="Courier New"/>
                <a:cs typeface="Courier New"/>
                <a:sym typeface="Courier New"/>
              </a:rPr>
              <a:t>View &gt; Table of contents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8"/>
          <p:cNvSpPr/>
          <p:nvPr/>
        </p:nvSpPr>
        <p:spPr>
          <a:xfrm>
            <a:off x="548640" y="4709160"/>
            <a:ext cx="3246120" cy="914400"/>
          </a:xfrm>
          <a:prstGeom prst="roundRect">
            <a:avLst>
              <a:gd fmla="val 9000" name="adj"/>
            </a:avLst>
          </a:prstGeom>
          <a:solidFill>
            <a:srgbClr val="262E3D"/>
          </a:solidFill>
          <a:ln cap="flat" cmpd="sng" w="12700">
            <a:solidFill>
              <a:srgbClr val="262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8"/>
          <p:cNvSpPr/>
          <p:nvPr/>
        </p:nvSpPr>
        <p:spPr>
          <a:xfrm>
            <a:off x="777240" y="5029200"/>
            <a:ext cx="237744" cy="237744"/>
          </a:xfrm>
          <a:prstGeom prst="ellipse">
            <a:avLst/>
          </a:prstGeom>
          <a:solidFill>
            <a:srgbClr val="3DDC97"/>
          </a:solidFill>
          <a:ln cap="flat" cmpd="sng" w="12700">
            <a:solidFill>
              <a:srgbClr val="3DDC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8"/>
          <p:cNvSpPr/>
          <p:nvPr/>
        </p:nvSpPr>
        <p:spPr>
          <a:xfrm>
            <a:off x="1143000" y="4709160"/>
            <a:ext cx="2514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Auto-generates clickable navigation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8"/>
          <p:cNvSpPr/>
          <p:nvPr/>
        </p:nvSpPr>
        <p:spPr>
          <a:xfrm>
            <a:off x="4343400" y="4709160"/>
            <a:ext cx="3246120" cy="914400"/>
          </a:xfrm>
          <a:prstGeom prst="roundRect">
            <a:avLst>
              <a:gd fmla="val 9000" name="adj"/>
            </a:avLst>
          </a:prstGeom>
          <a:solidFill>
            <a:srgbClr val="262E3D"/>
          </a:solidFill>
          <a:ln cap="flat" cmpd="sng" w="12700">
            <a:solidFill>
              <a:srgbClr val="262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8"/>
          <p:cNvSpPr/>
          <p:nvPr/>
        </p:nvSpPr>
        <p:spPr>
          <a:xfrm>
            <a:off x="4572000" y="5029200"/>
            <a:ext cx="237744" cy="237744"/>
          </a:xfrm>
          <a:prstGeom prst="ellipse">
            <a:avLst/>
          </a:prstGeom>
          <a:solidFill>
            <a:srgbClr val="FFB454"/>
          </a:solidFill>
          <a:ln cap="flat" cmpd="sng" w="12700">
            <a:solidFill>
              <a:srgbClr val="FFB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8"/>
          <p:cNvSpPr/>
          <p:nvPr/>
        </p:nvSpPr>
        <p:spPr>
          <a:xfrm>
            <a:off x="4937760" y="4709160"/>
            <a:ext cx="2514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Never skip levels — # to ### breaks the outline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8"/>
          <p:cNvSpPr/>
          <p:nvPr/>
        </p:nvSpPr>
        <p:spPr>
          <a:xfrm>
            <a:off x="8138160" y="4709160"/>
            <a:ext cx="3246120" cy="914400"/>
          </a:xfrm>
          <a:prstGeom prst="roundRect">
            <a:avLst>
              <a:gd fmla="val 9000" name="adj"/>
            </a:avLst>
          </a:prstGeom>
          <a:solidFill>
            <a:srgbClr val="262E3D"/>
          </a:solidFill>
          <a:ln cap="flat" cmpd="sng" w="12700">
            <a:solidFill>
              <a:srgbClr val="262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8"/>
          <p:cNvSpPr/>
          <p:nvPr/>
        </p:nvSpPr>
        <p:spPr>
          <a:xfrm>
            <a:off x="8366760" y="5029200"/>
            <a:ext cx="237744" cy="237744"/>
          </a:xfrm>
          <a:prstGeom prst="ellipse">
            <a:avLst/>
          </a:prstGeom>
          <a:solidFill>
            <a:srgbClr val="FF6B6B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8"/>
          <p:cNvSpPr/>
          <p:nvPr/>
        </p:nvSpPr>
        <p:spPr>
          <a:xfrm>
            <a:off x="8732520" y="4709160"/>
            <a:ext cx="2514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The space after # is REQUIRED: #Heading won't render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219"/>
        </a:solid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9"/>
          <p:cNvSpPr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7626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F37626"/>
                </a:solidFill>
                <a:latin typeface="Courier New"/>
                <a:ea typeface="Courier New"/>
                <a:cs typeface="Courier New"/>
                <a:sym typeface="Courier New"/>
              </a:rPr>
              <a:t>TEXT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9"/>
          <p:cNvSpPr/>
          <p:nvPr/>
        </p:nvSpPr>
        <p:spPr>
          <a:xfrm>
            <a:off x="548640" y="658368"/>
            <a:ext cx="102412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2F5FA"/>
                </a:solidFill>
                <a:latin typeface="Arial"/>
                <a:ea typeface="Arial"/>
                <a:cs typeface="Arial"/>
                <a:sym typeface="Arial"/>
              </a:rPr>
              <a:t>Formatting &amp; Callouts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9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6880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5D6880"/>
                </a:solidFill>
                <a:latin typeface="Courier New"/>
                <a:ea typeface="Courier New"/>
                <a:cs typeface="Courier New"/>
                <a:sym typeface="Courier New"/>
              </a:rPr>
              <a:t>17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9">
            <a:hlinkClick action="ppaction://hlinksldjump" r:id="rId3"/>
          </p:cNvPr>
          <p:cNvSpPr/>
          <p:nvPr/>
        </p:nvSpPr>
        <p:spPr>
          <a:xfrm>
            <a:off x="548640" y="635508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880"/>
              </a:buClr>
              <a:buSzPts val="1000"/>
              <a:buFont typeface="Courier New"/>
              <a:buNone/>
            </a:pPr>
            <a:r>
              <a:rPr b="1" i="0" lang="en-US" sz="1000" u="sng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action="ppaction://hlinksldjump" r:id="rId4"/>
              </a:rPr>
              <a:t>MENU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9"/>
          <p:cNvSpPr/>
          <p:nvPr/>
        </p:nvSpPr>
        <p:spPr>
          <a:xfrm>
            <a:off x="548640" y="1691640"/>
            <a:ext cx="5349240" cy="3931920"/>
          </a:xfrm>
          <a:prstGeom prst="roundRect">
            <a:avLst>
              <a:gd fmla="val 2326" name="adj"/>
            </a:avLst>
          </a:prstGeom>
          <a:solidFill>
            <a:srgbClr val="1E2430"/>
          </a:solidFill>
          <a:ln cap="flat" cmpd="sng" w="12700">
            <a:solidFill>
              <a:srgbClr val="1E243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9"/>
          <p:cNvSpPr/>
          <p:nvPr/>
        </p:nvSpPr>
        <p:spPr>
          <a:xfrm>
            <a:off x="822960" y="187452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7626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F37626"/>
                </a:solidFill>
                <a:latin typeface="Courier New"/>
                <a:ea typeface="Courier New"/>
                <a:cs typeface="Courier New"/>
                <a:sym typeface="Courier New"/>
              </a:rPr>
              <a:t>SYNTAX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9"/>
          <p:cNvSpPr/>
          <p:nvPr/>
        </p:nvSpPr>
        <p:spPr>
          <a:xfrm>
            <a:off x="3566160" y="187452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7626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F37626"/>
                </a:solidFill>
                <a:latin typeface="Courier New"/>
                <a:ea typeface="Courier New"/>
                <a:cs typeface="Courier New"/>
                <a:sym typeface="Courier New"/>
              </a:rPr>
              <a:t>RENDERS 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9"/>
          <p:cNvSpPr/>
          <p:nvPr/>
        </p:nvSpPr>
        <p:spPr>
          <a:xfrm>
            <a:off x="822960" y="228600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C8FF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5CC8FF"/>
                </a:solidFill>
                <a:latin typeface="Courier New"/>
                <a:ea typeface="Courier New"/>
                <a:cs typeface="Courier New"/>
                <a:sym typeface="Courier New"/>
              </a:rPr>
              <a:t>**bold**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9"/>
          <p:cNvSpPr/>
          <p:nvPr/>
        </p:nvSpPr>
        <p:spPr>
          <a:xfrm>
            <a:off x="3566160" y="228600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bold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9"/>
          <p:cNvSpPr/>
          <p:nvPr/>
        </p:nvSpPr>
        <p:spPr>
          <a:xfrm>
            <a:off x="822960" y="283464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C8FF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5CC8FF"/>
                </a:solidFill>
                <a:latin typeface="Courier New"/>
                <a:ea typeface="Courier New"/>
                <a:cs typeface="Courier New"/>
                <a:sym typeface="Courier New"/>
              </a:rPr>
              <a:t>*italic*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9"/>
          <p:cNvSpPr/>
          <p:nvPr/>
        </p:nvSpPr>
        <p:spPr>
          <a:xfrm>
            <a:off x="3566160" y="283464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italic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9"/>
          <p:cNvSpPr/>
          <p:nvPr/>
        </p:nvSpPr>
        <p:spPr>
          <a:xfrm>
            <a:off x="822960" y="338328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C8FF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5CC8FF"/>
                </a:solidFill>
                <a:latin typeface="Courier New"/>
                <a:ea typeface="Courier New"/>
                <a:cs typeface="Courier New"/>
                <a:sym typeface="Courier New"/>
              </a:rPr>
              <a:t>***both***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9"/>
          <p:cNvSpPr/>
          <p:nvPr/>
        </p:nvSpPr>
        <p:spPr>
          <a:xfrm>
            <a:off x="3566160" y="338328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400"/>
              <a:buFont typeface="Calibri"/>
              <a:buNone/>
            </a:pPr>
            <a:r>
              <a:rPr b="1" i="1" lang="en-US" sz="14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both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9"/>
          <p:cNvSpPr/>
          <p:nvPr/>
        </p:nvSpPr>
        <p:spPr>
          <a:xfrm>
            <a:off x="822960" y="393192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C8FF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5CC8FF"/>
                </a:solidFill>
                <a:latin typeface="Courier New"/>
                <a:ea typeface="Courier New"/>
                <a:cs typeface="Courier New"/>
                <a:sym typeface="Courier New"/>
              </a:rPr>
              <a:t>~~strike~~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9"/>
          <p:cNvSpPr/>
          <p:nvPr/>
        </p:nvSpPr>
        <p:spPr>
          <a:xfrm>
            <a:off x="3566160" y="393192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400"/>
              <a:buFont typeface="Calibri"/>
              <a:buNone/>
            </a:pPr>
            <a:r>
              <a:rPr b="0" i="0" lang="en-US" sz="1400" u="none" cap="none" strike="sng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strike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9"/>
          <p:cNvSpPr/>
          <p:nvPr/>
        </p:nvSpPr>
        <p:spPr>
          <a:xfrm>
            <a:off x="822960" y="448056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C8FF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5CC8FF"/>
                </a:solidFill>
                <a:latin typeface="Courier New"/>
                <a:ea typeface="Courier New"/>
                <a:cs typeface="Courier New"/>
                <a:sym typeface="Courier New"/>
              </a:rPr>
              <a:t>`inline code`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9"/>
          <p:cNvSpPr/>
          <p:nvPr/>
        </p:nvSpPr>
        <p:spPr>
          <a:xfrm>
            <a:off x="3566160" y="448056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C97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DDC97"/>
                </a:solidFill>
                <a:latin typeface="Courier New"/>
                <a:ea typeface="Courier New"/>
                <a:cs typeface="Courier New"/>
                <a:sym typeface="Courier New"/>
              </a:rPr>
              <a:t>inline code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9"/>
          <p:cNvSpPr/>
          <p:nvPr/>
        </p:nvSpPr>
        <p:spPr>
          <a:xfrm>
            <a:off x="822960" y="502920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C8FF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5CC8FF"/>
                </a:solidFill>
                <a:latin typeface="Courier New"/>
                <a:ea typeface="Courier New"/>
                <a:cs typeface="Courier New"/>
                <a:sym typeface="Courier New"/>
              </a:rPr>
              <a:t>---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9"/>
          <p:cNvSpPr/>
          <p:nvPr/>
        </p:nvSpPr>
        <p:spPr>
          <a:xfrm>
            <a:off x="3566160" y="502920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9A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C99AE"/>
                </a:solidFill>
                <a:latin typeface="Calibri"/>
                <a:ea typeface="Calibri"/>
                <a:cs typeface="Calibri"/>
                <a:sym typeface="Calibri"/>
              </a:rPr>
              <a:t>horizontal rule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9"/>
          <p:cNvSpPr/>
          <p:nvPr/>
        </p:nvSpPr>
        <p:spPr>
          <a:xfrm>
            <a:off x="6263640" y="1737360"/>
            <a:ext cx="5349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9AE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8C99AE"/>
                </a:solidFill>
                <a:latin typeface="Calibri"/>
                <a:ea typeface="Calibri"/>
                <a:cs typeface="Calibri"/>
                <a:sym typeface="Calibri"/>
              </a:rPr>
              <a:t>Blockquotes = the cheapest way to look deliberate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9"/>
          <p:cNvSpPr/>
          <p:nvPr/>
        </p:nvSpPr>
        <p:spPr>
          <a:xfrm>
            <a:off x="6263640" y="2286000"/>
            <a:ext cx="5349240" cy="914400"/>
          </a:xfrm>
          <a:prstGeom prst="roundRect">
            <a:avLst>
              <a:gd fmla="val 9000" name="adj"/>
            </a:avLst>
          </a:prstGeom>
          <a:solidFill>
            <a:srgbClr val="1E2430"/>
          </a:solidFill>
          <a:ln cap="flat" cmpd="sng" w="15875">
            <a:solidFill>
              <a:srgbClr val="5C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9"/>
          <p:cNvSpPr/>
          <p:nvPr/>
        </p:nvSpPr>
        <p:spPr>
          <a:xfrm>
            <a:off x="6537960" y="2286000"/>
            <a:ext cx="4846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  <a:t>&gt; **Note:** dataset has 3% missing values.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9"/>
          <p:cNvSpPr/>
          <p:nvPr/>
        </p:nvSpPr>
        <p:spPr>
          <a:xfrm>
            <a:off x="6263640" y="3429000"/>
            <a:ext cx="5349240" cy="914400"/>
          </a:xfrm>
          <a:prstGeom prst="roundRect">
            <a:avLst>
              <a:gd fmla="val 9000" name="adj"/>
            </a:avLst>
          </a:prstGeom>
          <a:solidFill>
            <a:srgbClr val="1E2430"/>
          </a:solidFill>
          <a:ln cap="flat" cmpd="sng" w="15875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9"/>
          <p:cNvSpPr/>
          <p:nvPr/>
        </p:nvSpPr>
        <p:spPr>
          <a:xfrm>
            <a:off x="6537960" y="3429000"/>
            <a:ext cx="4846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  <a:t>&gt; **Warning:** this cell takes ~10 min on CPU.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9"/>
          <p:cNvSpPr/>
          <p:nvPr/>
        </p:nvSpPr>
        <p:spPr>
          <a:xfrm>
            <a:off x="6263640" y="4572000"/>
            <a:ext cx="5349240" cy="914400"/>
          </a:xfrm>
          <a:prstGeom prst="roundRect">
            <a:avLst>
              <a:gd fmla="val 9000" name="adj"/>
            </a:avLst>
          </a:prstGeom>
          <a:solidFill>
            <a:srgbClr val="1E2430"/>
          </a:solidFill>
          <a:ln cap="flat" cmpd="sng" w="15875">
            <a:solidFill>
              <a:srgbClr val="3DDC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9"/>
          <p:cNvSpPr/>
          <p:nvPr/>
        </p:nvSpPr>
        <p:spPr>
          <a:xfrm>
            <a:off x="6537960" y="4572000"/>
            <a:ext cx="4846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  <a:t>&gt; **Tip:** cache the result to skip re-running.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9"/>
          <p:cNvSpPr/>
          <p:nvPr/>
        </p:nvSpPr>
        <p:spPr>
          <a:xfrm>
            <a:off x="548640" y="585216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88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D6880"/>
                </a:solidFill>
                <a:latin typeface="Calibri"/>
                <a:ea typeface="Calibri"/>
                <a:cs typeface="Calibri"/>
                <a:sym typeface="Calibri"/>
              </a:rPr>
              <a:t>Strikethrough has a real use: show the approach you abandoned without deleting the record of it.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219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20"/>
          <p:cNvSpPr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7626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F37626"/>
                </a:solidFill>
                <a:latin typeface="Courier New"/>
                <a:ea typeface="Courier New"/>
                <a:cs typeface="Courier New"/>
                <a:sym typeface="Courier New"/>
              </a:rPr>
              <a:t>STRUCTURE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0"/>
          <p:cNvSpPr/>
          <p:nvPr/>
        </p:nvSpPr>
        <p:spPr>
          <a:xfrm>
            <a:off x="548640" y="658368"/>
            <a:ext cx="102412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2F5FA"/>
                </a:solidFill>
                <a:latin typeface="Arial"/>
                <a:ea typeface="Arial"/>
                <a:cs typeface="Arial"/>
                <a:sym typeface="Arial"/>
              </a:rPr>
              <a:t>Lists That Hold Their Shape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0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6880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5D6880"/>
                </a:solidFill>
                <a:latin typeface="Courier New"/>
                <a:ea typeface="Courier New"/>
                <a:cs typeface="Courier New"/>
                <a:sym typeface="Courier New"/>
              </a:rPr>
              <a:t>18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0">
            <a:hlinkClick action="ppaction://hlinksldjump" r:id="rId3"/>
          </p:cNvPr>
          <p:cNvSpPr/>
          <p:nvPr/>
        </p:nvSpPr>
        <p:spPr>
          <a:xfrm>
            <a:off x="548640" y="635508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880"/>
              </a:buClr>
              <a:buSzPts val="1000"/>
              <a:buFont typeface="Courier New"/>
              <a:buNone/>
            </a:pPr>
            <a:r>
              <a:rPr b="1" i="0" lang="en-US" sz="1000" u="sng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action="ppaction://hlinksldjump" r:id="rId4"/>
              </a:rPr>
              <a:t>MENU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0"/>
          <p:cNvSpPr/>
          <p:nvPr/>
        </p:nvSpPr>
        <p:spPr>
          <a:xfrm>
            <a:off x="548640" y="1645920"/>
            <a:ext cx="3520440" cy="2286000"/>
          </a:xfrm>
          <a:prstGeom prst="roundRect">
            <a:avLst>
              <a:gd fmla="val 3600" name="adj"/>
            </a:avLst>
          </a:prstGeom>
          <a:solidFill>
            <a:srgbClr val="1E2430"/>
          </a:solidFill>
          <a:ln cap="flat" cmpd="sng" w="15875">
            <a:solidFill>
              <a:srgbClr val="F37626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0"/>
          <p:cNvSpPr/>
          <p:nvPr/>
        </p:nvSpPr>
        <p:spPr>
          <a:xfrm>
            <a:off x="713232" y="1792224"/>
            <a:ext cx="1234440" cy="274320"/>
          </a:xfrm>
          <a:prstGeom prst="roundRect">
            <a:avLst>
              <a:gd fmla="val 50000" name="adj"/>
            </a:avLst>
          </a:prstGeom>
          <a:solidFill>
            <a:srgbClr val="F37626"/>
          </a:solidFill>
          <a:ln cap="flat" cmpd="sng" w="12700">
            <a:solidFill>
              <a:srgbClr val="F37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0"/>
          <p:cNvSpPr/>
          <p:nvPr/>
        </p:nvSpPr>
        <p:spPr>
          <a:xfrm>
            <a:off x="713232" y="1792224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219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0F1219"/>
                </a:solidFill>
                <a:latin typeface="Courier New"/>
                <a:ea typeface="Courier New"/>
                <a:cs typeface="Courier New"/>
                <a:sym typeface="Courier New"/>
              </a:rPr>
              <a:t>LISTS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0"/>
          <p:cNvSpPr/>
          <p:nvPr/>
        </p:nvSpPr>
        <p:spPr>
          <a:xfrm>
            <a:off x="749808" y="2176272"/>
            <a:ext cx="3118104" cy="1572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43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  <a:t>- Bulleted item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43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  <a:t>- Another item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43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  <a:t>  - Nested (2 spaces)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4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43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  <a:t>1. First step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43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  <a:t>2. Second step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0"/>
          <p:cNvSpPr/>
          <p:nvPr/>
        </p:nvSpPr>
        <p:spPr>
          <a:xfrm>
            <a:off x="4297680" y="1645920"/>
            <a:ext cx="3520440" cy="2286000"/>
          </a:xfrm>
          <a:prstGeom prst="roundRect">
            <a:avLst>
              <a:gd fmla="val 3600" name="adj"/>
            </a:avLst>
          </a:prstGeom>
          <a:solidFill>
            <a:srgbClr val="1E2430"/>
          </a:solidFill>
          <a:ln cap="flat" cmpd="sng" w="15875">
            <a:solidFill>
              <a:srgbClr val="3DDC97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20"/>
          <p:cNvSpPr/>
          <p:nvPr/>
        </p:nvSpPr>
        <p:spPr>
          <a:xfrm>
            <a:off x="4462272" y="1792224"/>
            <a:ext cx="1234440" cy="274320"/>
          </a:xfrm>
          <a:prstGeom prst="roundRect">
            <a:avLst>
              <a:gd fmla="val 50000" name="adj"/>
            </a:avLst>
          </a:prstGeom>
          <a:solidFill>
            <a:srgbClr val="3DDC97"/>
          </a:solidFill>
          <a:ln cap="flat" cmpd="sng" w="12700">
            <a:solidFill>
              <a:srgbClr val="3DDC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0"/>
          <p:cNvSpPr/>
          <p:nvPr/>
        </p:nvSpPr>
        <p:spPr>
          <a:xfrm>
            <a:off x="4462272" y="1792224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219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0F1219"/>
                </a:solidFill>
                <a:latin typeface="Courier New"/>
                <a:ea typeface="Courier New"/>
                <a:cs typeface="Courier New"/>
                <a:sym typeface="Courier New"/>
              </a:rPr>
              <a:t>TASKS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0"/>
          <p:cNvSpPr/>
          <p:nvPr/>
        </p:nvSpPr>
        <p:spPr>
          <a:xfrm>
            <a:off x="4498848" y="2176272"/>
            <a:ext cx="3118104" cy="1572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43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  <a:t>- [x] Completed task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43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  <a:t>- [ ] Outstanding task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4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43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  <a:t># doubles as 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43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  <a:t># to-do tracker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43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  <a:t># inside the notebook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0"/>
          <p:cNvSpPr/>
          <p:nvPr/>
        </p:nvSpPr>
        <p:spPr>
          <a:xfrm>
            <a:off x="8092440" y="1645920"/>
            <a:ext cx="3520440" cy="2286000"/>
          </a:xfrm>
          <a:prstGeom prst="roundRect">
            <a:avLst>
              <a:gd fmla="val 4000" name="adj"/>
            </a:avLst>
          </a:prstGeom>
          <a:solidFill>
            <a:srgbClr val="262E3D"/>
          </a:solidFill>
          <a:ln cap="flat" cmpd="sng" w="15875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20"/>
          <p:cNvSpPr/>
          <p:nvPr/>
        </p:nvSpPr>
        <p:spPr>
          <a:xfrm>
            <a:off x="8366760" y="1828800"/>
            <a:ext cx="3017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FF6B6B"/>
                </a:solidFill>
                <a:latin typeface="Courier New"/>
                <a:ea typeface="Courier New"/>
                <a:cs typeface="Courier New"/>
                <a:sym typeface="Courier New"/>
              </a:rPr>
              <a:t>THE #1 BREAKAGE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0"/>
          <p:cNvSpPr/>
          <p:nvPr/>
        </p:nvSpPr>
        <p:spPr>
          <a:xfrm>
            <a:off x="8366760" y="2240280"/>
            <a:ext cx="30175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Inconsistent indentation.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Indent a sub-item by one space instead of two and the whole nesting silently collapses.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0"/>
          <p:cNvSpPr/>
          <p:nvPr/>
        </p:nvSpPr>
        <p:spPr>
          <a:xfrm>
            <a:off x="548640" y="41148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2F5FA"/>
                </a:solidFill>
                <a:latin typeface="Arial"/>
                <a:ea typeface="Arial"/>
                <a:cs typeface="Arial"/>
                <a:sym typeface="Arial"/>
              </a:rPr>
              <a:t>Code inside Markdown — for code you want to SHOW, not run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0"/>
          <p:cNvSpPr/>
          <p:nvPr/>
        </p:nvSpPr>
        <p:spPr>
          <a:xfrm>
            <a:off x="548640" y="4526280"/>
            <a:ext cx="5349240" cy="1463040"/>
          </a:xfrm>
          <a:prstGeom prst="roundRect">
            <a:avLst>
              <a:gd fmla="val 5625" name="adj"/>
            </a:avLst>
          </a:prstGeom>
          <a:solidFill>
            <a:srgbClr val="1E2430"/>
          </a:solidFill>
          <a:ln cap="flat" cmpd="sng" w="15875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20"/>
          <p:cNvSpPr/>
          <p:nvPr/>
        </p:nvSpPr>
        <p:spPr>
          <a:xfrm>
            <a:off x="713232" y="4672584"/>
            <a:ext cx="1234440" cy="274320"/>
          </a:xfrm>
          <a:prstGeom prst="roundRect">
            <a:avLst>
              <a:gd fmla="val 50000" name="adj"/>
            </a:avLst>
          </a:prstGeom>
          <a:solidFill>
            <a:srgbClr val="FF6B6B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20"/>
          <p:cNvSpPr/>
          <p:nvPr/>
        </p:nvSpPr>
        <p:spPr>
          <a:xfrm>
            <a:off x="713232" y="4672584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219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0F1219"/>
                </a:solidFill>
                <a:latin typeface="Courier New"/>
                <a:ea typeface="Courier New"/>
                <a:cs typeface="Courier New"/>
                <a:sym typeface="Courier New"/>
              </a:rPr>
              <a:t>X  BARE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0"/>
          <p:cNvSpPr/>
          <p:nvPr/>
        </p:nvSpPr>
        <p:spPr>
          <a:xfrm>
            <a:off x="749808" y="5056632"/>
            <a:ext cx="4946904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43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  <a:t>```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43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  <a:t>def greet(name): ...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43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  <a:t>```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43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  <a:t>-&gt; flat grey text, no highlighting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0"/>
          <p:cNvSpPr/>
          <p:nvPr/>
        </p:nvSpPr>
        <p:spPr>
          <a:xfrm>
            <a:off x="6263640" y="4526280"/>
            <a:ext cx="5349240" cy="1463040"/>
          </a:xfrm>
          <a:prstGeom prst="roundRect">
            <a:avLst>
              <a:gd fmla="val 5625" name="adj"/>
            </a:avLst>
          </a:prstGeom>
          <a:solidFill>
            <a:srgbClr val="1E2430"/>
          </a:solidFill>
          <a:ln cap="flat" cmpd="sng" w="15875">
            <a:solidFill>
              <a:srgbClr val="3DDC97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20"/>
          <p:cNvSpPr/>
          <p:nvPr/>
        </p:nvSpPr>
        <p:spPr>
          <a:xfrm>
            <a:off x="6428232" y="4672584"/>
            <a:ext cx="1234440" cy="274320"/>
          </a:xfrm>
          <a:prstGeom prst="roundRect">
            <a:avLst>
              <a:gd fmla="val 50000" name="adj"/>
            </a:avLst>
          </a:prstGeom>
          <a:solidFill>
            <a:srgbClr val="3DDC97"/>
          </a:solidFill>
          <a:ln cap="flat" cmpd="sng" w="12700">
            <a:solidFill>
              <a:srgbClr val="3DDC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20"/>
          <p:cNvSpPr/>
          <p:nvPr/>
        </p:nvSpPr>
        <p:spPr>
          <a:xfrm>
            <a:off x="6428232" y="4672584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219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0F1219"/>
                </a:solidFill>
                <a:latin typeface="Courier New"/>
                <a:ea typeface="Courier New"/>
                <a:cs typeface="Courier New"/>
                <a:sym typeface="Courier New"/>
              </a:rPr>
              <a:t>OK  TAGGED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0"/>
          <p:cNvSpPr/>
          <p:nvPr/>
        </p:nvSpPr>
        <p:spPr>
          <a:xfrm>
            <a:off x="6464808" y="5056632"/>
            <a:ext cx="4946904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43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  <a:t>```python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43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  <a:t>def greet(name): ...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43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  <a:t>```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43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  <a:t>-&gt; full syntax highlighting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219"/>
        </a:solidFill>
      </p:bgPr>
    </p:bg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1"/>
          <p:cNvSpPr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7626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F37626"/>
                </a:solidFill>
                <a:latin typeface="Courier New"/>
                <a:ea typeface="Courier New"/>
                <a:cs typeface="Courier New"/>
                <a:sym typeface="Courier New"/>
              </a:rPr>
              <a:t>ADVANCED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1"/>
          <p:cNvSpPr/>
          <p:nvPr/>
        </p:nvSpPr>
        <p:spPr>
          <a:xfrm>
            <a:off x="548640" y="658368"/>
            <a:ext cx="102412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2F5FA"/>
                </a:solidFill>
                <a:latin typeface="Arial"/>
                <a:ea typeface="Arial"/>
                <a:cs typeface="Arial"/>
                <a:sym typeface="Arial"/>
              </a:rPr>
              <a:t>Callout Boxes with Inline HTML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1"/>
          <p:cNvSpPr/>
          <p:nvPr/>
        </p:nvSpPr>
        <p:spPr>
          <a:xfrm>
            <a:off x="548640" y="1325880"/>
            <a:ext cx="10424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9AE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8C99AE"/>
                </a:solidFill>
                <a:latin typeface="Calibri"/>
                <a:ea typeface="Calibri"/>
                <a:cs typeface="Calibri"/>
                <a:sym typeface="Calibri"/>
              </a:rPr>
              <a:t>Markdown cells accept HTML. Use it when a warning must not be skimmed past.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1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6880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5D6880"/>
                </a:solidFill>
                <a:latin typeface="Courier New"/>
                <a:ea typeface="Courier New"/>
                <a:cs typeface="Courier New"/>
                <a:sym typeface="Courier New"/>
              </a:rPr>
              <a:t>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1">
            <a:hlinkClick action="ppaction://hlinksldjump" r:id="rId3"/>
          </p:cNvPr>
          <p:cNvSpPr/>
          <p:nvPr/>
        </p:nvSpPr>
        <p:spPr>
          <a:xfrm>
            <a:off x="548640" y="635508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880"/>
              </a:buClr>
              <a:buSzPts val="1000"/>
              <a:buFont typeface="Courier New"/>
              <a:buNone/>
            </a:pPr>
            <a:r>
              <a:rPr b="1" i="0" lang="en-US" sz="1000" u="sng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action="ppaction://hlinksldjump" r:id="rId4"/>
              </a:rPr>
              <a:t>MENU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1"/>
          <p:cNvSpPr/>
          <p:nvPr/>
        </p:nvSpPr>
        <p:spPr>
          <a:xfrm>
            <a:off x="548640" y="1828800"/>
            <a:ext cx="5760720" cy="2286000"/>
          </a:xfrm>
          <a:prstGeom prst="roundRect">
            <a:avLst>
              <a:gd fmla="val 3600" name="adj"/>
            </a:avLst>
          </a:prstGeom>
          <a:solidFill>
            <a:srgbClr val="1E2430"/>
          </a:solidFill>
          <a:ln cap="flat" cmpd="sng" w="15875">
            <a:solidFill>
              <a:srgbClr val="F37626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21"/>
          <p:cNvSpPr/>
          <p:nvPr/>
        </p:nvSpPr>
        <p:spPr>
          <a:xfrm>
            <a:off x="713232" y="1975104"/>
            <a:ext cx="1234440" cy="274320"/>
          </a:xfrm>
          <a:prstGeom prst="roundRect">
            <a:avLst>
              <a:gd fmla="val 50000" name="adj"/>
            </a:avLst>
          </a:prstGeom>
          <a:solidFill>
            <a:srgbClr val="F37626"/>
          </a:solidFill>
          <a:ln cap="flat" cmpd="sng" w="12700">
            <a:solidFill>
              <a:srgbClr val="F37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21"/>
          <p:cNvSpPr/>
          <p:nvPr/>
        </p:nvSpPr>
        <p:spPr>
          <a:xfrm>
            <a:off x="713232" y="1975104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219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0F1219"/>
                </a:solidFill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1"/>
          <p:cNvSpPr/>
          <p:nvPr/>
        </p:nvSpPr>
        <p:spPr>
          <a:xfrm>
            <a:off x="749808" y="2359152"/>
            <a:ext cx="5358384" cy="1572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  <a:t>&lt;div style="background:#fff3cd;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  <a:t>     border-left:6px solid #ffc107;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  <a:t>     padding:12px; border-radius:4px;"&gt;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  <a:t>&lt;b&gt;Warning:&lt;/b&gt; needs a GPU runtime.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  <a:t>&lt;/div&gt;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1"/>
          <p:cNvSpPr/>
          <p:nvPr/>
        </p:nvSpPr>
        <p:spPr>
          <a:xfrm>
            <a:off x="6675120" y="2194560"/>
            <a:ext cx="4937760" cy="1005840"/>
          </a:xfrm>
          <a:prstGeom prst="roundRect">
            <a:avLst>
              <a:gd fmla="val 5455" name="adj"/>
            </a:avLst>
          </a:prstGeom>
          <a:solidFill>
            <a:srgbClr val="FFF3CD"/>
          </a:solidFill>
          <a:ln cap="flat" cmpd="sng" w="19050">
            <a:solidFill>
              <a:srgbClr val="FFC1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21"/>
          <p:cNvSpPr/>
          <p:nvPr/>
        </p:nvSpPr>
        <p:spPr>
          <a:xfrm>
            <a:off x="6949440" y="2194560"/>
            <a:ext cx="44805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4D0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64D03"/>
                </a:solidFill>
                <a:latin typeface="Calibri"/>
                <a:ea typeface="Calibri"/>
                <a:cs typeface="Calibri"/>
                <a:sym typeface="Calibri"/>
              </a:rPr>
              <a:t>Warning:  this cell requires a GPU runtime.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1"/>
          <p:cNvSpPr/>
          <p:nvPr/>
        </p:nvSpPr>
        <p:spPr>
          <a:xfrm>
            <a:off x="6675120" y="184708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880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5D6880"/>
                </a:solidFill>
                <a:latin typeface="Courier New"/>
                <a:ea typeface="Courier New"/>
                <a:cs typeface="Courier New"/>
                <a:sym typeface="Courier New"/>
              </a:rPr>
              <a:t>RENDERS 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1"/>
          <p:cNvSpPr/>
          <p:nvPr/>
        </p:nvSpPr>
        <p:spPr>
          <a:xfrm>
            <a:off x="6675120" y="3291840"/>
            <a:ext cx="4937760" cy="822960"/>
          </a:xfrm>
          <a:prstGeom prst="roundRect">
            <a:avLst>
              <a:gd fmla="val 10000" name="adj"/>
            </a:avLst>
          </a:prstGeom>
          <a:solidFill>
            <a:srgbClr val="1E2430"/>
          </a:solidFill>
          <a:ln cap="flat" cmpd="sng" w="15875">
            <a:solidFill>
              <a:srgbClr val="5CC8FF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21"/>
          <p:cNvSpPr/>
          <p:nvPr/>
        </p:nvSpPr>
        <p:spPr>
          <a:xfrm>
            <a:off x="6839712" y="3438144"/>
            <a:ext cx="1234440" cy="274320"/>
          </a:xfrm>
          <a:prstGeom prst="roundRect">
            <a:avLst>
              <a:gd fmla="val 50000" name="adj"/>
            </a:avLst>
          </a:prstGeom>
          <a:solidFill>
            <a:srgbClr val="5CC8FF"/>
          </a:solidFill>
          <a:ln cap="flat" cmpd="sng" w="12700">
            <a:solidFill>
              <a:srgbClr val="5C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21"/>
          <p:cNvSpPr/>
          <p:nvPr/>
        </p:nvSpPr>
        <p:spPr>
          <a:xfrm>
            <a:off x="6839712" y="3438144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219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0F1219"/>
                </a:solidFill>
                <a:latin typeface="Courier New"/>
                <a:ea typeface="Courier New"/>
                <a:cs typeface="Courier New"/>
                <a:sym typeface="Courier New"/>
              </a:rPr>
              <a:t>BONUS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1"/>
          <p:cNvSpPr/>
          <p:nvPr/>
        </p:nvSpPr>
        <p:spPr>
          <a:xfrm>
            <a:off x="6876288" y="3822192"/>
            <a:ext cx="4535424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  <a:t>&lt;details&gt;&lt;summary&gt;Expand&lt;/summary&gt;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1"/>
          <p:cNvSpPr/>
          <p:nvPr/>
        </p:nvSpPr>
        <p:spPr>
          <a:xfrm>
            <a:off x="548640" y="4434840"/>
            <a:ext cx="11064240" cy="1280160"/>
          </a:xfrm>
          <a:prstGeom prst="roundRect">
            <a:avLst>
              <a:gd fmla="val 6429" name="adj"/>
            </a:avLst>
          </a:prstGeom>
          <a:solidFill>
            <a:srgbClr val="262E3D"/>
          </a:solidFill>
          <a:ln cap="flat" cmpd="sng" w="15875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21"/>
          <p:cNvSpPr/>
          <p:nvPr/>
        </p:nvSpPr>
        <p:spPr>
          <a:xfrm>
            <a:off x="868680" y="45720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FF6B6B"/>
                </a:solidFill>
                <a:latin typeface="Courier New"/>
                <a:ea typeface="Courier New"/>
                <a:cs typeface="Courier New"/>
                <a:sym typeface="Courier New"/>
              </a:rPr>
              <a:t>Use it sparingly.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1"/>
          <p:cNvSpPr/>
          <p:nvPr/>
        </p:nvSpPr>
        <p:spPr>
          <a:xfrm>
            <a:off x="868680" y="4937760"/>
            <a:ext cx="10424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Some HTML and CSS is stripped when a notebook renders on GitHub — never put load-bearing information only inside a styled div.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219"/>
        </a:solidFill>
      </p:bgPr>
    </p:bg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22"/>
          <p:cNvSpPr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7626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F37626"/>
                </a:solidFill>
                <a:latin typeface="Courier New"/>
                <a:ea typeface="Courier New"/>
                <a:cs typeface="Courier New"/>
                <a:sym typeface="Courier New"/>
              </a:rPr>
              <a:t>THE WHOLE PICTURE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2"/>
          <p:cNvSpPr/>
          <p:nvPr/>
        </p:nvSpPr>
        <p:spPr>
          <a:xfrm>
            <a:off x="548640" y="658368"/>
            <a:ext cx="102412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2F5FA"/>
                </a:solidFill>
                <a:latin typeface="Arial"/>
                <a:ea typeface="Arial"/>
                <a:cs typeface="Arial"/>
                <a:sym typeface="Arial"/>
              </a:rPr>
              <a:t>Same Code. Same Output.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2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6880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5D6880"/>
                </a:solidFill>
                <a:latin typeface="Courier New"/>
                <a:ea typeface="Courier New"/>
                <a:cs typeface="Courier New"/>
                <a:sym typeface="Courier New"/>
              </a:rPr>
              <a:t>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2">
            <a:hlinkClick action="ppaction://hlinksldjump" r:id="rId3"/>
          </p:cNvPr>
          <p:cNvSpPr/>
          <p:nvPr/>
        </p:nvSpPr>
        <p:spPr>
          <a:xfrm>
            <a:off x="548640" y="635508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880"/>
              </a:buClr>
              <a:buSzPts val="1000"/>
              <a:buFont typeface="Courier New"/>
              <a:buNone/>
            </a:pPr>
            <a:r>
              <a:rPr b="1" i="0" lang="en-US" sz="1000" u="sng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action="ppaction://hlinksldjump" r:id="rId4"/>
              </a:rPr>
              <a:t>MENU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2"/>
          <p:cNvSpPr/>
          <p:nvPr/>
        </p:nvSpPr>
        <p:spPr>
          <a:xfrm>
            <a:off x="548640" y="1691640"/>
            <a:ext cx="5349240" cy="3108960"/>
          </a:xfrm>
          <a:prstGeom prst="roundRect">
            <a:avLst>
              <a:gd fmla="val 2941" name="adj"/>
            </a:avLst>
          </a:prstGeom>
          <a:solidFill>
            <a:srgbClr val="1E2430"/>
          </a:solidFill>
          <a:ln cap="flat" cmpd="sng" w="1905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22"/>
          <p:cNvSpPr/>
          <p:nvPr/>
        </p:nvSpPr>
        <p:spPr>
          <a:xfrm>
            <a:off x="822960" y="1901952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6B6B"/>
                </a:solidFill>
                <a:latin typeface="Arial"/>
                <a:ea typeface="Arial"/>
                <a:cs typeface="Arial"/>
                <a:sym typeface="Arial"/>
              </a:rPr>
              <a:t>BEFORE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2"/>
          <p:cNvSpPr/>
          <p:nvPr/>
        </p:nvSpPr>
        <p:spPr>
          <a:xfrm>
            <a:off x="822960" y="2487168"/>
            <a:ext cx="47548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400"/>
              <a:buFont typeface="Calibri"/>
              <a:buChar char="▪"/>
            </a:pPr>
            <a:r>
              <a:rPr b="0" i="0" lang="en-US" sz="14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No headings, no context anywhere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2F5FA"/>
              </a:buClr>
              <a:buSzPts val="1400"/>
              <a:buFont typeface="Calibri"/>
              <a:buChar char="▪"/>
            </a:pPr>
            <a:r>
              <a:rPr b="0" i="0" lang="en-US" sz="14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One 60-line cell doing everything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2F5FA"/>
              </a:buClr>
              <a:buSzPts val="1400"/>
              <a:buFont typeface="Calibri"/>
              <a:buChar char="▪"/>
            </a:pPr>
            <a:r>
              <a:rPr b="0" i="0" lang="en-US" sz="14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df, df2, df_final_final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2F5FA"/>
              </a:buClr>
              <a:buSzPts val="1400"/>
              <a:buFont typeface="Calibri"/>
              <a:buChar char="▪"/>
            </a:pPr>
            <a:r>
              <a:rPr b="0" i="0" lang="en-US" sz="14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Reader spends 20 minutes decoding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2"/>
          <p:cNvSpPr/>
          <p:nvPr/>
        </p:nvSpPr>
        <p:spPr>
          <a:xfrm>
            <a:off x="6263640" y="1691640"/>
            <a:ext cx="5349240" cy="3108960"/>
          </a:xfrm>
          <a:prstGeom prst="roundRect">
            <a:avLst>
              <a:gd fmla="val 2941" name="adj"/>
            </a:avLst>
          </a:prstGeom>
          <a:solidFill>
            <a:srgbClr val="1E2430"/>
          </a:solidFill>
          <a:ln cap="flat" cmpd="sng" w="19050">
            <a:solidFill>
              <a:srgbClr val="3DDC97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22"/>
          <p:cNvSpPr/>
          <p:nvPr/>
        </p:nvSpPr>
        <p:spPr>
          <a:xfrm>
            <a:off x="6537960" y="1901952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C97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DDC97"/>
                </a:solidFill>
                <a:latin typeface="Arial"/>
                <a:ea typeface="Arial"/>
                <a:cs typeface="Arial"/>
                <a:sym typeface="Arial"/>
              </a:rPr>
              <a:t>AFTER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2"/>
          <p:cNvSpPr/>
          <p:nvPr/>
        </p:nvSpPr>
        <p:spPr>
          <a:xfrm>
            <a:off x="6537960" y="2487168"/>
            <a:ext cx="47548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400"/>
              <a:buFont typeface="Calibri"/>
              <a:buChar char="▪"/>
            </a:pPr>
            <a:r>
              <a:rPr b="0" i="0" lang="en-US" sz="14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# title  &gt;  ## steps  &gt;  ### details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2F5FA"/>
              </a:buClr>
              <a:buSzPts val="1400"/>
              <a:buFont typeface="Calibri"/>
              <a:buChar char="▪"/>
            </a:pPr>
            <a:r>
              <a:rPr b="0" i="0" lang="en-US" sz="14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One step per cell, explained above 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2F5FA"/>
              </a:buClr>
              <a:buSzPts val="1400"/>
              <a:buFont typeface="Calibri"/>
              <a:buChar char="▪"/>
            </a:pPr>
            <a:r>
              <a:rPr b="0" i="0" lang="en-US" sz="14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Callouts flag every trap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2F5FA"/>
              </a:buClr>
              <a:buSzPts val="1400"/>
              <a:buFont typeface="Calibri"/>
              <a:buChar char="▪"/>
            </a:pPr>
            <a:r>
              <a:rPr b="0" i="0" lang="en-US" sz="14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Reader spends 2 minutes, understands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2"/>
          <p:cNvSpPr/>
          <p:nvPr/>
        </p:nvSpPr>
        <p:spPr>
          <a:xfrm>
            <a:off x="548640" y="5029200"/>
            <a:ext cx="11064240" cy="914400"/>
          </a:xfrm>
          <a:prstGeom prst="roundRect">
            <a:avLst>
              <a:gd fmla="val 9000" name="adj"/>
            </a:avLst>
          </a:prstGeom>
          <a:solidFill>
            <a:srgbClr val="262E3D"/>
          </a:solidFill>
          <a:ln cap="flat" cmpd="sng" w="15875">
            <a:solidFill>
              <a:srgbClr val="FFB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22"/>
          <p:cNvSpPr/>
          <p:nvPr/>
        </p:nvSpPr>
        <p:spPr>
          <a:xfrm>
            <a:off x="868680" y="5029200"/>
            <a:ext cx="10424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454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FFB454"/>
                </a:solidFill>
                <a:latin typeface="Calibri"/>
                <a:ea typeface="Calibri"/>
                <a:cs typeface="Calibri"/>
                <a:sym typeface="Calibri"/>
              </a:rPr>
              <a:t>Nothing on the right required more programming skill. It required about eight extra minutes of care.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219"/>
        </a:solidFill>
      </p:bgPr>
    </p:bg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23"/>
          <p:cNvSpPr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7626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F37626"/>
                </a:solidFill>
                <a:latin typeface="Courier New"/>
                <a:ea typeface="Courier New"/>
                <a:cs typeface="Courier New"/>
                <a:sym typeface="Courier New"/>
              </a:rPr>
              <a:t>REUSABLE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3"/>
          <p:cNvSpPr/>
          <p:nvPr/>
        </p:nvSpPr>
        <p:spPr>
          <a:xfrm>
            <a:off x="548640" y="658368"/>
            <a:ext cx="102412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2F5FA"/>
                </a:solidFill>
                <a:latin typeface="Arial"/>
                <a:ea typeface="Arial"/>
                <a:cs typeface="Arial"/>
                <a:sym typeface="Arial"/>
              </a:rPr>
              <a:t>The Pro Notebook Template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3"/>
          <p:cNvSpPr/>
          <p:nvPr/>
        </p:nvSpPr>
        <p:spPr>
          <a:xfrm>
            <a:off x="548640" y="1325880"/>
            <a:ext cx="10424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9AE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8C99AE"/>
                </a:solidFill>
                <a:latin typeface="Calibri"/>
                <a:ea typeface="Calibri"/>
                <a:cs typeface="Calibri"/>
                <a:sym typeface="Calibri"/>
              </a:rPr>
              <a:t>Save this as a template notebook in Drive. Copy it for every new project.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3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6880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5D6880"/>
                </a:solidFill>
                <a:latin typeface="Courier New"/>
                <a:ea typeface="Courier New"/>
                <a:cs typeface="Courier New"/>
                <a:sym typeface="Courier New"/>
              </a:rPr>
              <a:t>21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3">
            <a:hlinkClick action="ppaction://hlinksldjump" r:id="rId3"/>
          </p:cNvPr>
          <p:cNvSpPr/>
          <p:nvPr/>
        </p:nvSpPr>
        <p:spPr>
          <a:xfrm>
            <a:off x="548640" y="635508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880"/>
              </a:buClr>
              <a:buSzPts val="1000"/>
              <a:buFont typeface="Courier New"/>
              <a:buNone/>
            </a:pPr>
            <a:r>
              <a:rPr b="1" i="0" lang="en-US" sz="1000" u="sng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action="ppaction://hlinksldjump" r:id="rId4"/>
              </a:rPr>
              <a:t>MENU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3"/>
          <p:cNvSpPr/>
          <p:nvPr/>
        </p:nvSpPr>
        <p:spPr>
          <a:xfrm>
            <a:off x="548640" y="1828800"/>
            <a:ext cx="8412480" cy="566928"/>
          </a:xfrm>
          <a:prstGeom prst="roundRect">
            <a:avLst>
              <a:gd fmla="val 12903" name="adj"/>
            </a:avLst>
          </a:prstGeom>
          <a:solidFill>
            <a:srgbClr val="1E2430"/>
          </a:solidFill>
          <a:ln cap="flat" cmpd="sng" w="12700">
            <a:solidFill>
              <a:srgbClr val="1E24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23"/>
          <p:cNvSpPr/>
          <p:nvPr/>
        </p:nvSpPr>
        <p:spPr>
          <a:xfrm>
            <a:off x="777240" y="1975104"/>
            <a:ext cx="274320" cy="274320"/>
          </a:xfrm>
          <a:prstGeom prst="ellipse">
            <a:avLst/>
          </a:prstGeom>
          <a:solidFill>
            <a:srgbClr val="F37626"/>
          </a:solidFill>
          <a:ln cap="flat" cmpd="sng" w="12700">
            <a:solidFill>
              <a:srgbClr val="F37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23"/>
          <p:cNvSpPr/>
          <p:nvPr/>
        </p:nvSpPr>
        <p:spPr>
          <a:xfrm>
            <a:off x="1234440" y="1828800"/>
            <a:ext cx="2926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7626"/>
              </a:buClr>
              <a:buSzPts val="1350"/>
              <a:buFont typeface="Courier New"/>
              <a:buNone/>
            </a:pPr>
            <a:r>
              <a:rPr b="1" i="0" lang="en-US" sz="1350" u="none" cap="none" strike="noStrike">
                <a:solidFill>
                  <a:srgbClr val="F37626"/>
                </a:solidFill>
                <a:latin typeface="Courier New"/>
                <a:ea typeface="Courier New"/>
                <a:cs typeface="Courier New"/>
                <a:sym typeface="Courier New"/>
              </a:rPr>
              <a:t># Project Title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3"/>
          <p:cNvSpPr/>
          <p:nvPr/>
        </p:nvSpPr>
        <p:spPr>
          <a:xfrm>
            <a:off x="4206240" y="1828800"/>
            <a:ext cx="4572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9A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C99AE"/>
                </a:solidFill>
                <a:latin typeface="Calibri"/>
                <a:ea typeface="Calibri"/>
                <a:cs typeface="Calibri"/>
                <a:sym typeface="Calibri"/>
              </a:rPr>
              <a:t>Markdown — purpose, author, date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3"/>
          <p:cNvSpPr/>
          <p:nvPr/>
        </p:nvSpPr>
        <p:spPr>
          <a:xfrm>
            <a:off x="548640" y="2505456"/>
            <a:ext cx="8412480" cy="566928"/>
          </a:xfrm>
          <a:prstGeom prst="roundRect">
            <a:avLst>
              <a:gd fmla="val 12903" name="adj"/>
            </a:avLst>
          </a:prstGeom>
          <a:solidFill>
            <a:srgbClr val="1E2430"/>
          </a:solidFill>
          <a:ln cap="flat" cmpd="sng" w="12700">
            <a:solidFill>
              <a:srgbClr val="1E24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23"/>
          <p:cNvSpPr/>
          <p:nvPr/>
        </p:nvSpPr>
        <p:spPr>
          <a:xfrm>
            <a:off x="777240" y="2651760"/>
            <a:ext cx="274320" cy="274320"/>
          </a:xfrm>
          <a:prstGeom prst="ellipse">
            <a:avLst/>
          </a:prstGeom>
          <a:solidFill>
            <a:srgbClr val="5CC8FF"/>
          </a:solidFill>
          <a:ln cap="flat" cmpd="sng" w="12700">
            <a:solidFill>
              <a:srgbClr val="5C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23"/>
          <p:cNvSpPr/>
          <p:nvPr/>
        </p:nvSpPr>
        <p:spPr>
          <a:xfrm>
            <a:off x="1234440" y="2505456"/>
            <a:ext cx="2926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C8FF"/>
              </a:buClr>
              <a:buSzPts val="1350"/>
              <a:buFont typeface="Courier New"/>
              <a:buNone/>
            </a:pPr>
            <a:r>
              <a:rPr b="1" i="0" lang="en-US" sz="1350" u="none" cap="none" strike="noStrike">
                <a:solidFill>
                  <a:srgbClr val="5CC8FF"/>
                </a:solidFill>
                <a:latin typeface="Courier New"/>
                <a:ea typeface="Courier New"/>
                <a:cs typeface="Courier New"/>
                <a:sym typeface="Courier New"/>
              </a:rPr>
              <a:t>## 1. Setup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3"/>
          <p:cNvSpPr/>
          <p:nvPr/>
        </p:nvSpPr>
        <p:spPr>
          <a:xfrm>
            <a:off x="4206240" y="2505456"/>
            <a:ext cx="4572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9A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C99AE"/>
                </a:solidFill>
                <a:latin typeface="Calibri"/>
                <a:ea typeface="Calibri"/>
                <a:cs typeface="Calibri"/>
                <a:sym typeface="Calibri"/>
              </a:rPr>
              <a:t>Code — imports and config constants only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3"/>
          <p:cNvSpPr/>
          <p:nvPr/>
        </p:nvSpPr>
        <p:spPr>
          <a:xfrm>
            <a:off x="548640" y="3182112"/>
            <a:ext cx="8412480" cy="566928"/>
          </a:xfrm>
          <a:prstGeom prst="roundRect">
            <a:avLst>
              <a:gd fmla="val 12903" name="adj"/>
            </a:avLst>
          </a:prstGeom>
          <a:solidFill>
            <a:srgbClr val="1E2430"/>
          </a:solidFill>
          <a:ln cap="flat" cmpd="sng" w="12700">
            <a:solidFill>
              <a:srgbClr val="1E24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23"/>
          <p:cNvSpPr/>
          <p:nvPr/>
        </p:nvSpPr>
        <p:spPr>
          <a:xfrm>
            <a:off x="777240" y="3328416"/>
            <a:ext cx="274320" cy="274320"/>
          </a:xfrm>
          <a:prstGeom prst="ellipse">
            <a:avLst/>
          </a:prstGeom>
          <a:solidFill>
            <a:srgbClr val="3DDC97"/>
          </a:solidFill>
          <a:ln cap="flat" cmpd="sng" w="12700">
            <a:solidFill>
              <a:srgbClr val="3DDC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23"/>
          <p:cNvSpPr/>
          <p:nvPr/>
        </p:nvSpPr>
        <p:spPr>
          <a:xfrm>
            <a:off x="1234440" y="3182112"/>
            <a:ext cx="2926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C97"/>
              </a:buClr>
              <a:buSzPts val="1350"/>
              <a:buFont typeface="Courier New"/>
              <a:buNone/>
            </a:pPr>
            <a:r>
              <a:rPr b="1" i="0" lang="en-US" sz="1350" u="none" cap="none" strike="noStrike">
                <a:solidFill>
                  <a:srgbClr val="3DDC97"/>
                </a:solidFill>
                <a:latin typeface="Courier New"/>
                <a:ea typeface="Courier New"/>
                <a:cs typeface="Courier New"/>
                <a:sym typeface="Courier New"/>
              </a:rPr>
              <a:t>## 2. Load Data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3"/>
          <p:cNvSpPr/>
          <p:nvPr/>
        </p:nvSpPr>
        <p:spPr>
          <a:xfrm>
            <a:off x="4206240" y="3182112"/>
            <a:ext cx="4572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9A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C99AE"/>
                </a:solidFill>
                <a:latin typeface="Calibri"/>
                <a:ea typeface="Calibri"/>
                <a:cs typeface="Calibri"/>
                <a:sym typeface="Calibri"/>
              </a:rPr>
              <a:t>Markdown explains the source, then code loads 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3"/>
          <p:cNvSpPr/>
          <p:nvPr/>
        </p:nvSpPr>
        <p:spPr>
          <a:xfrm>
            <a:off x="548640" y="3858768"/>
            <a:ext cx="8412480" cy="566928"/>
          </a:xfrm>
          <a:prstGeom prst="roundRect">
            <a:avLst>
              <a:gd fmla="val 12903" name="adj"/>
            </a:avLst>
          </a:prstGeom>
          <a:solidFill>
            <a:srgbClr val="1E2430"/>
          </a:solidFill>
          <a:ln cap="flat" cmpd="sng" w="12700">
            <a:solidFill>
              <a:srgbClr val="1E24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3"/>
          <p:cNvSpPr/>
          <p:nvPr/>
        </p:nvSpPr>
        <p:spPr>
          <a:xfrm>
            <a:off x="777240" y="4005072"/>
            <a:ext cx="274320" cy="274320"/>
          </a:xfrm>
          <a:prstGeom prst="ellipse">
            <a:avLst/>
          </a:prstGeom>
          <a:solidFill>
            <a:srgbClr val="FFB454"/>
          </a:solidFill>
          <a:ln cap="flat" cmpd="sng" w="12700">
            <a:solidFill>
              <a:srgbClr val="FFB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23"/>
          <p:cNvSpPr/>
          <p:nvPr/>
        </p:nvSpPr>
        <p:spPr>
          <a:xfrm>
            <a:off x="1234440" y="3858768"/>
            <a:ext cx="2926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454"/>
              </a:buClr>
              <a:buSzPts val="1350"/>
              <a:buFont typeface="Courier New"/>
              <a:buNone/>
            </a:pPr>
            <a:r>
              <a:rPr b="1" i="0" lang="en-US" sz="1350" u="none" cap="none" strike="noStrike">
                <a:solidFill>
                  <a:srgbClr val="FFB454"/>
                </a:solidFill>
                <a:latin typeface="Courier New"/>
                <a:ea typeface="Courier New"/>
                <a:cs typeface="Courier New"/>
                <a:sym typeface="Courier New"/>
              </a:rPr>
              <a:t>## 3. Explore / Clean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3"/>
          <p:cNvSpPr/>
          <p:nvPr/>
        </p:nvSpPr>
        <p:spPr>
          <a:xfrm>
            <a:off x="4206240" y="3858768"/>
            <a:ext cx="4572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9A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C99AE"/>
                </a:solidFill>
                <a:latin typeface="Calibri"/>
                <a:ea typeface="Calibri"/>
                <a:cs typeface="Calibri"/>
                <a:sym typeface="Calibri"/>
              </a:rPr>
              <a:t>Markdown &gt; code &gt; output, repeating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3"/>
          <p:cNvSpPr/>
          <p:nvPr/>
        </p:nvSpPr>
        <p:spPr>
          <a:xfrm>
            <a:off x="548640" y="4535424"/>
            <a:ext cx="8412480" cy="566928"/>
          </a:xfrm>
          <a:prstGeom prst="roundRect">
            <a:avLst>
              <a:gd fmla="val 12903" name="adj"/>
            </a:avLst>
          </a:prstGeom>
          <a:solidFill>
            <a:srgbClr val="1E2430"/>
          </a:solidFill>
          <a:ln cap="flat" cmpd="sng" w="12700">
            <a:solidFill>
              <a:srgbClr val="1E24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23"/>
          <p:cNvSpPr/>
          <p:nvPr/>
        </p:nvSpPr>
        <p:spPr>
          <a:xfrm>
            <a:off x="777240" y="4681728"/>
            <a:ext cx="274320" cy="274320"/>
          </a:xfrm>
          <a:prstGeom prst="ellipse">
            <a:avLst/>
          </a:prstGeom>
          <a:solidFill>
            <a:srgbClr val="5CC8FF"/>
          </a:solidFill>
          <a:ln cap="flat" cmpd="sng" w="12700">
            <a:solidFill>
              <a:srgbClr val="5C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23"/>
          <p:cNvSpPr/>
          <p:nvPr/>
        </p:nvSpPr>
        <p:spPr>
          <a:xfrm>
            <a:off x="1234440" y="4535424"/>
            <a:ext cx="2926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C8FF"/>
              </a:buClr>
              <a:buSzPts val="1350"/>
              <a:buFont typeface="Courier New"/>
              <a:buNone/>
            </a:pPr>
            <a:r>
              <a:rPr b="1" i="0" lang="en-US" sz="1350" u="none" cap="none" strike="noStrike">
                <a:solidFill>
                  <a:srgbClr val="5CC8FF"/>
                </a:solidFill>
                <a:latin typeface="Courier New"/>
                <a:ea typeface="Courier New"/>
                <a:cs typeface="Courier New"/>
                <a:sym typeface="Courier New"/>
              </a:rPr>
              <a:t>## 4. Analysis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3"/>
          <p:cNvSpPr/>
          <p:nvPr/>
        </p:nvSpPr>
        <p:spPr>
          <a:xfrm>
            <a:off x="4206240" y="4535424"/>
            <a:ext cx="4572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9A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C99AE"/>
                </a:solidFill>
                <a:latin typeface="Calibri"/>
                <a:ea typeface="Calibri"/>
                <a:cs typeface="Calibri"/>
                <a:sym typeface="Calibri"/>
              </a:rPr>
              <a:t>One question per subsection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3"/>
          <p:cNvSpPr/>
          <p:nvPr/>
        </p:nvSpPr>
        <p:spPr>
          <a:xfrm>
            <a:off x="548640" y="5212080"/>
            <a:ext cx="8412480" cy="566928"/>
          </a:xfrm>
          <a:prstGeom prst="roundRect">
            <a:avLst>
              <a:gd fmla="val 12903" name="adj"/>
            </a:avLst>
          </a:prstGeom>
          <a:solidFill>
            <a:srgbClr val="1E2430"/>
          </a:solidFill>
          <a:ln cap="flat" cmpd="sng" w="12700">
            <a:solidFill>
              <a:srgbClr val="1E24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23"/>
          <p:cNvSpPr/>
          <p:nvPr/>
        </p:nvSpPr>
        <p:spPr>
          <a:xfrm>
            <a:off x="777240" y="5358384"/>
            <a:ext cx="274320" cy="274320"/>
          </a:xfrm>
          <a:prstGeom prst="ellipse">
            <a:avLst/>
          </a:prstGeom>
          <a:solidFill>
            <a:srgbClr val="3DDC97"/>
          </a:solidFill>
          <a:ln cap="flat" cmpd="sng" w="12700">
            <a:solidFill>
              <a:srgbClr val="3DDC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3"/>
          <p:cNvSpPr/>
          <p:nvPr/>
        </p:nvSpPr>
        <p:spPr>
          <a:xfrm>
            <a:off x="1234440" y="5212080"/>
            <a:ext cx="2926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C97"/>
              </a:buClr>
              <a:buSzPts val="1350"/>
              <a:buFont typeface="Courier New"/>
              <a:buNone/>
            </a:pPr>
            <a:r>
              <a:rPr b="1" i="0" lang="en-US" sz="1350" u="none" cap="none" strike="noStrike">
                <a:solidFill>
                  <a:srgbClr val="3DDC97"/>
                </a:solidFill>
                <a:latin typeface="Courier New"/>
                <a:ea typeface="Courier New"/>
                <a:cs typeface="Courier New"/>
                <a:sym typeface="Courier New"/>
              </a:rPr>
              <a:t>## 5. Conclusion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3"/>
          <p:cNvSpPr/>
          <p:nvPr/>
        </p:nvSpPr>
        <p:spPr>
          <a:xfrm>
            <a:off x="4206240" y="5212080"/>
            <a:ext cx="4572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9A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C99AE"/>
                </a:solidFill>
                <a:latin typeface="Calibri"/>
                <a:ea typeface="Calibri"/>
                <a:cs typeface="Calibri"/>
                <a:sym typeface="Calibri"/>
              </a:rPr>
              <a:t>Markdown — findings, limits, next steps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3"/>
          <p:cNvSpPr/>
          <p:nvPr/>
        </p:nvSpPr>
        <p:spPr>
          <a:xfrm>
            <a:off x="9326880" y="1828800"/>
            <a:ext cx="2286000" cy="4023360"/>
          </a:xfrm>
          <a:prstGeom prst="roundRect">
            <a:avLst>
              <a:gd fmla="val 4000" name="adj"/>
            </a:avLst>
          </a:prstGeom>
          <a:solidFill>
            <a:srgbClr val="262E3D"/>
          </a:solidFill>
          <a:ln cap="flat" cmpd="sng" w="15875">
            <a:solidFill>
              <a:srgbClr val="F37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23"/>
          <p:cNvSpPr/>
          <p:nvPr/>
        </p:nvSpPr>
        <p:spPr>
          <a:xfrm>
            <a:off x="9555480" y="20574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7626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F37626"/>
                </a:solidFill>
                <a:latin typeface="Courier New"/>
                <a:ea typeface="Courier New"/>
                <a:cs typeface="Courier New"/>
                <a:sym typeface="Courier New"/>
              </a:rPr>
              <a:t>THE RHYTHM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3"/>
          <p:cNvSpPr/>
          <p:nvPr/>
        </p:nvSpPr>
        <p:spPr>
          <a:xfrm>
            <a:off x="9555480" y="2514600"/>
            <a:ext cx="182880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Markdown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explains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Code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executes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appears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219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24"/>
          <p:cNvSpPr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7626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F37626"/>
                </a:solidFill>
                <a:latin typeface="Courier New"/>
                <a:ea typeface="Courier New"/>
                <a:cs typeface="Courier New"/>
                <a:sym typeface="Courier New"/>
              </a:rPr>
              <a:t>BEFORE YOU SHARE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4"/>
          <p:cNvSpPr/>
          <p:nvPr/>
        </p:nvSpPr>
        <p:spPr>
          <a:xfrm>
            <a:off x="548640" y="658368"/>
            <a:ext cx="102412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2F5FA"/>
                </a:solidFill>
                <a:latin typeface="Arial"/>
                <a:ea typeface="Arial"/>
                <a:cs typeface="Arial"/>
                <a:sym typeface="Arial"/>
              </a:rPr>
              <a:t>Pre-Flight Checklist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4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6880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5D6880"/>
                </a:solidFill>
                <a:latin typeface="Courier New"/>
                <a:ea typeface="Courier New"/>
                <a:cs typeface="Courier New"/>
                <a:sym typeface="Courier New"/>
              </a:rPr>
              <a:t>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4">
            <a:hlinkClick action="ppaction://hlinksldjump" r:id="rId3"/>
          </p:cNvPr>
          <p:cNvSpPr/>
          <p:nvPr/>
        </p:nvSpPr>
        <p:spPr>
          <a:xfrm>
            <a:off x="548640" y="635508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880"/>
              </a:buClr>
              <a:buSzPts val="1000"/>
              <a:buFont typeface="Courier New"/>
              <a:buNone/>
            </a:pPr>
            <a:r>
              <a:rPr b="1" i="0" lang="en-US" sz="1000" u="sng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action="ppaction://hlinksldjump" r:id="rId4"/>
              </a:rPr>
              <a:t>MENU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4"/>
          <p:cNvSpPr/>
          <p:nvPr/>
        </p:nvSpPr>
        <p:spPr>
          <a:xfrm>
            <a:off x="548640" y="1737360"/>
            <a:ext cx="5349240" cy="640080"/>
          </a:xfrm>
          <a:prstGeom prst="roundRect">
            <a:avLst>
              <a:gd fmla="val 11429" name="adj"/>
            </a:avLst>
          </a:prstGeom>
          <a:solidFill>
            <a:srgbClr val="262E3D"/>
          </a:solidFill>
          <a:ln cap="flat" cmpd="sng" w="15875">
            <a:solidFill>
              <a:srgbClr val="3DDC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4"/>
          <p:cNvSpPr/>
          <p:nvPr/>
        </p:nvSpPr>
        <p:spPr>
          <a:xfrm>
            <a:off x="777240" y="1883664"/>
            <a:ext cx="347472" cy="347472"/>
          </a:xfrm>
          <a:prstGeom prst="roundRect">
            <a:avLst>
              <a:gd fmla="val 15789" name="adj"/>
            </a:avLst>
          </a:prstGeom>
          <a:solidFill>
            <a:srgbClr val="0F1219"/>
          </a:solidFill>
          <a:ln cap="flat" cmpd="sng" w="15875">
            <a:solidFill>
              <a:srgbClr val="3DDC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4"/>
          <p:cNvSpPr/>
          <p:nvPr/>
        </p:nvSpPr>
        <p:spPr>
          <a:xfrm>
            <a:off x="1280160" y="1737360"/>
            <a:ext cx="4480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Runtime &gt; Restart and run all — it passes cleanly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4"/>
          <p:cNvSpPr/>
          <p:nvPr/>
        </p:nvSpPr>
        <p:spPr>
          <a:xfrm>
            <a:off x="6263640" y="1737360"/>
            <a:ext cx="5349240" cy="640080"/>
          </a:xfrm>
          <a:prstGeom prst="roundRect">
            <a:avLst>
              <a:gd fmla="val 11429" name="adj"/>
            </a:avLst>
          </a:prstGeom>
          <a:solidFill>
            <a:srgbClr val="1E2430"/>
          </a:solidFill>
          <a:ln cap="flat" cmpd="sng" w="12700">
            <a:solidFill>
              <a:srgbClr val="1E24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24"/>
          <p:cNvSpPr/>
          <p:nvPr/>
        </p:nvSpPr>
        <p:spPr>
          <a:xfrm>
            <a:off x="6492240" y="1883664"/>
            <a:ext cx="347472" cy="347472"/>
          </a:xfrm>
          <a:prstGeom prst="roundRect">
            <a:avLst>
              <a:gd fmla="val 15789" name="adj"/>
            </a:avLst>
          </a:prstGeom>
          <a:solidFill>
            <a:srgbClr val="0F1219"/>
          </a:solidFill>
          <a:ln cap="flat" cmpd="sng" w="15875">
            <a:solidFill>
              <a:srgbClr val="5D68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24"/>
          <p:cNvSpPr/>
          <p:nvPr/>
        </p:nvSpPr>
        <p:spPr>
          <a:xfrm>
            <a:off x="6995160" y="1737360"/>
            <a:ext cx="4480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Every section has a heading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4"/>
          <p:cNvSpPr/>
          <p:nvPr/>
        </p:nvSpPr>
        <p:spPr>
          <a:xfrm>
            <a:off x="548640" y="2514600"/>
            <a:ext cx="5349240" cy="640080"/>
          </a:xfrm>
          <a:prstGeom prst="roundRect">
            <a:avLst>
              <a:gd fmla="val 11429" name="adj"/>
            </a:avLst>
          </a:prstGeom>
          <a:solidFill>
            <a:srgbClr val="1E2430"/>
          </a:solidFill>
          <a:ln cap="flat" cmpd="sng" w="12700">
            <a:solidFill>
              <a:srgbClr val="1E24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24"/>
          <p:cNvSpPr/>
          <p:nvPr/>
        </p:nvSpPr>
        <p:spPr>
          <a:xfrm>
            <a:off x="777240" y="2660904"/>
            <a:ext cx="347472" cy="347472"/>
          </a:xfrm>
          <a:prstGeom prst="roundRect">
            <a:avLst>
              <a:gd fmla="val 15789" name="adj"/>
            </a:avLst>
          </a:prstGeom>
          <a:solidFill>
            <a:srgbClr val="0F1219"/>
          </a:solidFill>
          <a:ln cap="flat" cmpd="sng" w="15875">
            <a:solidFill>
              <a:srgbClr val="5D68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24"/>
          <p:cNvSpPr/>
          <p:nvPr/>
        </p:nvSpPr>
        <p:spPr>
          <a:xfrm>
            <a:off x="1280160" y="2514600"/>
            <a:ext cx="4480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No cell longer than one screen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4"/>
          <p:cNvSpPr/>
          <p:nvPr/>
        </p:nvSpPr>
        <p:spPr>
          <a:xfrm>
            <a:off x="6263640" y="2514600"/>
            <a:ext cx="5349240" cy="640080"/>
          </a:xfrm>
          <a:prstGeom prst="roundRect">
            <a:avLst>
              <a:gd fmla="val 11429" name="adj"/>
            </a:avLst>
          </a:prstGeom>
          <a:solidFill>
            <a:srgbClr val="1E2430"/>
          </a:solidFill>
          <a:ln cap="flat" cmpd="sng" w="12700">
            <a:solidFill>
              <a:srgbClr val="1E24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24"/>
          <p:cNvSpPr/>
          <p:nvPr/>
        </p:nvSpPr>
        <p:spPr>
          <a:xfrm>
            <a:off x="6492240" y="2660904"/>
            <a:ext cx="347472" cy="347472"/>
          </a:xfrm>
          <a:prstGeom prst="roundRect">
            <a:avLst>
              <a:gd fmla="val 15789" name="adj"/>
            </a:avLst>
          </a:prstGeom>
          <a:solidFill>
            <a:srgbClr val="0F1219"/>
          </a:solidFill>
          <a:ln cap="flat" cmpd="sng" w="15875">
            <a:solidFill>
              <a:srgbClr val="5D68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24"/>
          <p:cNvSpPr/>
          <p:nvPr/>
        </p:nvSpPr>
        <p:spPr>
          <a:xfrm>
            <a:off x="6995160" y="2514600"/>
            <a:ext cx="4480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No single-letter names outside loops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4"/>
          <p:cNvSpPr/>
          <p:nvPr/>
        </p:nvSpPr>
        <p:spPr>
          <a:xfrm>
            <a:off x="548640" y="3291840"/>
            <a:ext cx="5349240" cy="640080"/>
          </a:xfrm>
          <a:prstGeom prst="roundRect">
            <a:avLst>
              <a:gd fmla="val 11429" name="adj"/>
            </a:avLst>
          </a:prstGeom>
          <a:solidFill>
            <a:srgbClr val="1E2430"/>
          </a:solidFill>
          <a:ln cap="flat" cmpd="sng" w="12700">
            <a:solidFill>
              <a:srgbClr val="1E24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24"/>
          <p:cNvSpPr/>
          <p:nvPr/>
        </p:nvSpPr>
        <p:spPr>
          <a:xfrm>
            <a:off x="777240" y="3438144"/>
            <a:ext cx="347472" cy="347472"/>
          </a:xfrm>
          <a:prstGeom prst="roundRect">
            <a:avLst>
              <a:gd fmla="val 15789" name="adj"/>
            </a:avLst>
          </a:prstGeom>
          <a:solidFill>
            <a:srgbClr val="0F1219"/>
          </a:solidFill>
          <a:ln cap="flat" cmpd="sng" w="15875">
            <a:solidFill>
              <a:srgbClr val="5D68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24"/>
          <p:cNvSpPr/>
          <p:nvPr/>
        </p:nvSpPr>
        <p:spPr>
          <a:xfrm>
            <a:off x="1280160" y="3291840"/>
            <a:ext cx="4480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Comments explain WHY, not WHAT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4"/>
          <p:cNvSpPr/>
          <p:nvPr/>
        </p:nvSpPr>
        <p:spPr>
          <a:xfrm>
            <a:off x="6263640" y="3291840"/>
            <a:ext cx="5349240" cy="640080"/>
          </a:xfrm>
          <a:prstGeom prst="roundRect">
            <a:avLst>
              <a:gd fmla="val 11429" name="adj"/>
            </a:avLst>
          </a:prstGeom>
          <a:solidFill>
            <a:srgbClr val="1E2430"/>
          </a:solidFill>
          <a:ln cap="flat" cmpd="sng" w="12700">
            <a:solidFill>
              <a:srgbClr val="1E24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24"/>
          <p:cNvSpPr/>
          <p:nvPr/>
        </p:nvSpPr>
        <p:spPr>
          <a:xfrm>
            <a:off x="6492240" y="3438144"/>
            <a:ext cx="347472" cy="347472"/>
          </a:xfrm>
          <a:prstGeom prst="roundRect">
            <a:avLst>
              <a:gd fmla="val 15789" name="adj"/>
            </a:avLst>
          </a:prstGeom>
          <a:solidFill>
            <a:srgbClr val="0F1219"/>
          </a:solidFill>
          <a:ln cap="flat" cmpd="sng" w="15875">
            <a:solidFill>
              <a:srgbClr val="5D68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24"/>
          <p:cNvSpPr/>
          <p:nvPr/>
        </p:nvSpPr>
        <p:spPr>
          <a:xfrm>
            <a:off x="6995160" y="3291840"/>
            <a:ext cx="4480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Dead cells and abandoned experiments deleted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4"/>
          <p:cNvSpPr/>
          <p:nvPr/>
        </p:nvSpPr>
        <p:spPr>
          <a:xfrm>
            <a:off x="548640" y="4069080"/>
            <a:ext cx="5349240" cy="640080"/>
          </a:xfrm>
          <a:prstGeom prst="roundRect">
            <a:avLst>
              <a:gd fmla="val 11429" name="adj"/>
            </a:avLst>
          </a:prstGeom>
          <a:solidFill>
            <a:srgbClr val="1E2430"/>
          </a:solidFill>
          <a:ln cap="flat" cmpd="sng" w="12700">
            <a:solidFill>
              <a:srgbClr val="1E24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24"/>
          <p:cNvSpPr/>
          <p:nvPr/>
        </p:nvSpPr>
        <p:spPr>
          <a:xfrm>
            <a:off x="777240" y="4215384"/>
            <a:ext cx="347472" cy="347472"/>
          </a:xfrm>
          <a:prstGeom prst="roundRect">
            <a:avLst>
              <a:gd fmla="val 15789" name="adj"/>
            </a:avLst>
          </a:prstGeom>
          <a:solidFill>
            <a:srgbClr val="0F1219"/>
          </a:solidFill>
          <a:ln cap="flat" cmpd="sng" w="15875">
            <a:solidFill>
              <a:srgbClr val="5D68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24"/>
          <p:cNvSpPr/>
          <p:nvPr/>
        </p:nvSpPr>
        <p:spPr>
          <a:xfrm>
            <a:off x="1280160" y="4069080"/>
            <a:ext cx="4480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File paths work for someone who isn't you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4"/>
          <p:cNvSpPr/>
          <p:nvPr/>
        </p:nvSpPr>
        <p:spPr>
          <a:xfrm>
            <a:off x="6263640" y="4069080"/>
            <a:ext cx="5349240" cy="640080"/>
          </a:xfrm>
          <a:prstGeom prst="roundRect">
            <a:avLst>
              <a:gd fmla="val 11429" name="adj"/>
            </a:avLst>
          </a:prstGeom>
          <a:solidFill>
            <a:srgbClr val="1E2430"/>
          </a:solidFill>
          <a:ln cap="flat" cmpd="sng" w="12700">
            <a:solidFill>
              <a:srgbClr val="1E24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24"/>
          <p:cNvSpPr/>
          <p:nvPr/>
        </p:nvSpPr>
        <p:spPr>
          <a:xfrm>
            <a:off x="6492240" y="4215384"/>
            <a:ext cx="347472" cy="347472"/>
          </a:xfrm>
          <a:prstGeom prst="roundRect">
            <a:avLst>
              <a:gd fmla="val 15789" name="adj"/>
            </a:avLst>
          </a:prstGeom>
          <a:solidFill>
            <a:srgbClr val="0F1219"/>
          </a:solidFill>
          <a:ln cap="flat" cmpd="sng" w="15875">
            <a:solidFill>
              <a:srgbClr val="5D68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24"/>
          <p:cNvSpPr/>
          <p:nvPr/>
        </p:nvSpPr>
        <p:spPr>
          <a:xfrm>
            <a:off x="6995160" y="4069080"/>
            <a:ext cx="4480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Share permissions set intentionally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4"/>
          <p:cNvSpPr/>
          <p:nvPr/>
        </p:nvSpPr>
        <p:spPr>
          <a:xfrm>
            <a:off x="548640" y="4846320"/>
            <a:ext cx="5349240" cy="640080"/>
          </a:xfrm>
          <a:prstGeom prst="roundRect">
            <a:avLst>
              <a:gd fmla="val 11429" name="adj"/>
            </a:avLst>
          </a:prstGeom>
          <a:solidFill>
            <a:srgbClr val="1E2430"/>
          </a:solidFill>
          <a:ln cap="flat" cmpd="sng" w="12700">
            <a:solidFill>
              <a:srgbClr val="1E24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24"/>
          <p:cNvSpPr/>
          <p:nvPr/>
        </p:nvSpPr>
        <p:spPr>
          <a:xfrm>
            <a:off x="777240" y="4992624"/>
            <a:ext cx="347472" cy="347472"/>
          </a:xfrm>
          <a:prstGeom prst="roundRect">
            <a:avLst>
              <a:gd fmla="val 15789" name="adj"/>
            </a:avLst>
          </a:prstGeom>
          <a:solidFill>
            <a:srgbClr val="0F1219"/>
          </a:solidFill>
          <a:ln cap="flat" cmpd="sng" w="15875">
            <a:solidFill>
              <a:srgbClr val="5D68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24"/>
          <p:cNvSpPr/>
          <p:nvPr/>
        </p:nvSpPr>
        <p:spPr>
          <a:xfrm>
            <a:off x="1280160" y="4846320"/>
            <a:ext cx="4480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Real filename — not Untitled3.ipynb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4"/>
          <p:cNvSpPr/>
          <p:nvPr/>
        </p:nvSpPr>
        <p:spPr>
          <a:xfrm>
            <a:off x="548640" y="589788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454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FFB454"/>
                </a:solidFill>
                <a:latin typeface="Calibri"/>
                <a:ea typeface="Calibri"/>
                <a:cs typeface="Calibri"/>
                <a:sym typeface="Calibri"/>
              </a:rPr>
              <a:t>If you adopt one thing tonight, make it the first line. Restart-and-run-all catches more problems than every other check combined.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25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6880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5D6880"/>
                </a:solidFill>
                <a:latin typeface="Courier New"/>
                <a:ea typeface="Courier New"/>
                <a:cs typeface="Courier New"/>
                <a:sym typeface="Courier New"/>
              </a:rPr>
              <a:t>23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5">
            <a:hlinkClick action="ppaction://hlinksldjump" r:id="rId3"/>
          </p:cNvPr>
          <p:cNvSpPr/>
          <p:nvPr/>
        </p:nvSpPr>
        <p:spPr>
          <a:xfrm>
            <a:off x="548640" y="635508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880"/>
              </a:buClr>
              <a:buSzPts val="1000"/>
              <a:buFont typeface="Courier New"/>
              <a:buNone/>
            </a:pPr>
            <a:r>
              <a:rPr b="1" i="0" lang="en-US" sz="1000" u="sng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action="ppaction://hlinksldjump" r:id="rId4"/>
              </a:rPr>
              <a:t>MENU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5"/>
          <p:cNvSpPr/>
          <p:nvPr/>
        </p:nvSpPr>
        <p:spPr>
          <a:xfrm>
            <a:off x="548640" y="457200"/>
            <a:ext cx="2377440" cy="457200"/>
          </a:xfrm>
          <a:prstGeom prst="roundRect">
            <a:avLst>
              <a:gd fmla="val 50000" name="adj"/>
            </a:avLst>
          </a:prstGeom>
          <a:solidFill>
            <a:srgbClr val="F37626"/>
          </a:solidFill>
          <a:ln cap="flat" cmpd="sng" w="12700">
            <a:solidFill>
              <a:srgbClr val="F37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25"/>
          <p:cNvSpPr/>
          <p:nvPr/>
        </p:nvSpPr>
        <p:spPr>
          <a:xfrm>
            <a:off x="548640" y="45720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219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0F1219"/>
                </a:solidFill>
                <a:latin typeface="Courier New"/>
                <a:ea typeface="Courier New"/>
                <a:cs typeface="Courier New"/>
                <a:sym typeface="Courier New"/>
              </a:rPr>
              <a:t>5 MINUTES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5"/>
          <p:cNvSpPr/>
          <p:nvPr/>
        </p:nvSpPr>
        <p:spPr>
          <a:xfrm>
            <a:off x="548640" y="1051560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2F5FA"/>
                </a:solidFill>
                <a:latin typeface="Arial"/>
                <a:ea typeface="Arial"/>
                <a:cs typeface="Arial"/>
                <a:sym typeface="Arial"/>
              </a:rPr>
              <a:t>Mini-Challenge: Temperature Converter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5"/>
          <p:cNvSpPr/>
          <p:nvPr/>
        </p:nvSpPr>
        <p:spPr>
          <a:xfrm>
            <a:off x="548640" y="1965960"/>
            <a:ext cx="329184" cy="329184"/>
          </a:xfrm>
          <a:prstGeom prst="ellipse">
            <a:avLst/>
          </a:prstGeom>
          <a:solidFill>
            <a:srgbClr val="262E3D"/>
          </a:solidFill>
          <a:ln cap="flat" cmpd="sng" w="15875">
            <a:solidFill>
              <a:srgbClr val="F37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25"/>
          <p:cNvSpPr/>
          <p:nvPr/>
        </p:nvSpPr>
        <p:spPr>
          <a:xfrm>
            <a:off x="548640" y="196596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7626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F37626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5"/>
          <p:cNvSpPr/>
          <p:nvPr/>
        </p:nvSpPr>
        <p:spPr>
          <a:xfrm>
            <a:off x="1097280" y="1874520"/>
            <a:ext cx="6035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# heading with a title and one-sentence description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5"/>
          <p:cNvSpPr/>
          <p:nvPr/>
        </p:nvSpPr>
        <p:spPr>
          <a:xfrm>
            <a:off x="548640" y="2532888"/>
            <a:ext cx="329184" cy="329184"/>
          </a:xfrm>
          <a:prstGeom prst="ellipse">
            <a:avLst/>
          </a:prstGeom>
          <a:solidFill>
            <a:srgbClr val="262E3D"/>
          </a:solidFill>
          <a:ln cap="flat" cmpd="sng" w="15875">
            <a:solidFill>
              <a:srgbClr val="F37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25"/>
          <p:cNvSpPr/>
          <p:nvPr/>
        </p:nvSpPr>
        <p:spPr>
          <a:xfrm>
            <a:off x="548640" y="253288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7626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F37626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5"/>
          <p:cNvSpPr/>
          <p:nvPr/>
        </p:nvSpPr>
        <p:spPr>
          <a:xfrm>
            <a:off x="1097280" y="2441448"/>
            <a:ext cx="6035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## 1. Setup — a code cell with a well-named constant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5"/>
          <p:cNvSpPr/>
          <p:nvPr/>
        </p:nvSpPr>
        <p:spPr>
          <a:xfrm>
            <a:off x="548640" y="3099816"/>
            <a:ext cx="329184" cy="329184"/>
          </a:xfrm>
          <a:prstGeom prst="ellipse">
            <a:avLst/>
          </a:prstGeom>
          <a:solidFill>
            <a:srgbClr val="262E3D"/>
          </a:solidFill>
          <a:ln cap="flat" cmpd="sng" w="15875">
            <a:solidFill>
              <a:srgbClr val="F37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25"/>
          <p:cNvSpPr/>
          <p:nvPr/>
        </p:nvSpPr>
        <p:spPr>
          <a:xfrm>
            <a:off x="548640" y="3099816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7626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F37626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25"/>
          <p:cNvSpPr/>
          <p:nvPr/>
        </p:nvSpPr>
        <p:spPr>
          <a:xfrm>
            <a:off x="1097280" y="3008376"/>
            <a:ext cx="6035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## 2. Convert — a function with a docstring, PEP 8 clean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5"/>
          <p:cNvSpPr/>
          <p:nvPr/>
        </p:nvSpPr>
        <p:spPr>
          <a:xfrm>
            <a:off x="548640" y="3666744"/>
            <a:ext cx="329184" cy="329184"/>
          </a:xfrm>
          <a:prstGeom prst="ellipse">
            <a:avLst/>
          </a:prstGeom>
          <a:solidFill>
            <a:srgbClr val="262E3D"/>
          </a:solidFill>
          <a:ln cap="flat" cmpd="sng" w="15875">
            <a:solidFill>
              <a:srgbClr val="F37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25"/>
          <p:cNvSpPr/>
          <p:nvPr/>
        </p:nvSpPr>
        <p:spPr>
          <a:xfrm>
            <a:off x="548640" y="3666744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7626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F37626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25"/>
          <p:cNvSpPr/>
          <p:nvPr/>
        </p:nvSpPr>
        <p:spPr>
          <a:xfrm>
            <a:off x="1097280" y="3575304"/>
            <a:ext cx="6035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A blockquote callout ( &gt; ) flagging one gotcha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25"/>
          <p:cNvSpPr/>
          <p:nvPr/>
        </p:nvSpPr>
        <p:spPr>
          <a:xfrm>
            <a:off x="548640" y="4233672"/>
            <a:ext cx="329184" cy="329184"/>
          </a:xfrm>
          <a:prstGeom prst="ellipse">
            <a:avLst/>
          </a:prstGeom>
          <a:solidFill>
            <a:srgbClr val="262E3D"/>
          </a:solidFill>
          <a:ln cap="flat" cmpd="sng" w="15875">
            <a:solidFill>
              <a:srgbClr val="F37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25"/>
          <p:cNvSpPr/>
          <p:nvPr/>
        </p:nvSpPr>
        <p:spPr>
          <a:xfrm>
            <a:off x="548640" y="423367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7626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F37626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5"/>
          <p:cNvSpPr/>
          <p:nvPr/>
        </p:nvSpPr>
        <p:spPr>
          <a:xfrm>
            <a:off x="1097280" y="4142232"/>
            <a:ext cx="6035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A nested list of two features you would add next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5"/>
          <p:cNvSpPr/>
          <p:nvPr/>
        </p:nvSpPr>
        <p:spPr>
          <a:xfrm>
            <a:off x="548640" y="4800600"/>
            <a:ext cx="329184" cy="329184"/>
          </a:xfrm>
          <a:prstGeom prst="ellipse">
            <a:avLst/>
          </a:prstGeom>
          <a:solidFill>
            <a:srgbClr val="262E3D"/>
          </a:solidFill>
          <a:ln cap="flat" cmpd="sng" w="15875">
            <a:solidFill>
              <a:srgbClr val="F37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5"/>
          <p:cNvSpPr/>
          <p:nvPr/>
        </p:nvSpPr>
        <p:spPr>
          <a:xfrm>
            <a:off x="548640" y="480060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7626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F37626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25"/>
          <p:cNvSpPr/>
          <p:nvPr/>
        </p:nvSpPr>
        <p:spPr>
          <a:xfrm>
            <a:off x="1097280" y="4709160"/>
            <a:ext cx="6035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## 3. Result — run it and show the output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5"/>
          <p:cNvSpPr/>
          <p:nvPr/>
        </p:nvSpPr>
        <p:spPr>
          <a:xfrm>
            <a:off x="548640" y="5367528"/>
            <a:ext cx="329184" cy="329184"/>
          </a:xfrm>
          <a:prstGeom prst="ellipse">
            <a:avLst/>
          </a:prstGeom>
          <a:solidFill>
            <a:srgbClr val="262E3D"/>
          </a:solidFill>
          <a:ln cap="flat" cmpd="sng" w="15875">
            <a:solidFill>
              <a:srgbClr val="F37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25"/>
          <p:cNvSpPr/>
          <p:nvPr/>
        </p:nvSpPr>
        <p:spPr>
          <a:xfrm>
            <a:off x="548640" y="536752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7626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F37626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5"/>
          <p:cNvSpPr/>
          <p:nvPr/>
        </p:nvSpPr>
        <p:spPr>
          <a:xfrm>
            <a:off x="1097280" y="5276088"/>
            <a:ext cx="6035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Restart and run all, then share with Viewer access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5"/>
          <p:cNvSpPr/>
          <p:nvPr/>
        </p:nvSpPr>
        <p:spPr>
          <a:xfrm>
            <a:off x="7040880" y="1874520"/>
            <a:ext cx="4572000" cy="2286000"/>
          </a:xfrm>
          <a:prstGeom prst="roundRect">
            <a:avLst>
              <a:gd fmla="val 3600" name="adj"/>
            </a:avLst>
          </a:prstGeom>
          <a:solidFill>
            <a:srgbClr val="1E2430"/>
          </a:solidFill>
          <a:ln cap="flat" cmpd="sng" w="15875">
            <a:solidFill>
              <a:srgbClr val="3DDC97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25"/>
          <p:cNvSpPr/>
          <p:nvPr/>
        </p:nvSpPr>
        <p:spPr>
          <a:xfrm>
            <a:off x="7205472" y="2020824"/>
            <a:ext cx="1234440" cy="274320"/>
          </a:xfrm>
          <a:prstGeom prst="roundRect">
            <a:avLst>
              <a:gd fmla="val 50000" name="adj"/>
            </a:avLst>
          </a:prstGeom>
          <a:solidFill>
            <a:srgbClr val="3DDC97"/>
          </a:solidFill>
          <a:ln cap="flat" cmpd="sng" w="12700">
            <a:solidFill>
              <a:srgbClr val="3DDC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25"/>
          <p:cNvSpPr/>
          <p:nvPr/>
        </p:nvSpPr>
        <p:spPr>
          <a:xfrm>
            <a:off x="7205472" y="2020824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219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0F1219"/>
                </a:solidFill>
                <a:latin typeface="Courier New"/>
                <a:ea typeface="Courier New"/>
                <a:cs typeface="Courier New"/>
                <a:sym typeface="Courier New"/>
              </a:rPr>
              <a:t>STARTER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5"/>
          <p:cNvSpPr/>
          <p:nvPr/>
        </p:nvSpPr>
        <p:spPr>
          <a:xfrm>
            <a:off x="7242048" y="2404872"/>
            <a:ext cx="4169664" cy="1572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  <a:t>FREEZING_POINT_F = 32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  <a:t>def celsius_to_fahrenheit(c):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  <a:t>    """Convert Celsius to F."""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2F5FA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c * 9 / 5 + FREEZING_POINT_F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5"/>
          <p:cNvSpPr/>
          <p:nvPr/>
        </p:nvSpPr>
        <p:spPr>
          <a:xfrm>
            <a:off x="7040880" y="4343400"/>
            <a:ext cx="4572000" cy="1508760"/>
          </a:xfrm>
          <a:prstGeom prst="roundRect">
            <a:avLst>
              <a:gd fmla="val 6061" name="adj"/>
            </a:avLst>
          </a:prstGeom>
          <a:solidFill>
            <a:srgbClr val="1E2430"/>
          </a:solidFill>
          <a:ln cap="flat" cmpd="sng" w="15875">
            <a:solidFill>
              <a:srgbClr val="FFB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25"/>
          <p:cNvSpPr/>
          <p:nvPr/>
        </p:nvSpPr>
        <p:spPr>
          <a:xfrm>
            <a:off x="7315200" y="452628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454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FFB454"/>
                </a:solidFill>
                <a:latin typeface="Courier New"/>
                <a:ea typeface="Courier New"/>
                <a:cs typeface="Courier New"/>
                <a:sym typeface="Courier New"/>
              </a:rPr>
              <a:t>Judged on structure, not cleverness.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5"/>
          <p:cNvSpPr/>
          <p:nvPr/>
        </p:nvSpPr>
        <p:spPr>
          <a:xfrm>
            <a:off x="7315200" y="4892040"/>
            <a:ext cx="4023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8C99A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C99AE"/>
                </a:solidFill>
                <a:latin typeface="Calibri"/>
                <a:ea typeface="Calibri"/>
                <a:cs typeface="Calibri"/>
                <a:sym typeface="Calibri"/>
              </a:rPr>
              <a:t>Two volunteers share screens at 5:00.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8C99A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C99AE"/>
                </a:solidFill>
                <a:latin typeface="Calibri"/>
                <a:ea typeface="Calibri"/>
                <a:cs typeface="Calibri"/>
                <a:sym typeface="Calibri"/>
              </a:rPr>
              <a:t>We read them the way a stranger would.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219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26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6880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5D6880"/>
                </a:solidFill>
                <a:latin typeface="Courier New"/>
                <a:ea typeface="Courier New"/>
                <a:cs typeface="Courier New"/>
                <a:sym typeface="Courier New"/>
              </a:rPr>
              <a:t>24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26"/>
          <p:cNvSpPr/>
          <p:nvPr/>
        </p:nvSpPr>
        <p:spPr>
          <a:xfrm>
            <a:off x="548640" y="6858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7626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F37626"/>
                </a:solidFill>
                <a:latin typeface="Courier New"/>
                <a:ea typeface="Courier New"/>
                <a:cs typeface="Courier New"/>
                <a:sym typeface="Courier New"/>
              </a:rPr>
              <a:t>THE WHOLE HOUR, IN THREE LINES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6"/>
          <p:cNvSpPr/>
          <p:nvPr/>
        </p:nvSpPr>
        <p:spPr>
          <a:xfrm>
            <a:off x="548640" y="105156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2F5FA"/>
                </a:solidFill>
                <a:latin typeface="Arial"/>
                <a:ea typeface="Arial"/>
                <a:cs typeface="Arial"/>
                <a:sym typeface="Arial"/>
              </a:rPr>
              <a:t>Recap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26"/>
          <p:cNvSpPr/>
          <p:nvPr/>
        </p:nvSpPr>
        <p:spPr>
          <a:xfrm>
            <a:off x="548640" y="2011680"/>
            <a:ext cx="3246120" cy="1965960"/>
          </a:xfrm>
          <a:prstGeom prst="roundRect">
            <a:avLst>
              <a:gd fmla="val 4651" name="adj"/>
            </a:avLst>
          </a:prstGeom>
          <a:solidFill>
            <a:srgbClr val="1E2430"/>
          </a:solidFill>
          <a:ln cap="flat" cmpd="sng" w="12700">
            <a:solidFill>
              <a:srgbClr val="1E243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26"/>
          <p:cNvSpPr/>
          <p:nvPr/>
        </p:nvSpPr>
        <p:spPr>
          <a:xfrm>
            <a:off x="822960" y="219456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7626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F37626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26"/>
          <p:cNvSpPr/>
          <p:nvPr/>
        </p:nvSpPr>
        <p:spPr>
          <a:xfrm>
            <a:off x="822960" y="2578608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2F5FA"/>
                </a:solidFill>
                <a:latin typeface="Arial"/>
                <a:ea typeface="Arial"/>
                <a:cs typeface="Arial"/>
                <a:sym typeface="Arial"/>
              </a:rPr>
              <a:t>COLAB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6"/>
          <p:cNvSpPr/>
          <p:nvPr/>
        </p:nvSpPr>
        <p:spPr>
          <a:xfrm>
            <a:off x="822960" y="3017520"/>
            <a:ext cx="2743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8C99A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8C99AE"/>
                </a:solidFill>
                <a:latin typeface="Calibri"/>
                <a:ea typeface="Calibri"/>
                <a:cs typeface="Calibri"/>
                <a:sym typeface="Calibri"/>
              </a:rPr>
              <a:t>The kernel holds state, not the file.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8C99A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8C99AE"/>
                </a:solidFill>
                <a:latin typeface="Calibri"/>
                <a:ea typeface="Calibri"/>
                <a:cs typeface="Calibri"/>
                <a:sym typeface="Calibri"/>
              </a:rPr>
              <a:t>Restart and run all.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26"/>
          <p:cNvSpPr/>
          <p:nvPr/>
        </p:nvSpPr>
        <p:spPr>
          <a:xfrm>
            <a:off x="4343400" y="2011680"/>
            <a:ext cx="3246120" cy="1965960"/>
          </a:xfrm>
          <a:prstGeom prst="roundRect">
            <a:avLst>
              <a:gd fmla="val 4651" name="adj"/>
            </a:avLst>
          </a:prstGeom>
          <a:solidFill>
            <a:srgbClr val="1E2430"/>
          </a:solidFill>
          <a:ln cap="flat" cmpd="sng" w="12700">
            <a:solidFill>
              <a:srgbClr val="1E243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26"/>
          <p:cNvSpPr/>
          <p:nvPr/>
        </p:nvSpPr>
        <p:spPr>
          <a:xfrm>
            <a:off x="4617720" y="219456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C97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3DDC97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26"/>
          <p:cNvSpPr/>
          <p:nvPr/>
        </p:nvSpPr>
        <p:spPr>
          <a:xfrm>
            <a:off x="4617720" y="2578608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2F5FA"/>
                </a:solidFill>
                <a:latin typeface="Arial"/>
                <a:ea typeface="Arial"/>
                <a:cs typeface="Arial"/>
                <a:sym typeface="Arial"/>
              </a:rPr>
              <a:t>CODE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26"/>
          <p:cNvSpPr/>
          <p:nvPr/>
        </p:nvSpPr>
        <p:spPr>
          <a:xfrm>
            <a:off x="4617720" y="3017520"/>
            <a:ext cx="2743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8C99A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8C99AE"/>
                </a:solidFill>
                <a:latin typeface="Calibri"/>
                <a:ea typeface="Calibri"/>
                <a:cs typeface="Calibri"/>
                <a:sym typeface="Calibri"/>
              </a:rPr>
              <a:t>Name things well, keep cells small,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8C99A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8C99AE"/>
                </a:solidFill>
                <a:latin typeface="Calibri"/>
                <a:ea typeface="Calibri"/>
                <a:cs typeface="Calibri"/>
                <a:sym typeface="Calibri"/>
              </a:rPr>
              <a:t>comment the why.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26"/>
          <p:cNvSpPr/>
          <p:nvPr/>
        </p:nvSpPr>
        <p:spPr>
          <a:xfrm>
            <a:off x="8138160" y="2011680"/>
            <a:ext cx="3246120" cy="1965960"/>
          </a:xfrm>
          <a:prstGeom prst="roundRect">
            <a:avLst>
              <a:gd fmla="val 4651" name="adj"/>
            </a:avLst>
          </a:prstGeom>
          <a:solidFill>
            <a:srgbClr val="1E2430"/>
          </a:solidFill>
          <a:ln cap="flat" cmpd="sng" w="12700">
            <a:solidFill>
              <a:srgbClr val="1E243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26"/>
          <p:cNvSpPr/>
          <p:nvPr/>
        </p:nvSpPr>
        <p:spPr>
          <a:xfrm>
            <a:off x="8412480" y="219456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C8FF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5CC8FF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26"/>
          <p:cNvSpPr/>
          <p:nvPr/>
        </p:nvSpPr>
        <p:spPr>
          <a:xfrm>
            <a:off x="8412480" y="2578608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2F5FA"/>
                </a:solidFill>
                <a:latin typeface="Arial"/>
                <a:ea typeface="Arial"/>
                <a:cs typeface="Arial"/>
                <a:sym typeface="Arial"/>
              </a:rPr>
              <a:t>MARKDOWN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26"/>
          <p:cNvSpPr/>
          <p:nvPr/>
        </p:nvSpPr>
        <p:spPr>
          <a:xfrm>
            <a:off x="8412480" y="3017520"/>
            <a:ext cx="2743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8C99A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8C99AE"/>
                </a:solidFill>
                <a:latin typeface="Calibri"/>
                <a:ea typeface="Calibri"/>
                <a:cs typeface="Calibri"/>
                <a:sym typeface="Calibri"/>
              </a:rPr>
              <a:t>Headings are navigation,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8C99A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8C99AE"/>
                </a:solidFill>
                <a:latin typeface="Calibri"/>
                <a:ea typeface="Calibri"/>
                <a:cs typeface="Calibri"/>
                <a:sym typeface="Calibri"/>
              </a:rPr>
              <a:t>callouts are signposts.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26"/>
          <p:cNvSpPr/>
          <p:nvPr/>
        </p:nvSpPr>
        <p:spPr>
          <a:xfrm>
            <a:off x="548640" y="4251960"/>
            <a:ext cx="6766560" cy="1691640"/>
          </a:xfrm>
          <a:prstGeom prst="roundRect">
            <a:avLst>
              <a:gd fmla="val 5405" name="adj"/>
            </a:avLst>
          </a:prstGeom>
          <a:solidFill>
            <a:srgbClr val="262E3D"/>
          </a:solidFill>
          <a:ln cap="flat" cmpd="sng" w="12700">
            <a:solidFill>
              <a:srgbClr val="262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26"/>
          <p:cNvSpPr/>
          <p:nvPr/>
        </p:nvSpPr>
        <p:spPr>
          <a:xfrm>
            <a:off x="868680" y="44348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454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FFB454"/>
                </a:solidFill>
                <a:latin typeface="Courier New"/>
                <a:ea typeface="Courier New"/>
                <a:cs typeface="Courier New"/>
                <a:sym typeface="Courier New"/>
              </a:rPr>
              <a:t>THIS WEEK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26"/>
          <p:cNvSpPr/>
          <p:nvPr/>
        </p:nvSpPr>
        <p:spPr>
          <a:xfrm>
            <a:off x="868680" y="4754880"/>
            <a:ext cx="61264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350"/>
              <a:buFont typeface="Calibri"/>
              <a:buChar char="▪"/>
            </a:pPr>
            <a:r>
              <a:rPr b="0" i="0" lang="en-US" sz="135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Save the template into your Drive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2F5FA"/>
              </a:buClr>
              <a:buSzPts val="1350"/>
              <a:buFont typeface="Calibri"/>
              <a:buChar char="▪"/>
            </a:pPr>
            <a:r>
              <a:rPr b="0" i="0" lang="en-US" sz="135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Refactor one old notebook with the checklist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2F5FA"/>
              </a:buClr>
              <a:buSzPts val="1350"/>
              <a:buFont typeface="Calibri"/>
              <a:buChar char="▪"/>
            </a:pPr>
            <a:r>
              <a:rPr b="0" i="0" lang="en-US" sz="1350" u="none" cap="none" strike="noStrike">
                <a:solidFill>
                  <a:srgbClr val="F2F5FA"/>
                </a:solidFill>
                <a:latin typeface="Calibri"/>
                <a:ea typeface="Calibri"/>
                <a:cs typeface="Calibri"/>
                <a:sym typeface="Calibri"/>
              </a:rPr>
              <a:t>Share it and ask: could you follow this?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26"/>
          <p:cNvSpPr/>
          <p:nvPr/>
        </p:nvSpPr>
        <p:spPr>
          <a:xfrm>
            <a:off x="7589520" y="4251960"/>
            <a:ext cx="4023360" cy="1691640"/>
          </a:xfrm>
          <a:prstGeom prst="roundRect">
            <a:avLst>
              <a:gd fmla="val 5405" name="adj"/>
            </a:avLst>
          </a:prstGeom>
          <a:solidFill>
            <a:srgbClr val="1E2430"/>
          </a:solidFill>
          <a:ln cap="flat" cmpd="sng" w="15875">
            <a:solidFill>
              <a:srgbClr val="F37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26"/>
          <p:cNvSpPr/>
          <p:nvPr/>
        </p:nvSpPr>
        <p:spPr>
          <a:xfrm>
            <a:off x="7863840" y="44348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7626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F37626"/>
                </a:solidFill>
                <a:latin typeface="Courier New"/>
                <a:ea typeface="Courier New"/>
                <a:cs typeface="Courier New"/>
                <a:sym typeface="Courier New"/>
              </a:rPr>
              <a:t>BOOKMARK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26"/>
          <p:cNvSpPr/>
          <p:nvPr/>
        </p:nvSpPr>
        <p:spPr>
          <a:xfrm>
            <a:off x="7863840" y="4754880"/>
            <a:ext cx="3566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3913"/>
              </a:lnSpc>
              <a:spcBef>
                <a:spcPts val="0"/>
              </a:spcBef>
              <a:spcAft>
                <a:spcPts val="0"/>
              </a:spcAft>
              <a:buClr>
                <a:srgbClr val="5CC8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5CC8FF"/>
                </a:solidFill>
                <a:latin typeface="Courier New"/>
                <a:ea typeface="Courier New"/>
                <a:cs typeface="Courier New"/>
                <a:sym typeface="Courier New"/>
              </a:rPr>
              <a:t>markdownguide.org/cheat-sheet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3913"/>
              </a:lnSpc>
              <a:spcBef>
                <a:spcPts val="0"/>
              </a:spcBef>
              <a:spcAft>
                <a:spcPts val="0"/>
              </a:spcAft>
              <a:buClr>
                <a:srgbClr val="5CC8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5CC8FF"/>
                </a:solidFill>
                <a:latin typeface="Courier New"/>
                <a:ea typeface="Courier New"/>
                <a:cs typeface="Courier New"/>
                <a:sym typeface="Courier New"/>
              </a:rPr>
              <a:t>peps.python.org/pep-0008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3913"/>
              </a:lnSpc>
              <a:spcBef>
                <a:spcPts val="0"/>
              </a:spcBef>
              <a:spcAft>
                <a:spcPts val="0"/>
              </a:spcAft>
              <a:buClr>
                <a:srgbClr val="5CC8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5CC8FF"/>
                </a:solidFill>
                <a:latin typeface="Courier New"/>
                <a:ea typeface="Courier New"/>
                <a:cs typeface="Courier New"/>
                <a:sym typeface="Courier New"/>
              </a:rPr>
              <a:t>colab.research.google.com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26"/>
          <p:cNvSpPr/>
          <p:nvPr/>
        </p:nvSpPr>
        <p:spPr>
          <a:xfrm>
            <a:off x="548640" y="61722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9AE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8C99AE"/>
                </a:solidFill>
                <a:latin typeface="Calibri"/>
                <a:ea typeface="Calibri"/>
                <a:cs typeface="Calibri"/>
                <a:sym typeface="Calibri"/>
              </a:rPr>
              <a:t>A notebook nobody can read is just a file. A notebook with structure explains itself.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