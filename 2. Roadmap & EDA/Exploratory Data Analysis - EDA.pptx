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  <p:sldMasterId id="214748369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Inter Tight Medium"/>
      <p:regular r:id="rId24"/>
      <p:bold r:id="rId25"/>
      <p:italic r:id="rId26"/>
      <p:boldItalic r:id="rId27"/>
    </p:embeddedFont>
    <p:embeddedFont>
      <p:font typeface="Inter Tight"/>
      <p:regular r:id="rId28"/>
      <p:bold r:id="rId29"/>
      <p:italic r:id="rId30"/>
      <p:boldItalic r:id="rId31"/>
    </p:embeddedFont>
    <p:embeddedFont>
      <p:font typeface="Inter Tight SemiBold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InterTightMedium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terTightMedium-italic.fntdata"/><Relationship Id="rId25" Type="http://schemas.openxmlformats.org/officeDocument/2006/relationships/font" Target="fonts/InterTightMedium-bold.fntdata"/><Relationship Id="rId28" Type="http://schemas.openxmlformats.org/officeDocument/2006/relationships/font" Target="fonts/InterTight-regular.fntdata"/><Relationship Id="rId27" Type="http://schemas.openxmlformats.org/officeDocument/2006/relationships/font" Target="fonts/InterTightMedium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T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Tight-boldItalic.fntdata"/><Relationship Id="rId30" Type="http://schemas.openxmlformats.org/officeDocument/2006/relationships/font" Target="fonts/InterTight-italic.fntdata"/><Relationship Id="rId11" Type="http://schemas.openxmlformats.org/officeDocument/2006/relationships/slide" Target="slides/slide5.xml"/><Relationship Id="rId33" Type="http://schemas.openxmlformats.org/officeDocument/2006/relationships/font" Target="fonts/InterTightSemiBold-bold.fntdata"/><Relationship Id="rId10" Type="http://schemas.openxmlformats.org/officeDocument/2006/relationships/slide" Target="slides/slide4.xml"/><Relationship Id="rId32" Type="http://schemas.openxmlformats.org/officeDocument/2006/relationships/font" Target="fonts/InterTightSemiBold-regular.fntdata"/><Relationship Id="rId13" Type="http://schemas.openxmlformats.org/officeDocument/2006/relationships/slide" Target="slides/slide7.xml"/><Relationship Id="rId35" Type="http://schemas.openxmlformats.org/officeDocument/2006/relationships/font" Target="fonts/InterTightSemiBold-boldItalic.fntdata"/><Relationship Id="rId12" Type="http://schemas.openxmlformats.org/officeDocument/2006/relationships/slide" Target="slides/slide6.xml"/><Relationship Id="rId34" Type="http://schemas.openxmlformats.org/officeDocument/2006/relationships/font" Target="fonts/InterTightSemiBold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8ee4b42e4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8ee4b42e4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8ee4b42e40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8ee4b42e40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8ee4b42e40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8ee4b42e40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8ee4b42e40_0_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8ee4b42e40_0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8ee4b42e40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8ee4b42e40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8ee4b42e40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8ee4b42e40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8ee4b42e40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8ee4b42e40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8ee4b42e40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8ee4b42e40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8ee4b42e40_0_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8ee4b42e40_0_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8ee4b42e40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8ee4b42e40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8ee4b42e40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8ee4b42e40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8ee4b42e40_0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8ee4b42e40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8ee4b42e40_0_6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8ee4b42e40_0_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8ee4b42e40_0_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8ee4b42e40_0_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8ee4b42e40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8ee4b42e40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8ee4b42e40_0_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8ee4b42e40_0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8ee4b42e40_0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8ee4b42e40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 rot="299808">
            <a:off x="124383" y="-559521"/>
            <a:ext cx="8900029" cy="6258229"/>
            <a:chOff x="124223" y="-559280"/>
            <a:chExt cx="8900025" cy="6258226"/>
          </a:xfrm>
        </p:grpSpPr>
        <p:grpSp>
          <p:nvGrpSpPr>
            <p:cNvPr id="56" name="Google Shape;56;p14"/>
            <p:cNvGrpSpPr/>
            <p:nvPr/>
          </p:nvGrpSpPr>
          <p:grpSpPr>
            <a:xfrm>
              <a:off x="124223" y="-78561"/>
              <a:ext cx="8900025" cy="5296800"/>
              <a:chOff x="124223" y="-78561"/>
              <a:chExt cx="8900025" cy="5296800"/>
            </a:xfrm>
          </p:grpSpPr>
          <p:sp>
            <p:nvSpPr>
              <p:cNvPr id="57" name="Google Shape;57;p14"/>
              <p:cNvSpPr/>
              <p:nvPr/>
            </p:nvSpPr>
            <p:spPr>
              <a:xfrm rot="-1623">
                <a:off x="7117071" y="2014308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8" name="Google Shape;58;p14"/>
              <p:cNvSpPr/>
              <p:nvPr/>
            </p:nvSpPr>
            <p:spPr>
              <a:xfrm flipH="1" rot="-1487">
                <a:off x="124823" y="-77211"/>
                <a:ext cx="6242101" cy="5294100"/>
              </a:xfrm>
              <a:prstGeom prst="snip1Rect">
                <a:avLst>
                  <a:gd fmla="val 42486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59" name="Google Shape;59;p14"/>
              <p:cNvSpPr/>
              <p:nvPr/>
            </p:nvSpPr>
            <p:spPr>
              <a:xfrm flipH="1" rot="10798513">
                <a:off x="2781248" y="-76291"/>
                <a:ext cx="6242401" cy="5289900"/>
              </a:xfrm>
              <a:prstGeom prst="snip1Rect">
                <a:avLst>
                  <a:gd fmla="val 42496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60" name="Google Shape;60;p14"/>
              <p:cNvSpPr/>
              <p:nvPr/>
            </p:nvSpPr>
            <p:spPr>
              <a:xfrm rot="-1623">
                <a:off x="125118" y="1250275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61" name="Google Shape;61;p14"/>
            <p:cNvSpPr/>
            <p:nvPr/>
          </p:nvSpPr>
          <p:spPr>
            <a:xfrm rot="-4516116">
              <a:off x="314265" y="-331820"/>
              <a:ext cx="1871106" cy="18379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 rot="6283884">
              <a:off x="6963097" y="3633506"/>
              <a:ext cx="1871106" cy="18379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63" name="Google Shape;63;p14"/>
          <p:cNvSpPr txBox="1"/>
          <p:nvPr>
            <p:ph type="ctrTitle"/>
          </p:nvPr>
        </p:nvSpPr>
        <p:spPr>
          <a:xfrm>
            <a:off x="1826325" y="1559575"/>
            <a:ext cx="54948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1826325" y="3252475"/>
            <a:ext cx="5494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3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8" name="Google Shape;98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6" name="Google Shape;106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7" name="Google Shape;107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8" name="Google Shape;108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9" name="Google Shape;109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0" name="Google Shape;110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14" name="Google Shape;114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9" name="Google Shape;119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0" name="Google Shape;120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1" name="Google Shape;121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2" name="Google Shape;122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6" name="Google Shape;126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7" name="Google Shape;127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9" name="Google Shape;129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0" name="Google Shape;130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1" name="Google Shape;131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35" name="Google Shape;135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36" name="Google Shape;136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38" name="Google Shape;138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9" name="Google Shape;139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0" name="Google Shape;140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1" name="Google Shape;141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2" name="Google Shape;142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" name="Google Shape;14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9" name="Google Shape;149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2" name="Google Shape;15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" name="Google Shape;154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5" name="Google Shape;155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8" name="Google Shape;158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1" name="Google Shape;161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3" name="Google Shape;16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6" name="Google Shape;166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7" name="Google Shape;167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0" name="Google Shape;180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35"/>
          <p:cNvGrpSpPr/>
          <p:nvPr/>
        </p:nvGrpSpPr>
        <p:grpSpPr>
          <a:xfrm>
            <a:off x="75" y="256675"/>
            <a:ext cx="3798141" cy="1190474"/>
            <a:chOff x="75" y="256675"/>
            <a:chExt cx="3798141" cy="1190474"/>
          </a:xfrm>
        </p:grpSpPr>
        <p:sp>
          <p:nvSpPr>
            <p:cNvPr id="185" name="Google Shape;185;p35"/>
            <p:cNvSpPr/>
            <p:nvPr/>
          </p:nvSpPr>
          <p:spPr>
            <a:xfrm flipH="1" rot="10800000">
              <a:off x="75" y="256675"/>
              <a:ext cx="3798000" cy="1190400"/>
            </a:xfrm>
            <a:prstGeom prst="snip1Rect">
              <a:avLst>
                <a:gd fmla="val 3510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6" name="Google Shape;186;p35"/>
            <p:cNvSpPr/>
            <p:nvPr/>
          </p:nvSpPr>
          <p:spPr>
            <a:xfrm flipH="1" rot="-10795068">
              <a:off x="3380016" y="1028349"/>
              <a:ext cx="418200" cy="418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87" name="Google Shape;187;p35"/>
          <p:cNvSpPr txBox="1"/>
          <p:nvPr>
            <p:ph type="title"/>
          </p:nvPr>
        </p:nvSpPr>
        <p:spPr>
          <a:xfrm>
            <a:off x="333925" y="544250"/>
            <a:ext cx="3039900" cy="7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8" name="Google Shape;188;p35"/>
          <p:cNvSpPr txBox="1"/>
          <p:nvPr>
            <p:ph idx="1" type="subTitle"/>
          </p:nvPr>
        </p:nvSpPr>
        <p:spPr>
          <a:xfrm>
            <a:off x="1149126" y="2348550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89" name="Google Shape;189;p35"/>
          <p:cNvSpPr txBox="1"/>
          <p:nvPr>
            <p:ph idx="2" type="subTitle"/>
          </p:nvPr>
        </p:nvSpPr>
        <p:spPr>
          <a:xfrm>
            <a:off x="1149126" y="2802869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0" name="Google Shape;190;p35"/>
          <p:cNvSpPr txBox="1"/>
          <p:nvPr>
            <p:ph idx="3" type="subTitle"/>
          </p:nvPr>
        </p:nvSpPr>
        <p:spPr>
          <a:xfrm>
            <a:off x="1149126" y="3257187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4" type="subTitle"/>
          </p:nvPr>
        </p:nvSpPr>
        <p:spPr>
          <a:xfrm>
            <a:off x="1149126" y="3711506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5" type="subTitle"/>
          </p:nvPr>
        </p:nvSpPr>
        <p:spPr>
          <a:xfrm>
            <a:off x="1149126" y="4165824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6" type="subTitle"/>
          </p:nvPr>
        </p:nvSpPr>
        <p:spPr>
          <a:xfrm>
            <a:off x="5327851" y="2348550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4" name="Google Shape;194;p35"/>
          <p:cNvSpPr txBox="1"/>
          <p:nvPr>
            <p:ph idx="7" type="subTitle"/>
          </p:nvPr>
        </p:nvSpPr>
        <p:spPr>
          <a:xfrm>
            <a:off x="5327851" y="2802869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5" name="Google Shape;195;p35"/>
          <p:cNvSpPr txBox="1"/>
          <p:nvPr>
            <p:ph idx="8" type="subTitle"/>
          </p:nvPr>
        </p:nvSpPr>
        <p:spPr>
          <a:xfrm>
            <a:off x="5327851" y="3257187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6" name="Google Shape;196;p35"/>
          <p:cNvSpPr txBox="1"/>
          <p:nvPr>
            <p:ph idx="9" type="subTitle"/>
          </p:nvPr>
        </p:nvSpPr>
        <p:spPr>
          <a:xfrm>
            <a:off x="5327851" y="3711506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7" name="Google Shape;197;p35"/>
          <p:cNvSpPr txBox="1"/>
          <p:nvPr>
            <p:ph idx="13" type="subTitle"/>
          </p:nvPr>
        </p:nvSpPr>
        <p:spPr>
          <a:xfrm>
            <a:off x="5327851" y="4165824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s" type="tx">
  <p:cSld name="TITLE_AND_BODY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/>
          <p:nvPr>
            <p:ph idx="2" type="pic"/>
          </p:nvPr>
        </p:nvSpPr>
        <p:spPr>
          <a:xfrm rot="299990">
            <a:off x="716131" y="2331244"/>
            <a:ext cx="3686628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0" name="Google Shape;200;p36"/>
          <p:cNvSpPr/>
          <p:nvPr>
            <p:ph idx="3" type="pic"/>
          </p:nvPr>
        </p:nvSpPr>
        <p:spPr>
          <a:xfrm rot="-300269">
            <a:off x="4741294" y="2331368"/>
            <a:ext cx="3686654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1" name="Google Shape;201;p36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36"/>
          <p:cNvSpPr txBox="1"/>
          <p:nvPr>
            <p:ph idx="1" type="body"/>
          </p:nvPr>
        </p:nvSpPr>
        <p:spPr>
          <a:xfrm>
            <a:off x="333925" y="1163150"/>
            <a:ext cx="84756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03" name="Google Shape;203;p36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buNone/>
              <a:defRPr/>
            </a:lvl1pPr>
            <a:lvl2pPr lvl="1" rtl="0" algn="r">
              <a:buNone/>
              <a:defRPr/>
            </a:lvl2pPr>
            <a:lvl3pPr lvl="2" rtl="0" algn="r">
              <a:buNone/>
              <a:defRPr/>
            </a:lvl3pPr>
            <a:lvl4pPr lvl="3" rtl="0" algn="r">
              <a:buNone/>
              <a:defRPr/>
            </a:lvl4pPr>
            <a:lvl5pPr lvl="4" rtl="0" algn="r">
              <a:buNone/>
              <a:defRPr/>
            </a:lvl5pPr>
            <a:lvl6pPr lvl="5" rtl="0" algn="r">
              <a:buNone/>
              <a:defRPr/>
            </a:lvl6pPr>
            <a:lvl7pPr lvl="6" rtl="0" algn="r">
              <a:buNone/>
              <a:defRPr/>
            </a:lvl7pPr>
            <a:lvl8pPr lvl="7" rtl="0" algn="r">
              <a:buNone/>
              <a:defRPr/>
            </a:lvl8pPr>
            <a:lvl9pPr lvl="8" rtl="0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36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05" name="Google Shape;205;p36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ITLE_AND_BODY_1"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7"/>
          <p:cNvSpPr/>
          <p:nvPr>
            <p:ph idx="2" type="pic"/>
          </p:nvPr>
        </p:nvSpPr>
        <p:spPr>
          <a:xfrm rot="299990">
            <a:off x="716131" y="2331244"/>
            <a:ext cx="3686628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8" name="Google Shape;208;p37"/>
          <p:cNvSpPr/>
          <p:nvPr>
            <p:ph idx="3" type="pic"/>
          </p:nvPr>
        </p:nvSpPr>
        <p:spPr>
          <a:xfrm rot="-300269">
            <a:off x="4741294" y="2331368"/>
            <a:ext cx="3686654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9" name="Google Shape;209;p37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" name="Google Shape;210;p37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buNone/>
              <a:defRPr/>
            </a:lvl1pPr>
            <a:lvl2pPr lvl="1" rtl="0" algn="r">
              <a:buNone/>
              <a:defRPr/>
            </a:lvl2pPr>
            <a:lvl3pPr lvl="2" rtl="0" algn="r">
              <a:buNone/>
              <a:defRPr/>
            </a:lvl3pPr>
            <a:lvl4pPr lvl="3" rtl="0" algn="r">
              <a:buNone/>
              <a:defRPr/>
            </a:lvl4pPr>
            <a:lvl5pPr lvl="4" rtl="0" algn="r">
              <a:buNone/>
              <a:defRPr/>
            </a:lvl5pPr>
            <a:lvl6pPr lvl="5" rtl="0" algn="r">
              <a:buNone/>
              <a:defRPr/>
            </a:lvl6pPr>
            <a:lvl7pPr lvl="6" rtl="0" algn="r">
              <a:buNone/>
              <a:defRPr/>
            </a:lvl7pPr>
            <a:lvl8pPr lvl="7" rtl="0" algn="r">
              <a:buNone/>
              <a:defRPr/>
            </a:lvl8pPr>
            <a:lvl9pPr lvl="8" rtl="0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37"/>
          <p:cNvSpPr txBox="1"/>
          <p:nvPr>
            <p:ph idx="1" type="subTitle"/>
          </p:nvPr>
        </p:nvSpPr>
        <p:spPr>
          <a:xfrm>
            <a:off x="381082" y="1182925"/>
            <a:ext cx="41490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12" name="Google Shape;212;p37"/>
          <p:cNvSpPr txBox="1"/>
          <p:nvPr>
            <p:ph idx="4" type="body"/>
          </p:nvPr>
        </p:nvSpPr>
        <p:spPr>
          <a:xfrm>
            <a:off x="381082" y="1521627"/>
            <a:ext cx="41490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3" name="Google Shape;213;p37"/>
          <p:cNvSpPr txBox="1"/>
          <p:nvPr>
            <p:ph idx="5" type="subTitle"/>
          </p:nvPr>
        </p:nvSpPr>
        <p:spPr>
          <a:xfrm>
            <a:off x="4566932" y="1182925"/>
            <a:ext cx="41490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14" name="Google Shape;214;p37"/>
          <p:cNvSpPr txBox="1"/>
          <p:nvPr>
            <p:ph idx="6" type="body"/>
          </p:nvPr>
        </p:nvSpPr>
        <p:spPr>
          <a:xfrm>
            <a:off x="4566932" y="1521627"/>
            <a:ext cx="41490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5" name="Google Shape;215;p37"/>
          <p:cNvSpPr txBox="1"/>
          <p:nvPr>
            <p:ph idx="7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16" name="Google Shape;216;p37"/>
          <p:cNvSpPr txBox="1"/>
          <p:nvPr>
            <p:ph idx="8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 type="twoColTx">
  <p:cSld name="TITLE_AND_TWO_COLUMNS">
    <p:bg>
      <p:bgPr>
        <a:solidFill>
          <a:schemeClr val="lt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38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219" name="Google Shape;219;p38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20" name="Google Shape;220;p38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21" name="Google Shape;221;p38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22" name="Google Shape;222;p38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23" name="Google Shape;223;p38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8"/>
          <p:cNvSpPr txBox="1"/>
          <p:nvPr>
            <p:ph type="title"/>
          </p:nvPr>
        </p:nvSpPr>
        <p:spPr>
          <a:xfrm>
            <a:off x="2479675" y="1637413"/>
            <a:ext cx="418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38"/>
          <p:cNvSpPr txBox="1"/>
          <p:nvPr>
            <p:ph idx="1" type="body"/>
          </p:nvPr>
        </p:nvSpPr>
        <p:spPr>
          <a:xfrm>
            <a:off x="2479675" y="2291377"/>
            <a:ext cx="4184700" cy="22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" name="Google Shape;226;p38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27" name="Google Shape;227;p38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 type="titleOnly">
  <p:cSld name="TITLE_ONLY">
    <p:bg>
      <p:bgPr>
        <a:solidFill>
          <a:schemeClr val="lt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/>
          <p:nvPr>
            <p:ph idx="2" type="pic"/>
          </p:nvPr>
        </p:nvSpPr>
        <p:spPr>
          <a:xfrm rot="299866">
            <a:off x="764484" y="2679783"/>
            <a:ext cx="1938771" cy="1938771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0" name="Google Shape;230;p39"/>
          <p:cNvSpPr/>
          <p:nvPr>
            <p:ph idx="3" type="pic"/>
          </p:nvPr>
        </p:nvSpPr>
        <p:spPr>
          <a:xfrm rot="-299913">
            <a:off x="3602840" y="2620826"/>
            <a:ext cx="1938472" cy="1938472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1" name="Google Shape;231;p39"/>
          <p:cNvSpPr/>
          <p:nvPr>
            <p:ph idx="4" type="pic"/>
          </p:nvPr>
        </p:nvSpPr>
        <p:spPr>
          <a:xfrm rot="299913">
            <a:off x="6440891" y="2679947"/>
            <a:ext cx="1938472" cy="1938472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2" name="Google Shape;232;p39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39"/>
          <p:cNvSpPr txBox="1"/>
          <p:nvPr>
            <p:ph idx="1" type="subTitle"/>
          </p:nvPr>
        </p:nvSpPr>
        <p:spPr>
          <a:xfrm>
            <a:off x="381063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34" name="Google Shape;234;p39"/>
          <p:cNvSpPr txBox="1"/>
          <p:nvPr>
            <p:ph idx="5" type="body"/>
          </p:nvPr>
        </p:nvSpPr>
        <p:spPr>
          <a:xfrm>
            <a:off x="381063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5" name="Google Shape;235;p39"/>
          <p:cNvSpPr txBox="1"/>
          <p:nvPr>
            <p:ph idx="6" type="subTitle"/>
          </p:nvPr>
        </p:nvSpPr>
        <p:spPr>
          <a:xfrm>
            <a:off x="3219300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36" name="Google Shape;236;p39"/>
          <p:cNvSpPr txBox="1"/>
          <p:nvPr>
            <p:ph idx="7" type="body"/>
          </p:nvPr>
        </p:nvSpPr>
        <p:spPr>
          <a:xfrm>
            <a:off x="3219300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7" name="Google Shape;237;p39"/>
          <p:cNvSpPr txBox="1"/>
          <p:nvPr>
            <p:ph idx="8" type="subTitle"/>
          </p:nvPr>
        </p:nvSpPr>
        <p:spPr>
          <a:xfrm>
            <a:off x="6057538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38" name="Google Shape;238;p39"/>
          <p:cNvSpPr txBox="1"/>
          <p:nvPr>
            <p:ph idx="9" type="body"/>
          </p:nvPr>
        </p:nvSpPr>
        <p:spPr>
          <a:xfrm>
            <a:off x="6057538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9" name="Google Shape;239;p39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0" name="Google Shape;240;p39"/>
          <p:cNvSpPr txBox="1"/>
          <p:nvPr>
            <p:ph idx="1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41" name="Google Shape;241;p39"/>
          <p:cNvSpPr txBox="1"/>
          <p:nvPr>
            <p:ph idx="1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1">
  <p:cSld name="ONE_COLUMN_TEXT"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/>
          <p:nvPr>
            <p:ph idx="2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44" name="Google Shape;244;p40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40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6" name="Google Shape;246;p40"/>
          <p:cNvSpPr txBox="1"/>
          <p:nvPr>
            <p:ph idx="1" type="body"/>
          </p:nvPr>
        </p:nvSpPr>
        <p:spPr>
          <a:xfrm>
            <a:off x="333925" y="1163150"/>
            <a:ext cx="84756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47" name="Google Shape;247;p40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48" name="Google Shape;248;p40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73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left">
  <p:cSld name="ONE_COLUMN_TEXT_1"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41"/>
          <p:cNvGrpSpPr/>
          <p:nvPr/>
        </p:nvGrpSpPr>
        <p:grpSpPr>
          <a:xfrm>
            <a:off x="433788" y="1202208"/>
            <a:ext cx="2632899" cy="904617"/>
            <a:chOff x="433788" y="1202208"/>
            <a:chExt cx="2632899" cy="904617"/>
          </a:xfrm>
        </p:grpSpPr>
        <p:sp>
          <p:nvSpPr>
            <p:cNvPr id="251" name="Google Shape;251;p41"/>
            <p:cNvSpPr/>
            <p:nvPr/>
          </p:nvSpPr>
          <p:spPr>
            <a:xfrm>
              <a:off x="433788" y="1202325"/>
              <a:ext cx="2632800" cy="904500"/>
            </a:xfrm>
            <a:prstGeom prst="snip1Rect">
              <a:avLst>
                <a:gd fmla="val 3510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2" name="Google Shape;252;p41"/>
            <p:cNvSpPr/>
            <p:nvPr/>
          </p:nvSpPr>
          <p:spPr>
            <a:xfrm rot="-6523">
              <a:off x="2750486" y="1202508"/>
              <a:ext cx="316201" cy="318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53" name="Google Shape;253;p41"/>
          <p:cNvSpPr txBox="1"/>
          <p:nvPr>
            <p:ph idx="1" type="subTitle"/>
          </p:nvPr>
        </p:nvSpPr>
        <p:spPr>
          <a:xfrm>
            <a:off x="437000" y="1202200"/>
            <a:ext cx="2322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54" name="Google Shape;254;p41"/>
          <p:cNvSpPr txBox="1"/>
          <p:nvPr>
            <p:ph idx="2" type="body"/>
          </p:nvPr>
        </p:nvSpPr>
        <p:spPr>
          <a:xfrm>
            <a:off x="437000" y="1460325"/>
            <a:ext cx="26328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41"/>
          <p:cNvSpPr/>
          <p:nvPr>
            <p:ph idx="3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56" name="Google Shape;256;p41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41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8" name="Google Shape;258;p41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59" name="Google Shape;259;p41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73">
          <p15:clr>
            <a:srgbClr val="E46962"/>
          </p15:clr>
        </p15:guide>
        <p15:guide id="2" orient="horz" pos="1353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middle">
  <p:cSld name="ONE_COLUMN_TEXT_1_2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42"/>
          <p:cNvGrpSpPr/>
          <p:nvPr/>
        </p:nvGrpSpPr>
        <p:grpSpPr>
          <a:xfrm>
            <a:off x="3253950" y="1202208"/>
            <a:ext cx="2632899" cy="904617"/>
            <a:chOff x="3253950" y="1202208"/>
            <a:chExt cx="2632899" cy="904617"/>
          </a:xfrm>
        </p:grpSpPr>
        <p:sp>
          <p:nvSpPr>
            <p:cNvPr id="262" name="Google Shape;262;p42"/>
            <p:cNvSpPr/>
            <p:nvPr/>
          </p:nvSpPr>
          <p:spPr>
            <a:xfrm>
              <a:off x="3253950" y="1202325"/>
              <a:ext cx="2632800" cy="904500"/>
            </a:xfrm>
            <a:prstGeom prst="snip1Rect">
              <a:avLst>
                <a:gd fmla="val 351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3" name="Google Shape;263;p42"/>
            <p:cNvSpPr/>
            <p:nvPr/>
          </p:nvSpPr>
          <p:spPr>
            <a:xfrm rot="-6523">
              <a:off x="5570649" y="1202508"/>
              <a:ext cx="316201" cy="318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64" name="Google Shape;264;p42"/>
          <p:cNvSpPr txBox="1"/>
          <p:nvPr>
            <p:ph idx="1" type="subTitle"/>
          </p:nvPr>
        </p:nvSpPr>
        <p:spPr>
          <a:xfrm>
            <a:off x="3257163" y="1202200"/>
            <a:ext cx="2322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65" name="Google Shape;265;p42"/>
          <p:cNvSpPr txBox="1"/>
          <p:nvPr>
            <p:ph idx="2" type="body"/>
          </p:nvPr>
        </p:nvSpPr>
        <p:spPr>
          <a:xfrm>
            <a:off x="3257163" y="1460325"/>
            <a:ext cx="26328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42"/>
          <p:cNvSpPr/>
          <p:nvPr>
            <p:ph idx="3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67" name="Google Shape;267;p42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8" name="Google Shape;268;p42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9" name="Google Shape;269;p42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70" name="Google Shape;270;p42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right, long text">
  <p:cSld name="ONE_COLUMN_TEXT_1_1">
    <p:bg>
      <p:bgPr>
        <a:solidFill>
          <a:schemeClr val="lt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3"/>
          <p:cNvSpPr/>
          <p:nvPr/>
        </p:nvSpPr>
        <p:spPr>
          <a:xfrm>
            <a:off x="3253825" y="1202325"/>
            <a:ext cx="5453100" cy="904500"/>
          </a:xfrm>
          <a:prstGeom prst="snip1Rect">
            <a:avLst>
              <a:gd fmla="val 3501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73" name="Google Shape;273;p43"/>
          <p:cNvSpPr txBox="1"/>
          <p:nvPr>
            <p:ph idx="1" type="subTitle"/>
          </p:nvPr>
        </p:nvSpPr>
        <p:spPr>
          <a:xfrm>
            <a:off x="3253950" y="1202200"/>
            <a:ext cx="5136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74" name="Google Shape;274;p43"/>
          <p:cNvSpPr/>
          <p:nvPr>
            <p:ph idx="2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75" name="Google Shape;275;p43"/>
          <p:cNvSpPr txBox="1"/>
          <p:nvPr>
            <p:ph idx="3" type="body"/>
          </p:nvPr>
        </p:nvSpPr>
        <p:spPr>
          <a:xfrm>
            <a:off x="3253950" y="1460325"/>
            <a:ext cx="54531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6" name="Google Shape;276;p43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7" name="Google Shape;277;p43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8" name="Google Shape;278;p43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79" name="Google Shape;279;p43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80" name="Google Shape;280;p43"/>
          <p:cNvSpPr/>
          <p:nvPr/>
        </p:nvSpPr>
        <p:spPr>
          <a:xfrm rot="-6523">
            <a:off x="8390811" y="1202508"/>
            <a:ext cx="316201" cy="318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44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283" name="Google Shape;283;p44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84" name="Google Shape;284;p44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85" name="Google Shape;285;p44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86" name="Google Shape;286;p44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87" name="Google Shape;287;p44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44"/>
          <p:cNvSpPr txBox="1"/>
          <p:nvPr>
            <p:ph type="title"/>
          </p:nvPr>
        </p:nvSpPr>
        <p:spPr>
          <a:xfrm>
            <a:off x="2479675" y="1637413"/>
            <a:ext cx="418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9" name="Google Shape;289;p44"/>
          <p:cNvSpPr txBox="1"/>
          <p:nvPr>
            <p:ph idx="1" type="body"/>
          </p:nvPr>
        </p:nvSpPr>
        <p:spPr>
          <a:xfrm>
            <a:off x="2479675" y="2291377"/>
            <a:ext cx="4184700" cy="22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p44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91" name="Google Shape;291;p44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2">
  <p:cSld name="MAIN_POINT">
    <p:bg>
      <p:bgPr>
        <a:solidFill>
          <a:schemeClr val="lt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/>
          <p:nvPr>
            <p:ph idx="2" type="pic"/>
          </p:nvPr>
        </p:nvSpPr>
        <p:spPr>
          <a:xfrm rot="300107">
            <a:off x="4903200" y="846465"/>
            <a:ext cx="3950142" cy="3456249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4" name="Google Shape;294;p45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5" name="Google Shape;295;p45"/>
          <p:cNvSpPr txBox="1"/>
          <p:nvPr>
            <p:ph type="title"/>
          </p:nvPr>
        </p:nvSpPr>
        <p:spPr>
          <a:xfrm>
            <a:off x="3339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6" name="Google Shape;296;p45"/>
          <p:cNvSpPr txBox="1"/>
          <p:nvPr>
            <p:ph idx="1" type="body"/>
          </p:nvPr>
        </p:nvSpPr>
        <p:spPr>
          <a:xfrm>
            <a:off x="333925" y="2291390"/>
            <a:ext cx="36621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97" name="Google Shape;297;p45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98" name="Google Shape;298;p45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3">
  <p:cSld name="MAIN_POINT_1">
    <p:bg>
      <p:bgPr>
        <a:solidFill>
          <a:schemeClr val="lt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6"/>
          <p:cNvSpPr/>
          <p:nvPr>
            <p:ph idx="2" type="pic"/>
          </p:nvPr>
        </p:nvSpPr>
        <p:spPr>
          <a:xfrm rot="-300067">
            <a:off x="550589" y="883785"/>
            <a:ext cx="3630622" cy="3658027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1" name="Google Shape;301;p46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" name="Google Shape;302;p46"/>
          <p:cNvSpPr txBox="1"/>
          <p:nvPr>
            <p:ph type="title"/>
          </p:nvPr>
        </p:nvSpPr>
        <p:spPr>
          <a:xfrm>
            <a:off x="52046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3" name="Google Shape;303;p46"/>
          <p:cNvSpPr txBox="1"/>
          <p:nvPr>
            <p:ph idx="1" type="body"/>
          </p:nvPr>
        </p:nvSpPr>
        <p:spPr>
          <a:xfrm>
            <a:off x="5204625" y="2291390"/>
            <a:ext cx="36621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304" name="Google Shape;304;p46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05" name="Google Shape;305;p46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and descriptions">
  <p:cSld name="SECTION_TITLE_AND_DESCRIPTION">
    <p:bg>
      <p:bgPr>
        <a:solidFill>
          <a:schemeClr val="lt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7"/>
          <p:cNvSpPr/>
          <p:nvPr>
            <p:ph idx="2" type="pic"/>
          </p:nvPr>
        </p:nvSpPr>
        <p:spPr>
          <a:xfrm>
            <a:off x="3544863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308" name="Google Shape;308;p47"/>
          <p:cNvSpPr/>
          <p:nvPr>
            <p:ph idx="3" type="pic"/>
          </p:nvPr>
        </p:nvSpPr>
        <p:spPr>
          <a:xfrm>
            <a:off x="6658538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309" name="Google Shape;309;p47"/>
          <p:cNvSpPr/>
          <p:nvPr>
            <p:ph idx="4" type="pic"/>
          </p:nvPr>
        </p:nvSpPr>
        <p:spPr>
          <a:xfrm>
            <a:off x="431200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310" name="Google Shape;310;p47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47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2" name="Google Shape;312;p47"/>
          <p:cNvSpPr txBox="1"/>
          <p:nvPr>
            <p:ph idx="1" type="subTitle"/>
          </p:nvPr>
        </p:nvSpPr>
        <p:spPr>
          <a:xfrm>
            <a:off x="381100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313" name="Google Shape;313;p47"/>
          <p:cNvSpPr txBox="1"/>
          <p:nvPr>
            <p:ph idx="5" type="subTitle"/>
          </p:nvPr>
        </p:nvSpPr>
        <p:spPr>
          <a:xfrm>
            <a:off x="3494775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314" name="Google Shape;314;p47"/>
          <p:cNvSpPr txBox="1"/>
          <p:nvPr>
            <p:ph idx="6" type="subTitle"/>
          </p:nvPr>
        </p:nvSpPr>
        <p:spPr>
          <a:xfrm>
            <a:off x="6608438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315" name="Google Shape;315;p47"/>
          <p:cNvSpPr txBox="1"/>
          <p:nvPr>
            <p:ph idx="7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16" name="Google Shape;316;p47"/>
          <p:cNvSpPr txBox="1"/>
          <p:nvPr>
            <p:ph idx="8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wo column bullet points">
  <p:cSld name="CAPTION_ONLY">
    <p:bg>
      <p:bgPr>
        <a:solidFill>
          <a:schemeClr val="lt1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48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319" name="Google Shape;319;p48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320" name="Google Shape;320;p48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21" name="Google Shape;321;p48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22" name="Google Shape;322;p48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23" name="Google Shape;323;p48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48"/>
          <p:cNvSpPr txBox="1"/>
          <p:nvPr>
            <p:ph type="title"/>
          </p:nvPr>
        </p:nvSpPr>
        <p:spPr>
          <a:xfrm>
            <a:off x="333925" y="124951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5" name="Google Shape;325;p48"/>
          <p:cNvSpPr txBox="1"/>
          <p:nvPr>
            <p:ph idx="1" type="body"/>
          </p:nvPr>
        </p:nvSpPr>
        <p:spPr>
          <a:xfrm>
            <a:off x="333925" y="2291377"/>
            <a:ext cx="3662100" cy="20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48"/>
          <p:cNvSpPr txBox="1"/>
          <p:nvPr>
            <p:ph idx="2" type="body"/>
          </p:nvPr>
        </p:nvSpPr>
        <p:spPr>
          <a:xfrm>
            <a:off x="4595076" y="2291377"/>
            <a:ext cx="3662100" cy="20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7" name="Google Shape;327;p48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28" name="Google Shape;328;p48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eck for understanding">
  <p:cSld name="CAPTION_ONLY_1">
    <p:bg>
      <p:bgPr>
        <a:solidFill>
          <a:schemeClr val="lt1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p49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sp>
          <p:nvSpPr>
            <p:cNvPr id="331" name="Google Shape;331;p49"/>
            <p:cNvSpPr/>
            <p:nvPr/>
          </p:nvSpPr>
          <p:spPr>
            <a:xfrm>
              <a:off x="0" y="100"/>
              <a:ext cx="9144000" cy="5143500"/>
            </a:xfrm>
            <a:prstGeom prst="snip1Rect">
              <a:avLst>
                <a:gd fmla="val 4086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32" name="Google Shape;332;p49"/>
            <p:cNvSpPr/>
            <p:nvPr/>
          </p:nvSpPr>
          <p:spPr>
            <a:xfrm rot="10800000">
              <a:off x="7036475" y="1219850"/>
              <a:ext cx="2107500" cy="186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33" name="Google Shape;333;p49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34" name="Google Shape;334;p49"/>
          <p:cNvSpPr txBox="1"/>
          <p:nvPr>
            <p:ph idx="1" type="body"/>
          </p:nvPr>
        </p:nvSpPr>
        <p:spPr>
          <a:xfrm>
            <a:off x="333925" y="3630575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5" name="Google Shape;335;p49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49"/>
          <p:cNvSpPr txBox="1"/>
          <p:nvPr>
            <p:ph type="title"/>
          </p:nvPr>
        </p:nvSpPr>
        <p:spPr>
          <a:xfrm>
            <a:off x="333925" y="124951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7" name="Google Shape;337;p49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38" name="Google Shape;338;p49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39" name="Google Shape;339;p49"/>
          <p:cNvSpPr txBox="1"/>
          <p:nvPr>
            <p:ph idx="4" type="body"/>
          </p:nvPr>
        </p:nvSpPr>
        <p:spPr>
          <a:xfrm>
            <a:off x="333925" y="3184176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0" name="Google Shape;340;p49"/>
          <p:cNvSpPr txBox="1"/>
          <p:nvPr>
            <p:ph idx="5" type="body"/>
          </p:nvPr>
        </p:nvSpPr>
        <p:spPr>
          <a:xfrm>
            <a:off x="333925" y="2737776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1" name="Google Shape;341;p49"/>
          <p:cNvSpPr txBox="1"/>
          <p:nvPr>
            <p:ph idx="6" type="body"/>
          </p:nvPr>
        </p:nvSpPr>
        <p:spPr>
          <a:xfrm>
            <a:off x="333925" y="2291377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ype">
  <p:cSld name="BIG_NUMBER">
    <p:bg>
      <p:bgPr>
        <a:solidFill>
          <a:schemeClr val="lt2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0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50"/>
          <p:cNvSpPr txBox="1"/>
          <p:nvPr/>
        </p:nvSpPr>
        <p:spPr>
          <a:xfrm>
            <a:off x="2479675" y="2285400"/>
            <a:ext cx="418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Questions?</a:t>
            </a:r>
            <a:endParaRPr sz="2800">
              <a:solidFill>
                <a:schemeClr val="lt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grpSp>
        <p:nvGrpSpPr>
          <p:cNvPr id="345" name="Google Shape;345;p50"/>
          <p:cNvGrpSpPr/>
          <p:nvPr/>
        </p:nvGrpSpPr>
        <p:grpSpPr>
          <a:xfrm rot="300150">
            <a:off x="1277165" y="536719"/>
            <a:ext cx="6594752" cy="4068617"/>
            <a:chOff x="1277284" y="536521"/>
            <a:chExt cx="6594691" cy="4068580"/>
          </a:xfrm>
        </p:grpSpPr>
        <p:grpSp>
          <p:nvGrpSpPr>
            <p:cNvPr id="346" name="Google Shape;346;p50"/>
            <p:cNvGrpSpPr/>
            <p:nvPr/>
          </p:nvGrpSpPr>
          <p:grpSpPr>
            <a:xfrm>
              <a:off x="1277284" y="891662"/>
              <a:ext cx="6594077" cy="3357715"/>
              <a:chOff x="1277284" y="891662"/>
              <a:chExt cx="6594077" cy="3357715"/>
            </a:xfrm>
          </p:grpSpPr>
          <p:sp>
            <p:nvSpPr>
              <p:cNvPr id="347" name="Google Shape;347;p50"/>
              <p:cNvSpPr/>
              <p:nvPr/>
            </p:nvSpPr>
            <p:spPr>
              <a:xfrm rot="-2190">
                <a:off x="6458566" y="1876325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48" name="Google Shape;348;p50"/>
              <p:cNvSpPr/>
              <p:nvPr/>
            </p:nvSpPr>
            <p:spPr>
              <a:xfrm flipH="1" rot="-2453">
                <a:off x="1277283" y="893727"/>
                <a:ext cx="4625401" cy="3354000"/>
              </a:xfrm>
              <a:prstGeom prst="snip1Rect">
                <a:avLst>
                  <a:gd fmla="val 49693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49" name="Google Shape;349;p50"/>
              <p:cNvSpPr/>
              <p:nvPr/>
            </p:nvSpPr>
            <p:spPr>
              <a:xfrm flipH="1" rot="10797547">
                <a:off x="3245660" y="893312"/>
                <a:ext cx="4625701" cy="3354000"/>
              </a:xfrm>
              <a:prstGeom prst="snip1Rect">
                <a:avLst>
                  <a:gd fmla="val 49663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50" name="Google Shape;350;p50"/>
              <p:cNvSpPr/>
              <p:nvPr/>
            </p:nvSpPr>
            <p:spPr>
              <a:xfrm rot="-2190">
                <a:off x="1277395" y="1877958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51" name="Google Shape;351;p50"/>
            <p:cNvSpPr/>
            <p:nvPr/>
          </p:nvSpPr>
          <p:spPr>
            <a:xfrm rot="-4517241">
              <a:off x="1416960" y="705331"/>
              <a:ext cx="1386770" cy="13615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352" name="Google Shape;352;p50"/>
            <p:cNvSpPr/>
            <p:nvPr/>
          </p:nvSpPr>
          <p:spPr>
            <a:xfrm rot="6281922">
              <a:off x="6346470" y="3074659"/>
              <a:ext cx="1384510" cy="136318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53" name="Google Shape;353;p50"/>
          <p:cNvSpPr txBox="1"/>
          <p:nvPr>
            <p:ph type="title"/>
          </p:nvPr>
        </p:nvSpPr>
        <p:spPr>
          <a:xfrm>
            <a:off x="2479675" y="2285400"/>
            <a:ext cx="4184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4" name="Google Shape;354;p50"/>
          <p:cNvSpPr txBox="1"/>
          <p:nvPr>
            <p:ph idx="1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55" name="Google Shape;355;p50"/>
          <p:cNvSpPr txBox="1"/>
          <p:nvPr>
            <p:ph idx="2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 type="blank">
  <p:cSld name="BLANK">
    <p:bg>
      <p:bgPr>
        <a:solidFill>
          <a:schemeClr val="lt1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1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51"/>
          <p:cNvSpPr txBox="1"/>
          <p:nvPr>
            <p:ph idx="1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59" name="Google Shape;359;p51"/>
          <p:cNvSpPr txBox="1"/>
          <p:nvPr>
            <p:ph idx="2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theme" Target="../theme/theme3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47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475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2"/>
          <p:cNvSpPr txBox="1"/>
          <p:nvPr>
            <p:ph type="ctrTitle"/>
          </p:nvPr>
        </p:nvSpPr>
        <p:spPr>
          <a:xfrm>
            <a:off x="1826325" y="1559575"/>
            <a:ext cx="5494800" cy="22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52"/>
          <p:cNvSpPr txBox="1"/>
          <p:nvPr>
            <p:ph idx="1" type="subTitle"/>
          </p:nvPr>
        </p:nvSpPr>
        <p:spPr>
          <a:xfrm>
            <a:off x="1826325" y="3252475"/>
            <a:ext cx="5494800" cy="5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Machine Learning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3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EDA?</a:t>
            </a:r>
            <a:endParaRPr/>
          </a:p>
        </p:txBody>
      </p:sp>
      <p:sp>
        <p:nvSpPr>
          <p:cNvPr id="371" name="Google Shape;371;p53"/>
          <p:cNvSpPr txBox="1"/>
          <p:nvPr>
            <p:ph idx="1" type="body"/>
          </p:nvPr>
        </p:nvSpPr>
        <p:spPr>
          <a:xfrm>
            <a:off x="311700" y="1152475"/>
            <a:ext cx="8520600" cy="29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The analysis of datasets based on various numerical methods and graphical tools.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Exploring data for patterns, trends, underlying structure, deviations from the trend, anomalies and strange structures.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It facilitates discovering unexpected as well as conforming the expected.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Another definition: An approach/philosophy for data analysis that employs a variety of techniques (mostly graphical).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4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of EDA</a:t>
            </a:r>
            <a:endParaRPr/>
          </a:p>
        </p:txBody>
      </p:sp>
      <p:sp>
        <p:nvSpPr>
          <p:cNvPr id="377" name="Google Shape;377;p54"/>
          <p:cNvSpPr txBox="1"/>
          <p:nvPr>
            <p:ph idx="1" type="body"/>
          </p:nvPr>
        </p:nvSpPr>
        <p:spPr>
          <a:xfrm>
            <a:off x="311700" y="1152475"/>
            <a:ext cx="8520600" cy="33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Maximize insight into a dataset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Uncover underlying structure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Extract important variables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Detect outliers and anomalies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Test underlying assumptions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Develop valid models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Determine optimal factor settings (Xs)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5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of EDA</a:t>
            </a:r>
            <a:endParaRPr/>
          </a:p>
        </p:txBody>
      </p:sp>
      <p:sp>
        <p:nvSpPr>
          <p:cNvPr id="383" name="Google Shape;383;p55"/>
          <p:cNvSpPr txBox="1"/>
          <p:nvPr>
            <p:ph idx="1" type="body"/>
          </p:nvPr>
        </p:nvSpPr>
        <p:spPr>
          <a:xfrm>
            <a:off x="311700" y="1152475"/>
            <a:ext cx="8520600" cy="13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goal of EDA is to open-mindedly explore data.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Tukey</a:t>
            </a:r>
            <a:r>
              <a:rPr lang="en"/>
              <a:t>: </a:t>
            </a:r>
            <a:r>
              <a:rPr i="1" lang="en"/>
              <a:t>EDA is detective work… Unless detective finds the clues, judge or jury has nothing to consider</a:t>
            </a:r>
            <a:r>
              <a:rPr lang="en"/>
              <a:t>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6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of EDA</a:t>
            </a:r>
            <a:endParaRPr/>
          </a:p>
        </p:txBody>
      </p:sp>
      <p:sp>
        <p:nvSpPr>
          <p:cNvPr id="389" name="Google Shape;389;p56"/>
          <p:cNvSpPr txBox="1"/>
          <p:nvPr>
            <p:ph idx="1" type="body"/>
          </p:nvPr>
        </p:nvSpPr>
        <p:spPr>
          <a:xfrm>
            <a:off x="311700" y="1152475"/>
            <a:ext cx="8520600" cy="3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Generate good research questions</a:t>
            </a:r>
            <a:endParaRPr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Data restructuring: You may need to make new variables from the existing ones.</a:t>
            </a:r>
            <a:endParaRPr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Instead of using two variables, obtaining rates or percentages of them</a:t>
            </a:r>
            <a:endParaRPr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Creating dummy variables for categorical variables</a:t>
            </a:r>
            <a:endParaRPr/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Based on the research questions, use appropriate graphical tools and obtain descriptive statistics. Try to understand the data structure, relationships, anomalies, unexpected behaviors.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Try to identify confounding variables, interaction relations and multicollinearity, if any.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Handle missing observations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Decide on the need of transformation (on response and/or explanatory variables).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Decide on the hypothesis based on your research questions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7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of EDA</a:t>
            </a:r>
            <a:endParaRPr/>
          </a:p>
        </p:txBody>
      </p:sp>
      <p:sp>
        <p:nvSpPr>
          <p:cNvPr id="395" name="Google Shape;395;p57"/>
          <p:cNvSpPr txBox="1"/>
          <p:nvPr>
            <p:ph idx="1" type="body"/>
          </p:nvPr>
        </p:nvSpPr>
        <p:spPr>
          <a:xfrm>
            <a:off x="311700" y="1152475"/>
            <a:ext cx="8520600" cy="3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Exploratory data analysis is generally cross-classified in two ways. First, each method is either non-graphical or graphical. And second, each method is either univariate or multivariate (usually just bivariate).</a:t>
            </a:r>
            <a:endParaRPr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Non-graphical methods generally involve calculation of summary statistics, while graphical methods obviously summarize the data in a diagrammatic or pictorial way. </a:t>
            </a:r>
            <a:endParaRPr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Univariate methods look at one variable (data column) at a time, while multivariate methods look at two or more variables at a time to explore relationships. Usually our multivariate EDA will be bivariate (looking at exactly two variables), but occasionally it will involve three or more variables. </a:t>
            </a:r>
            <a:endParaRPr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It is almost always a good idea to perform univariate EDA on each of the components of a multivariate EDA before performing the multivariate EDA.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8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401" name="Google Shape;401;p58"/>
          <p:cNvSpPr txBox="1"/>
          <p:nvPr>
            <p:ph idx="1" type="body"/>
          </p:nvPr>
        </p:nvSpPr>
        <p:spPr>
          <a:xfrm>
            <a:off x="311700" y="1152475"/>
            <a:ext cx="3999900" cy="3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9 variables fro 329 metropolitan areas 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Climate mildness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Housing cost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Health care and environment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Crime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Transportation supply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Educational opportunities and effort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Arts and culture facilities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Recreational opportunities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Personal economic outlook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+ latitude and longitude of each city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58"/>
          <p:cNvSpPr txBox="1"/>
          <p:nvPr>
            <p:ph idx="2" type="body"/>
          </p:nvPr>
        </p:nvSpPr>
        <p:spPr>
          <a:xfrm>
            <a:off x="4832400" y="1152475"/>
            <a:ext cx="3999900" cy="28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Questions</a:t>
            </a:r>
            <a:r>
              <a:rPr lang="en"/>
              <a:t>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How is climate related to location?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Are there clusters in the data (excluding location)?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Are nearby cities similar?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Any relation bw economic outlook and crime?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What else???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9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Types and Measurement Scales</a:t>
            </a:r>
            <a:endParaRPr/>
          </a:p>
        </p:txBody>
      </p:sp>
      <p:sp>
        <p:nvSpPr>
          <p:cNvPr id="408" name="Google Shape;408;p59"/>
          <p:cNvSpPr txBox="1"/>
          <p:nvPr>
            <p:ph idx="1" type="body"/>
          </p:nvPr>
        </p:nvSpPr>
        <p:spPr>
          <a:xfrm>
            <a:off x="311700" y="1152475"/>
            <a:ext cx="8520600" cy="26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 may be one of several types, and have a defined set of valid values.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Two main classes of variables are:</a:t>
            </a:r>
            <a:endParaRPr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b="1" lang="en"/>
              <a:t>Continuous Variables</a:t>
            </a:r>
            <a:r>
              <a:rPr lang="en"/>
              <a:t>: (Quantitative, numeric).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Continuous data can be rounded or \binned to create categorical data.</a:t>
            </a:r>
            <a:endParaRPr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b="1" lang="en"/>
              <a:t>Categorical Variables</a:t>
            </a:r>
            <a:r>
              <a:rPr lang="en"/>
              <a:t>: (Discrete, qualitative).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Some categorical variables (e.g. counts) are sometimes treated as continuous.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0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Categorical Data</a:t>
            </a:r>
            <a:endParaRPr/>
          </a:p>
        </p:txBody>
      </p:sp>
      <p:sp>
        <p:nvSpPr>
          <p:cNvPr id="414" name="Google Shape;414;p60"/>
          <p:cNvSpPr txBox="1"/>
          <p:nvPr>
            <p:ph idx="1" type="body"/>
          </p:nvPr>
        </p:nvSpPr>
        <p:spPr>
          <a:xfrm>
            <a:off x="311700" y="1152475"/>
            <a:ext cx="8520600" cy="33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Unordered categorical data (nominal)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2 possible values (binary or dichotomous)</a:t>
            </a:r>
            <a:endParaRPr/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"/>
              <a:t>Examples: male/female, alive/dead, yes/no.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Greater than 2 possible values - No order to categories</a:t>
            </a:r>
            <a:endParaRPr/>
          </a:p>
          <a:p>
            <a:pPr indent="-3365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"/>
              <a:t>Examples: colors, religion, nationality.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Ordered categorical data (ordinal)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 Ratings or preferences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 Education level: high school &lt; bachelor’s &lt; master’s &lt; PhD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 Customer satisfaction: very dissatisfied &lt; dissatisfied &lt; neutral &lt; satisfied &lt; very satisfied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 T-shirt sizes: small &lt; medium &lt; large &lt; extra-large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1"/>
          <p:cNvSpPr txBox="1"/>
          <p:nvPr>
            <p:ph type="title"/>
          </p:nvPr>
        </p:nvSpPr>
        <p:spPr>
          <a:xfrm>
            <a:off x="2479675" y="2285400"/>
            <a:ext cx="41847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Summarizing Data With Tables and Plots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2"/>
          <p:cNvSpPr txBox="1"/>
          <p:nvPr>
            <p:ph type="title"/>
          </p:nvPr>
        </p:nvSpPr>
        <p:spPr>
          <a:xfrm>
            <a:off x="3339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 Chart</a:t>
            </a:r>
            <a:endParaRPr/>
          </a:p>
        </p:txBody>
      </p:sp>
      <p:sp>
        <p:nvSpPr>
          <p:cNvPr id="425" name="Google Shape;425;p62"/>
          <p:cNvSpPr txBox="1"/>
          <p:nvPr>
            <p:ph idx="1" type="body"/>
          </p:nvPr>
        </p:nvSpPr>
        <p:spPr>
          <a:xfrm>
            <a:off x="333925" y="2291390"/>
            <a:ext cx="3662100" cy="18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Data Type: Categorical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Use: Displays counts or values across distinct categories.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➤ Easy way to compare category performance or frequency.</a:t>
            </a:r>
            <a:endParaRPr/>
          </a:p>
        </p:txBody>
      </p:sp>
      <p:pic>
        <p:nvPicPr>
          <p:cNvPr id="426" name="Google Shape;42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025" y="521475"/>
            <a:ext cx="4843174" cy="4100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3"/>
          <p:cNvSpPr/>
          <p:nvPr>
            <p:ph idx="2" type="pic"/>
          </p:nvPr>
        </p:nvSpPr>
        <p:spPr>
          <a:xfrm rot="299990">
            <a:off x="474594" y="2058569"/>
            <a:ext cx="3686628" cy="2455534"/>
          </a:xfrm>
          <a:prstGeom prst="snip1Rect">
            <a:avLst>
              <a:gd fmla="val 16667" name="adj"/>
            </a:avLst>
          </a:prstGeom>
        </p:spPr>
      </p:sp>
      <p:sp>
        <p:nvSpPr>
          <p:cNvPr id="432" name="Google Shape;432;p63"/>
          <p:cNvSpPr txBox="1"/>
          <p:nvPr>
            <p:ph type="title"/>
          </p:nvPr>
        </p:nvSpPr>
        <p:spPr>
          <a:xfrm>
            <a:off x="333925" y="587150"/>
            <a:ext cx="847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 Chart</a:t>
            </a:r>
            <a:endParaRPr/>
          </a:p>
        </p:txBody>
      </p:sp>
      <p:sp>
        <p:nvSpPr>
          <p:cNvPr id="433" name="Google Shape;433;p63"/>
          <p:cNvSpPr txBox="1"/>
          <p:nvPr>
            <p:ph idx="1" type="body"/>
          </p:nvPr>
        </p:nvSpPr>
        <p:spPr>
          <a:xfrm>
            <a:off x="333925" y="1163150"/>
            <a:ext cx="84756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63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63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63"/>
          <p:cNvSpPr/>
          <p:nvPr>
            <p:ph idx="3" type="pic"/>
          </p:nvPr>
        </p:nvSpPr>
        <p:spPr>
          <a:xfrm rot="-300269">
            <a:off x="4499756" y="2058693"/>
            <a:ext cx="3686654" cy="2455534"/>
          </a:xfrm>
          <a:prstGeom prst="snip1Rect">
            <a:avLst>
              <a:gd fmla="val 16667" name="adj"/>
            </a:avLst>
          </a:prstGeom>
        </p:spPr>
      </p:sp>
      <p:pic>
        <p:nvPicPr>
          <p:cNvPr id="437" name="Google Shape;43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0455" y="1988113"/>
            <a:ext cx="4438883" cy="259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093" y="1983999"/>
            <a:ext cx="3670545" cy="276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4"/>
          <p:cNvSpPr txBox="1"/>
          <p:nvPr>
            <p:ph type="title"/>
          </p:nvPr>
        </p:nvSpPr>
        <p:spPr>
          <a:xfrm>
            <a:off x="52046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Histogram</a:t>
            </a:r>
            <a:endParaRPr/>
          </a:p>
        </p:txBody>
      </p:sp>
      <p:sp>
        <p:nvSpPr>
          <p:cNvPr id="444" name="Google Shape;444;p64"/>
          <p:cNvSpPr txBox="1"/>
          <p:nvPr>
            <p:ph idx="1" type="body"/>
          </p:nvPr>
        </p:nvSpPr>
        <p:spPr>
          <a:xfrm>
            <a:off x="5204625" y="2291390"/>
            <a:ext cx="3662100" cy="20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Data Type: Continuous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Use: Visualizes the distribution of a numeric variable by grouping data into bins.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➤ Helps detect skewness, peaks, and spread.</a:t>
            </a:r>
            <a:endParaRPr/>
          </a:p>
        </p:txBody>
      </p:sp>
      <p:pic>
        <p:nvPicPr>
          <p:cNvPr id="445" name="Google Shape;44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150" y="1584425"/>
            <a:ext cx="4899825" cy="2769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5"/>
          <p:cNvSpPr txBox="1"/>
          <p:nvPr>
            <p:ph type="title"/>
          </p:nvPr>
        </p:nvSpPr>
        <p:spPr>
          <a:xfrm>
            <a:off x="3339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Scatter Plot</a:t>
            </a:r>
            <a:endParaRPr/>
          </a:p>
        </p:txBody>
      </p:sp>
      <p:sp>
        <p:nvSpPr>
          <p:cNvPr id="451" name="Google Shape;451;p65"/>
          <p:cNvSpPr txBox="1"/>
          <p:nvPr>
            <p:ph idx="1" type="body"/>
          </p:nvPr>
        </p:nvSpPr>
        <p:spPr>
          <a:xfrm>
            <a:off x="333925" y="2291390"/>
            <a:ext cx="3662100" cy="20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Data Type: Continuous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Use: Plots the relationship or correlation between two numeric variables.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➤ Reveals trends, clusters, or outliers.</a:t>
            </a:r>
            <a:endParaRPr/>
          </a:p>
        </p:txBody>
      </p:sp>
      <p:pic>
        <p:nvPicPr>
          <p:cNvPr id="452" name="Google Shape;45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0825" y="739863"/>
            <a:ext cx="4843175" cy="3549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6"/>
          <p:cNvSpPr txBox="1"/>
          <p:nvPr>
            <p:ph type="title"/>
          </p:nvPr>
        </p:nvSpPr>
        <p:spPr>
          <a:xfrm>
            <a:off x="52046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Heatmap</a:t>
            </a:r>
            <a:endParaRPr/>
          </a:p>
        </p:txBody>
      </p:sp>
      <p:sp>
        <p:nvSpPr>
          <p:cNvPr id="458" name="Google Shape;458;p66"/>
          <p:cNvSpPr txBox="1"/>
          <p:nvPr>
            <p:ph idx="1" type="body"/>
          </p:nvPr>
        </p:nvSpPr>
        <p:spPr>
          <a:xfrm>
            <a:off x="5204625" y="2291390"/>
            <a:ext cx="3662100" cy="20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Data Type: Continuous (matrix)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Use: Color-coded matrix showing correlation coefficients between features.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➤ Helps detect multicollinearity or strong linear relationships.</a:t>
            </a:r>
            <a:endParaRPr/>
          </a:p>
        </p:txBody>
      </p:sp>
      <p:pic>
        <p:nvPicPr>
          <p:cNvPr id="459" name="Google Shape;45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09275"/>
            <a:ext cx="4860150" cy="36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7"/>
          <p:cNvSpPr txBox="1"/>
          <p:nvPr>
            <p:ph type="title"/>
          </p:nvPr>
        </p:nvSpPr>
        <p:spPr>
          <a:xfrm>
            <a:off x="3339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Pie Chart</a:t>
            </a:r>
            <a:endParaRPr/>
          </a:p>
        </p:txBody>
      </p:sp>
      <p:sp>
        <p:nvSpPr>
          <p:cNvPr id="465" name="Google Shape;465;p67"/>
          <p:cNvSpPr txBox="1"/>
          <p:nvPr>
            <p:ph idx="1" type="body"/>
          </p:nvPr>
        </p:nvSpPr>
        <p:spPr>
          <a:xfrm>
            <a:off x="333925" y="2291390"/>
            <a:ext cx="3662100" cy="26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Data Type: Categorical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Use: Circular chart divided into slices to illustrate numerical proportions of categories.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➤ Helps visualize the relative percentage or share of categories within a whole. Useful when comparing a small number of categories.</a:t>
            </a:r>
            <a:endParaRPr/>
          </a:p>
        </p:txBody>
      </p:sp>
      <p:pic>
        <p:nvPicPr>
          <p:cNvPr id="466" name="Google Shape;46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1175" y="414375"/>
            <a:ext cx="4043800" cy="43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68"/>
          <p:cNvSpPr txBox="1"/>
          <p:nvPr>
            <p:ph type="title"/>
          </p:nvPr>
        </p:nvSpPr>
        <p:spPr>
          <a:xfrm>
            <a:off x="311700" y="2150850"/>
            <a:ext cx="85206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esson 1">
  <a:themeElements>
    <a:clrScheme name="Simple Light">
      <a:dk1>
        <a:srgbClr val="137C3F"/>
      </a:dk1>
      <a:lt1>
        <a:srgbClr val="FFFCF5"/>
      </a:lt1>
      <a:dk2>
        <a:srgbClr val="146AEB"/>
      </a:dk2>
      <a:lt2>
        <a:srgbClr val="FBA084"/>
      </a:lt2>
      <a:accent1>
        <a:srgbClr val="000000"/>
      </a:accent1>
      <a:accent2>
        <a:srgbClr val="FFFFB3"/>
      </a:accent2>
      <a:accent3>
        <a:srgbClr val="B6D7A8"/>
      </a:accent3>
      <a:accent4>
        <a:srgbClr val="A4C2F4"/>
      </a:accent4>
      <a:accent5>
        <a:srgbClr val="B6D7A8"/>
      </a:accent5>
      <a:accent6>
        <a:srgbClr val="B4A7D6"/>
      </a:accent6>
      <a:hlink>
        <a:srgbClr val="146A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