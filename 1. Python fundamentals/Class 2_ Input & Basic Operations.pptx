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87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embeddedFontLst>
    <p:embeddedFont>
      <p:font typeface="Urbanist" panose="020B0604020202020204" charset="0"/>
      <p:regular r:id="rId32"/>
      <p:bold r:id="rId33"/>
      <p:italic r:id="rId34"/>
      <p:boldItalic r:id="rId35"/>
    </p:embeddedFont>
    <p:embeddedFont>
      <p:font typeface="Urbanist Medium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DCC642-DEE0-40C6-8729-8039D8EA6E59}">
  <a:tblStyle styleId="{9DDCC642-DEE0-40C6-8729-8039D8EA6E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6548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2167383"/>
            <a:ext cx="11029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MASTERING PYTHON FOUNDATIONS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2657921"/>
            <a:ext cx="11581447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Input &amp; </a:t>
            </a:r>
            <a:r>
              <a:rPr lang="en-US" sz="63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Basic Operations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823692"/>
            <a:ext cx="85725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Live Class 2: Deep diving into User Interaction, Arithmetic Logic, and Debugging Workflows.</a:t>
            </a:r>
            <a:endParaRPr dirty="0"/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49ACE7E2-F5A8-0468-6178-56144459921E}"/>
              </a:ext>
            </a:extLst>
          </p:cNvPr>
          <p:cNvSpPr txBox="1"/>
          <p:nvPr/>
        </p:nvSpPr>
        <p:spPr>
          <a:xfrm>
            <a:off x="1809750" y="4797920"/>
            <a:ext cx="85725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Mahmudul Haque Joy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986087"/>
            <a:ext cx="2536775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2033" y="2986087"/>
            <a:ext cx="2536775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3042" y="2986087"/>
            <a:ext cx="2536775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74050" y="2986087"/>
            <a:ext cx="2536775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581025" y="3895725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77638" y="3233737"/>
            <a:ext cx="214354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Phase 01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28675" y="3757612"/>
            <a:ext cx="20414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Machine Logic &amp; Math Foundations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608646" y="3233737"/>
            <a:ext cx="214354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Phase 02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659683" y="3757612"/>
            <a:ext cx="20414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Operators: The Logical Engine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439655" y="3233737"/>
            <a:ext cx="214354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Phase 03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490692" y="3757612"/>
            <a:ext cx="20414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Data Transformation &amp; Interaction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270663" y="3233737"/>
            <a:ext cx="214354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Phase 04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321700" y="3757612"/>
            <a:ext cx="20414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Debugging &amp; Precision Logic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Learning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Roadmap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5381625" y="2507456"/>
            <a:ext cx="142875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305276" y="2831306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01. The Language of Machines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81025" y="4136231"/>
            <a:ext cx="11029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Exploring number systems, data representation, and logic abstraction.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21718"/>
            <a:ext cx="5229225" cy="3148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321718"/>
            <a:ext cx="5229225" cy="314801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971550" y="3455193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Decimal (Human)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71550" y="3979068"/>
            <a:ext cx="4448175" cy="90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Base-10 system. Uses digits 0-9. Every position represents a power of 10. Natural to human counting.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72275" y="3455193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Binary (Machine)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772275" y="3979068"/>
            <a:ext cx="4448175" cy="90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Base-2 system. Uses digits 0-1. Every position represents a power of 2. Fundamental to transistor logic.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750343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750343"/>
            <a:ext cx="2095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81825" y="2750343"/>
            <a:ext cx="2762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Base-10 vs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Base-2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/>
          <p:nvPr/>
        </p:nvSpPr>
        <p:spPr>
          <a:xfrm>
            <a:off x="5381625" y="2507456"/>
            <a:ext cx="142875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305276" y="2831306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02. Defining Operators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81025" y="4136231"/>
            <a:ext cx="11029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Understanding the fundamental tools that perform actions on data.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95475"/>
            <a:ext cx="522922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757612"/>
            <a:ext cx="1579215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581025" y="1895475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Definition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581025" y="2419350"/>
            <a:ext cx="5229225" cy="90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 </a:t>
            </a: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Operator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is a special symbol used to perform specific mathematical, relational, or logical computations on values called </a:t>
            </a: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Operands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81025" y="4976812"/>
            <a:ext cx="52292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Here, + is the Operator, and 10, 20 are the Operands.</a:t>
            </a:r>
            <a:endParaRPr/>
          </a:p>
        </p:txBody>
      </p:sp>
      <p:pic>
        <p:nvPicPr>
          <p:cNvPr id="160" name="Google Shape;16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1905000"/>
            <a:ext cx="5210175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4043362"/>
            <a:ext cx="95056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What is an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Operator?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47862"/>
            <a:ext cx="2543175" cy="180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9950" y="1947862"/>
            <a:ext cx="2543175" cy="180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947862"/>
            <a:ext cx="2543175" cy="180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67800" y="1947862"/>
            <a:ext cx="2543175" cy="180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038600"/>
            <a:ext cx="3486150" cy="180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52925" y="4038600"/>
            <a:ext cx="3486150" cy="180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24825" y="4038600"/>
            <a:ext cx="3486150" cy="180498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971550" y="2338387"/>
            <a:ext cx="185023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Arithmetic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971550" y="2862262"/>
            <a:ext cx="1762125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Calculations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3800475" y="2338387"/>
            <a:ext cx="185023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Comparison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3800475" y="2862262"/>
            <a:ext cx="1762125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Decision Making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629400" y="2338387"/>
            <a:ext cx="185023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Logical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629400" y="2862262"/>
            <a:ext cx="1762125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Combining Truths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9458325" y="2338387"/>
            <a:ext cx="185023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Assignment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9458325" y="2862262"/>
            <a:ext cx="1762125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Storing Data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971550" y="4429125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Bitwise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971550" y="4953000"/>
            <a:ext cx="27051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Binary Manipulation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4743450" y="4429125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Membership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4743450" y="4953000"/>
            <a:ext cx="27051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Searching in Data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515350" y="4429125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Identity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8515350" y="4953000"/>
            <a:ext cx="27051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Object Memory Checks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Python's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Operator Categories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/>
          <p:nvPr/>
        </p:nvSpPr>
        <p:spPr>
          <a:xfrm>
            <a:off x="5381625" y="2507456"/>
            <a:ext cx="142875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305276" y="2831306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03. Arithmetic Operators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81025" y="4136231"/>
            <a:ext cx="11029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mathematical core of programming logic.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/>
          <p:nvPr/>
        </p:nvSpPr>
        <p:spPr>
          <a:xfrm>
            <a:off x="581025" y="2276475"/>
            <a:ext cx="2041326" cy="285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2622351" y="2276475"/>
            <a:ext cx="2579340" cy="285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5201691" y="2276475"/>
            <a:ext cx="3750468" cy="285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8952160" y="2276475"/>
            <a:ext cx="2658814" cy="285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8952160" y="2957512"/>
            <a:ext cx="2658814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8952160" y="3609975"/>
            <a:ext cx="2658814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5201691" y="4262437"/>
            <a:ext cx="3750468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8952160" y="4262437"/>
            <a:ext cx="2658814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2622351" y="4914900"/>
            <a:ext cx="257934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201691" y="4914900"/>
            <a:ext cx="3750468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8952160" y="4914900"/>
            <a:ext cx="2658814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2622351" y="5567362"/>
            <a:ext cx="257934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201691" y="5567362"/>
            <a:ext cx="3750468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8952160" y="5567362"/>
            <a:ext cx="2658814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81025" y="6219825"/>
            <a:ext cx="2041326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2622351" y="6219825"/>
            <a:ext cx="257934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201691" y="6219825"/>
            <a:ext cx="3750468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8952160" y="6219825"/>
            <a:ext cx="2658814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81025" y="6872287"/>
            <a:ext cx="2041326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2622351" y="6872287"/>
            <a:ext cx="257934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201691" y="6872287"/>
            <a:ext cx="3750468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8952160" y="6872287"/>
            <a:ext cx="2658814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Core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Arithmetic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F76E67-5E88-564A-F630-6485A43E1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86429"/>
              </p:ext>
            </p:extLst>
          </p:nvPr>
        </p:nvGraphicFramePr>
        <p:xfrm>
          <a:off x="609600" y="2512376"/>
          <a:ext cx="11001376" cy="3683632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750344">
                  <a:extLst>
                    <a:ext uri="{9D8B030D-6E8A-4147-A177-3AD203B41FA5}">
                      <a16:colId xmlns:a16="http://schemas.microsoft.com/office/drawing/2014/main" val="4055133737"/>
                    </a:ext>
                  </a:extLst>
                </a:gridCol>
                <a:gridCol w="2750344">
                  <a:extLst>
                    <a:ext uri="{9D8B030D-6E8A-4147-A177-3AD203B41FA5}">
                      <a16:colId xmlns:a16="http://schemas.microsoft.com/office/drawing/2014/main" val="1258095149"/>
                    </a:ext>
                  </a:extLst>
                </a:gridCol>
                <a:gridCol w="2750344">
                  <a:extLst>
                    <a:ext uri="{9D8B030D-6E8A-4147-A177-3AD203B41FA5}">
                      <a16:colId xmlns:a16="http://schemas.microsoft.com/office/drawing/2014/main" val="3948909947"/>
                    </a:ext>
                  </a:extLst>
                </a:gridCol>
                <a:gridCol w="2750344">
                  <a:extLst>
                    <a:ext uri="{9D8B030D-6E8A-4147-A177-3AD203B41FA5}">
                      <a16:colId xmlns:a16="http://schemas.microsoft.com/office/drawing/2014/main" val="1860898155"/>
                    </a:ext>
                  </a:extLst>
                </a:gridCol>
              </a:tblGrid>
              <a:tr h="4604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Operator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Name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Example (a=10, b=3)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Result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2961923851"/>
                  </a:ext>
                </a:extLst>
              </a:tr>
              <a:tr h="4604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+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Addition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a + b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13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3506344826"/>
                  </a:ext>
                </a:extLst>
              </a:tr>
              <a:tr h="4604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-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Subtraction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a - b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7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3680081636"/>
                  </a:ext>
                </a:extLst>
              </a:tr>
              <a:tr h="4604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*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Multiplication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a * b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30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912266836"/>
                  </a:ext>
                </a:extLst>
              </a:tr>
              <a:tr h="4604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/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Division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a / b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3.33 (Float)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368311"/>
                  </a:ext>
                </a:extLst>
              </a:tr>
              <a:tr h="4604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//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Floor Division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a // b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3 (Int)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4214820391"/>
                  </a:ext>
                </a:extLst>
              </a:tr>
              <a:tr h="4604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Modulus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a % b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1 (Remainder)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2099906259"/>
                  </a:ext>
                </a:extLst>
              </a:tr>
              <a:tr h="4604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**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Exponent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a ** b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1000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194927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401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14475"/>
            <a:ext cx="110299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581025" y="4717256"/>
            <a:ext cx="11029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1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Use Floor Division for counting discrete items, and Standard Division for scientific accuracy.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Precision vs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Integers</a:t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/>
          <p:nvPr/>
        </p:nvSpPr>
        <p:spPr>
          <a:xfrm>
            <a:off x="5381625" y="2507456"/>
            <a:ext cx="142875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305276" y="2831306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04. Comparison &amp; Logical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581025" y="4136231"/>
            <a:ext cx="11029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"Decision Makers" of your code.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93193"/>
            <a:ext cx="5229225" cy="240506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1009650" y="2845593"/>
            <a:ext cx="48006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== :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Equal to (Value check)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009650" y="3355181"/>
            <a:ext cx="48006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!= :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Not equal to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009650" y="3864768"/>
            <a:ext cx="48006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&gt; :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Greater than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009650" y="4374356"/>
            <a:ext cx="48006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&lt; :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Less than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6772275" y="3083718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Usage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6772275" y="3607593"/>
            <a:ext cx="4448175" cy="90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These operators always return a </a:t>
            </a: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Boolean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(True or False). They are the foundation of if statements and loops.</a:t>
            </a:r>
            <a:endParaRPr/>
          </a:p>
        </p:txBody>
      </p:sp>
      <p:pic>
        <p:nvPicPr>
          <p:cNvPr id="269" name="Google Shape;26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893218"/>
            <a:ext cx="209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40280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91239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421981"/>
            <a:ext cx="1428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Comparison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Operators</a:t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66962"/>
            <a:ext cx="34861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66962"/>
            <a:ext cx="34861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66962"/>
            <a:ext cx="348615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 txBox="1"/>
          <p:nvPr/>
        </p:nvSpPr>
        <p:spPr>
          <a:xfrm>
            <a:off x="971550" y="3500437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and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971550" y="4024312"/>
            <a:ext cx="27051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Returns True if </a:t>
            </a: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both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statements are true.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4743450" y="3500437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or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4743450" y="4024312"/>
            <a:ext cx="27051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Returns True if </a:t>
            </a: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 least one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statement is true.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8515350" y="3500437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not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8515350" y="4024312"/>
            <a:ext cx="27051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Reverse the result, returns False if the result is true.</a:t>
            </a:r>
            <a:endParaRPr/>
          </a:p>
        </p:txBody>
      </p:sp>
      <p:pic>
        <p:nvPicPr>
          <p:cNvPr id="289" name="Google Shape;289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2795587"/>
            <a:ext cx="4762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3450" y="2795587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5350" y="279558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Logical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Operators</a:t>
            </a:r>
            <a:endParaRPr/>
          </a:p>
        </p:txBody>
      </p:sp>
      <p:sp>
        <p:nvSpPr>
          <p:cNvPr id="293" name="Google Shape;293;p26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7"/>
          <p:cNvSpPr/>
          <p:nvPr/>
        </p:nvSpPr>
        <p:spPr>
          <a:xfrm>
            <a:off x="5381625" y="2507456"/>
            <a:ext cx="142875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 txBox="1"/>
          <p:nvPr/>
        </p:nvSpPr>
        <p:spPr>
          <a:xfrm>
            <a:off x="305276" y="2831306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05. Interaction via User Input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581025" y="4136231"/>
            <a:ext cx="11029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Capturing data from the outside world.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95475"/>
            <a:ext cx="52292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8"/>
          <p:cNvSpPr txBox="1"/>
          <p:nvPr/>
        </p:nvSpPr>
        <p:spPr>
          <a:xfrm>
            <a:off x="581025" y="1895475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How it Works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581025" y="2419350"/>
            <a:ext cx="52292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program pauses, waits for user typing, and proceeds once 'Enter' is pressed.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581025" y="4676775"/>
            <a:ext cx="52292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Critical Rule: input() always returns data as a STRING (str).</a:t>
            </a:r>
            <a:endParaRPr/>
          </a:p>
        </p:txBody>
      </p:sp>
      <p:pic>
        <p:nvPicPr>
          <p:cNvPr id="311" name="Google Shape;311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05000"/>
            <a:ext cx="521017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8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input()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Function</a:t>
            </a:r>
            <a:endParaRPr/>
          </a:p>
        </p:txBody>
      </p:sp>
      <p:sp>
        <p:nvSpPr>
          <p:cNvPr id="313" name="Google Shape;313;p28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9"/>
          <p:cNvSpPr/>
          <p:nvPr/>
        </p:nvSpPr>
        <p:spPr>
          <a:xfrm>
            <a:off x="5381625" y="2507456"/>
            <a:ext cx="142875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9"/>
          <p:cNvSpPr txBox="1"/>
          <p:nvPr/>
        </p:nvSpPr>
        <p:spPr>
          <a:xfrm>
            <a:off x="305276" y="2831306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06. Data Transformation</a:t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581025" y="4136231"/>
            <a:ext cx="11029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Type conversion (Casting) and numeric data types.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47925"/>
            <a:ext cx="5229225" cy="2014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47925"/>
            <a:ext cx="5229225" cy="2014537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0"/>
          <p:cNvSpPr txBox="1"/>
          <p:nvPr/>
        </p:nvSpPr>
        <p:spPr>
          <a:xfrm>
            <a:off x="581025" y="4843462"/>
            <a:ext cx="11029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Without casting, input() + input() might do </a:t>
            </a: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"5" + "5" = "55"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instead of </a:t>
            </a: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5 + 5 = 10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!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971550" y="2838450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int()</a:t>
            </a:r>
            <a:endParaRPr/>
          </a:p>
        </p:txBody>
      </p:sp>
      <p:sp>
        <p:nvSpPr>
          <p:cNvPr id="331" name="Google Shape;331;p30"/>
          <p:cNvSpPr txBox="1"/>
          <p:nvPr/>
        </p:nvSpPr>
        <p:spPr>
          <a:xfrm>
            <a:off x="971550" y="3362325"/>
            <a:ext cx="4448175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Converts a string or float to a whole number.</a:t>
            </a:r>
            <a:endParaRPr/>
          </a:p>
        </p:txBody>
      </p:sp>
      <p:sp>
        <p:nvSpPr>
          <p:cNvPr id="332" name="Google Shape;332;p30"/>
          <p:cNvSpPr txBox="1"/>
          <p:nvPr/>
        </p:nvSpPr>
        <p:spPr>
          <a:xfrm>
            <a:off x="6772275" y="2838450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float()</a:t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6772275" y="3362325"/>
            <a:ext cx="4448175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Converts an integer or string to a decimal number.</a:t>
            </a:r>
            <a:endParaRPr dirty="0"/>
          </a:p>
        </p:txBody>
      </p:sp>
      <p:sp>
        <p:nvSpPr>
          <p:cNvPr id="334" name="Google Shape;334;p30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Type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Conversion</a:t>
            </a: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(Casting)</a:t>
            </a:r>
            <a:endParaRPr/>
          </a:p>
        </p:txBody>
      </p:sp>
      <p:sp>
        <p:nvSpPr>
          <p:cNvPr id="335" name="Google Shape;335;p30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1"/>
          <p:cNvSpPr txBox="1"/>
          <p:nvPr/>
        </p:nvSpPr>
        <p:spPr>
          <a:xfrm>
            <a:off x="581025" y="3038475"/>
            <a:ext cx="422136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str()</a:t>
            </a:r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5278635" y="3128962"/>
            <a:ext cx="664895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Preparing for Display</a:t>
            </a:r>
            <a:endParaRPr/>
          </a:p>
        </p:txBody>
      </p:sp>
      <p:sp>
        <p:nvSpPr>
          <p:cNvPr id="343" name="Google Shape;343;p31"/>
          <p:cNvSpPr txBox="1"/>
          <p:nvPr/>
        </p:nvSpPr>
        <p:spPr>
          <a:xfrm>
            <a:off x="5278635" y="3652837"/>
            <a:ext cx="633233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Python cannot concatenate a string and a number directly. We must cast numbers back to strings to print them alongside text.</a:t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Converting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Back to String</a:t>
            </a:r>
            <a:endParaRPr/>
          </a:p>
        </p:txBody>
      </p:sp>
      <p:sp>
        <p:nvSpPr>
          <p:cNvPr id="345" name="Google Shape;345;p31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2"/>
          <p:cNvSpPr/>
          <p:nvPr/>
        </p:nvSpPr>
        <p:spPr>
          <a:xfrm>
            <a:off x="5381625" y="2507456"/>
            <a:ext cx="142875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2"/>
          <p:cNvSpPr txBox="1"/>
          <p:nvPr/>
        </p:nvSpPr>
        <p:spPr>
          <a:xfrm>
            <a:off x="305276" y="2831306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07. Rules of Execution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581025" y="4136231"/>
            <a:ext cx="11029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Order of Operations (BODMAS) and precedence logic.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965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9" name="Google Shape;359;p33"/>
          <p:cNvGraphicFramePr/>
          <p:nvPr>
            <p:extLst>
              <p:ext uri="{D42A27DB-BD31-4B8C-83A1-F6EECF244321}">
                <p14:modId xmlns:p14="http://schemas.microsoft.com/office/powerpoint/2010/main" val="4142869789"/>
              </p:ext>
            </p:extLst>
          </p:nvPr>
        </p:nvGraphicFramePr>
        <p:xfrm>
          <a:off x="581025" y="2283618"/>
          <a:ext cx="11029950" cy="3319500"/>
        </p:xfrm>
        <a:graphic>
          <a:graphicData uri="http://schemas.openxmlformats.org/drawingml/2006/table">
            <a:tbl>
              <a:tblPr firstRow="1" bandRow="1">
                <a:noFill/>
                <a:tableStyleId>{9DDCC642-DEE0-40C6-8729-8039D8EA6E59}</a:tableStyleId>
              </a:tblPr>
              <a:tblGrid>
                <a:gridCol w="200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3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Order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Component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Meaning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</a:t>
                      </a:r>
                      <a:r>
                        <a:rPr lang="en-US" sz="1575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rackets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( 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</a:t>
                      </a:r>
                      <a:r>
                        <a:rPr lang="en-US" sz="1575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rders / Exponents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**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</a:t>
                      </a:r>
                      <a:r>
                        <a:rPr lang="en-US" sz="1575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ivision &amp; </a:t>
                      </a:r>
                      <a:r>
                        <a:rPr lang="en-US" sz="1575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</a:t>
                      </a:r>
                      <a:r>
                        <a:rPr lang="en-US" sz="1575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ult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/, //, %, *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</a:t>
                      </a:r>
                      <a:r>
                        <a:rPr lang="en-US" sz="1575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ddition &amp; </a:t>
                      </a:r>
                      <a:r>
                        <a:rPr lang="en-US" sz="1575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</a:t>
                      </a:r>
                      <a:r>
                        <a:rPr lang="en-US" sz="1575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ub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+, -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0" name="Google Shape;360;p33"/>
          <p:cNvSpPr/>
          <p:nvPr/>
        </p:nvSpPr>
        <p:spPr>
          <a:xfrm>
            <a:off x="581025" y="2950368"/>
            <a:ext cx="2001589" cy="285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3"/>
          <p:cNvSpPr/>
          <p:nvPr/>
        </p:nvSpPr>
        <p:spPr>
          <a:xfrm>
            <a:off x="2582614" y="2950368"/>
            <a:ext cx="4545359" cy="285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3"/>
          <p:cNvSpPr/>
          <p:nvPr/>
        </p:nvSpPr>
        <p:spPr>
          <a:xfrm>
            <a:off x="7127974" y="2950368"/>
            <a:ext cx="4483000" cy="285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581025" y="3631406"/>
            <a:ext cx="2001589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2582614" y="3631406"/>
            <a:ext cx="4545359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7127974" y="3631406"/>
            <a:ext cx="448300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581025" y="4283868"/>
            <a:ext cx="2001589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2582614" y="4283868"/>
            <a:ext cx="4545359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7127974" y="4283868"/>
            <a:ext cx="448300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581025" y="4936331"/>
            <a:ext cx="2001589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2582614" y="4936331"/>
            <a:ext cx="4545359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7127974" y="4936331"/>
            <a:ext cx="448300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581025" y="5588793"/>
            <a:ext cx="2001589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2582614" y="5588793"/>
            <a:ext cx="4545359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7127974" y="5588793"/>
            <a:ext cx="448300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3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BODMAS</a:t>
            </a: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Rule</a:t>
            </a:r>
            <a:endParaRPr/>
          </a:p>
        </p:txBody>
      </p:sp>
      <p:sp>
        <p:nvSpPr>
          <p:cNvPr id="376" name="Google Shape;376;p33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378993"/>
            <a:ext cx="2536775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27537" y="3378993"/>
            <a:ext cx="2536775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74050" y="3378993"/>
            <a:ext cx="2536775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581025" y="2793206"/>
            <a:ext cx="11029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Expression: 2 + 3 * (10 / 2)</a:t>
            </a:r>
            <a:endParaRPr/>
          </a:p>
        </p:txBody>
      </p:sp>
      <p:sp>
        <p:nvSpPr>
          <p:cNvPr id="386" name="Google Shape;386;p34"/>
          <p:cNvSpPr/>
          <p:nvPr/>
        </p:nvSpPr>
        <p:spPr>
          <a:xfrm>
            <a:off x="581025" y="4288631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4"/>
          <p:cNvSpPr txBox="1"/>
          <p:nvPr/>
        </p:nvSpPr>
        <p:spPr>
          <a:xfrm>
            <a:off x="777638" y="3626643"/>
            <a:ext cx="214354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Step 1</a:t>
            </a:r>
            <a:endParaRPr/>
          </a:p>
        </p:txBody>
      </p:sp>
      <p:sp>
        <p:nvSpPr>
          <p:cNvPr id="388" name="Google Shape;388;p34"/>
          <p:cNvSpPr txBox="1"/>
          <p:nvPr/>
        </p:nvSpPr>
        <p:spPr>
          <a:xfrm>
            <a:off x="828675" y="4150518"/>
            <a:ext cx="2041475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Brackets First: (5.0)</a:t>
            </a:r>
            <a:endParaRPr/>
          </a:p>
        </p:txBody>
      </p:sp>
      <p:sp>
        <p:nvSpPr>
          <p:cNvPr id="389" name="Google Shape;389;p34"/>
          <p:cNvSpPr txBox="1"/>
          <p:nvPr/>
        </p:nvSpPr>
        <p:spPr>
          <a:xfrm>
            <a:off x="5024151" y="3626643"/>
            <a:ext cx="214354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Step 2</a:t>
            </a:r>
            <a:endParaRPr/>
          </a:p>
        </p:txBody>
      </p:sp>
      <p:sp>
        <p:nvSpPr>
          <p:cNvPr id="390" name="Google Shape;390;p34"/>
          <p:cNvSpPr txBox="1"/>
          <p:nvPr/>
        </p:nvSpPr>
        <p:spPr>
          <a:xfrm>
            <a:off x="5075187" y="4150518"/>
            <a:ext cx="20414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Mult Next: 3 * 5.0 = 15.0</a:t>
            </a:r>
            <a:endParaRPr/>
          </a:p>
        </p:txBody>
      </p:sp>
      <p:sp>
        <p:nvSpPr>
          <p:cNvPr id="391" name="Google Shape;391;p34"/>
          <p:cNvSpPr txBox="1"/>
          <p:nvPr/>
        </p:nvSpPr>
        <p:spPr>
          <a:xfrm>
            <a:off x="9270663" y="3626643"/>
            <a:ext cx="214354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Step 3</a:t>
            </a:r>
            <a:endParaRPr/>
          </a:p>
        </p:txBody>
      </p:sp>
      <p:sp>
        <p:nvSpPr>
          <p:cNvPr id="392" name="Google Shape;392;p34"/>
          <p:cNvSpPr txBox="1"/>
          <p:nvPr/>
        </p:nvSpPr>
        <p:spPr>
          <a:xfrm>
            <a:off x="9321700" y="4150518"/>
            <a:ext cx="20414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Add Last: 2 + 15.0 = 17.0</a:t>
            </a:r>
            <a:endParaRPr/>
          </a:p>
        </p:txBody>
      </p:sp>
      <p:sp>
        <p:nvSpPr>
          <p:cNvPr id="393" name="Google Shape;393;p34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Precedence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 Action</a:t>
            </a:r>
            <a:endParaRPr/>
          </a:p>
        </p:txBody>
      </p:sp>
      <p:sp>
        <p:nvSpPr>
          <p:cNvPr id="394" name="Google Shape;394;p34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5"/>
          <p:cNvSpPr/>
          <p:nvPr/>
        </p:nvSpPr>
        <p:spPr>
          <a:xfrm>
            <a:off x="5381625" y="2507456"/>
            <a:ext cx="142875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5"/>
          <p:cNvSpPr txBox="1"/>
          <p:nvPr/>
        </p:nvSpPr>
        <p:spPr>
          <a:xfrm>
            <a:off x="305276" y="2831306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08. String Operations</a:t>
            </a:r>
            <a:endParaRPr/>
          </a:p>
        </p:txBody>
      </p:sp>
      <p:sp>
        <p:nvSpPr>
          <p:cNvPr id="402" name="Google Shape;402;p35"/>
          <p:cNvSpPr txBox="1"/>
          <p:nvPr/>
        </p:nvSpPr>
        <p:spPr>
          <a:xfrm>
            <a:off x="581025" y="4136231"/>
            <a:ext cx="11029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Concatenation, replication, and text logic.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05087"/>
            <a:ext cx="5229225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6"/>
          <p:cNvSpPr txBox="1"/>
          <p:nvPr/>
        </p:nvSpPr>
        <p:spPr>
          <a:xfrm>
            <a:off x="581025" y="260508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Joining Text</a:t>
            </a:r>
            <a:endParaRPr/>
          </a:p>
        </p:txBody>
      </p:sp>
      <p:sp>
        <p:nvSpPr>
          <p:cNvPr id="410" name="Google Shape;410;p36"/>
          <p:cNvSpPr txBox="1"/>
          <p:nvPr/>
        </p:nvSpPr>
        <p:spPr>
          <a:xfrm>
            <a:off x="581025" y="3128962"/>
            <a:ext cx="52292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Using the + operator between strings links them together without adding a space automatically.</a:t>
            </a:r>
            <a:endParaRPr/>
          </a:p>
        </p:txBody>
      </p:sp>
      <p:sp>
        <p:nvSpPr>
          <p:cNvPr id="411" name="Google Shape;411;p36"/>
          <p:cNvSpPr txBox="1"/>
          <p:nvPr/>
        </p:nvSpPr>
        <p:spPr>
          <a:xfrm>
            <a:off x="6772275" y="2995612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String Replication</a:t>
            </a:r>
            <a:endParaRPr/>
          </a:p>
        </p:txBody>
      </p:sp>
      <p:sp>
        <p:nvSpPr>
          <p:cNvPr id="412" name="Google Shape;412;p36"/>
          <p:cNvSpPr txBox="1"/>
          <p:nvPr/>
        </p:nvSpPr>
        <p:spPr>
          <a:xfrm>
            <a:off x="6772275" y="3519487"/>
            <a:ext cx="44481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* operator allows you to repeat a string multiple times.</a:t>
            </a:r>
            <a:endParaRPr/>
          </a:p>
        </p:txBody>
      </p:sp>
      <p:sp>
        <p:nvSpPr>
          <p:cNvPr id="413" name="Google Shape;413;p36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String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Concatenation</a:t>
            </a:r>
            <a:endParaRPr/>
          </a:p>
        </p:txBody>
      </p:sp>
      <p:sp>
        <p:nvSpPr>
          <p:cNvPr id="414" name="Google Shape;414;p36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7"/>
          <p:cNvSpPr/>
          <p:nvPr/>
        </p:nvSpPr>
        <p:spPr>
          <a:xfrm>
            <a:off x="5381625" y="2507456"/>
            <a:ext cx="142875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7"/>
          <p:cNvSpPr txBox="1"/>
          <p:nvPr/>
        </p:nvSpPr>
        <p:spPr>
          <a:xfrm>
            <a:off x="305276" y="2831306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09. Debugging &amp; Errors</a:t>
            </a:r>
            <a:endParaRPr/>
          </a:p>
        </p:txBody>
      </p:sp>
      <p:sp>
        <p:nvSpPr>
          <p:cNvPr id="422" name="Google Shape;422;p37"/>
          <p:cNvSpPr txBox="1"/>
          <p:nvPr/>
        </p:nvSpPr>
        <p:spPr>
          <a:xfrm>
            <a:off x="581025" y="4136231"/>
            <a:ext cx="11029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developer's toolkit for finding and fixing mistakes.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21718"/>
            <a:ext cx="3486150" cy="3148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21718"/>
            <a:ext cx="3486150" cy="3148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21718"/>
            <a:ext cx="3486150" cy="314801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8"/>
          <p:cNvSpPr txBox="1"/>
          <p:nvPr/>
        </p:nvSpPr>
        <p:spPr>
          <a:xfrm>
            <a:off x="971550" y="3455193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Syntax Error</a:t>
            </a:r>
            <a:endParaRPr/>
          </a:p>
        </p:txBody>
      </p:sp>
      <p:sp>
        <p:nvSpPr>
          <p:cNvPr id="432" name="Google Shape;432;p38"/>
          <p:cNvSpPr txBox="1"/>
          <p:nvPr/>
        </p:nvSpPr>
        <p:spPr>
          <a:xfrm>
            <a:off x="971550" y="3979068"/>
            <a:ext cx="2705100" cy="90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Incorrect code structure (e.g., missing a bracket). Program won't run.</a:t>
            </a:r>
            <a:endParaRPr/>
          </a:p>
        </p:txBody>
      </p:sp>
      <p:sp>
        <p:nvSpPr>
          <p:cNvPr id="433" name="Google Shape;433;p38"/>
          <p:cNvSpPr txBox="1"/>
          <p:nvPr/>
        </p:nvSpPr>
        <p:spPr>
          <a:xfrm>
            <a:off x="4743450" y="3455193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Runtime Error</a:t>
            </a:r>
            <a:endParaRPr/>
          </a:p>
        </p:txBody>
      </p:sp>
      <p:sp>
        <p:nvSpPr>
          <p:cNvPr id="434" name="Google Shape;434;p38"/>
          <p:cNvSpPr txBox="1"/>
          <p:nvPr/>
        </p:nvSpPr>
        <p:spPr>
          <a:xfrm>
            <a:off x="4743450" y="3979068"/>
            <a:ext cx="2705100" cy="90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Mistake happens during execution (e.g., Dividing by zero).</a:t>
            </a:r>
            <a:endParaRPr/>
          </a:p>
        </p:txBody>
      </p:sp>
      <p:sp>
        <p:nvSpPr>
          <p:cNvPr id="435" name="Google Shape;435;p38"/>
          <p:cNvSpPr txBox="1"/>
          <p:nvPr/>
        </p:nvSpPr>
        <p:spPr>
          <a:xfrm>
            <a:off x="8515350" y="3455193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Logic Error</a:t>
            </a:r>
            <a:endParaRPr/>
          </a:p>
        </p:txBody>
      </p:sp>
      <p:sp>
        <p:nvSpPr>
          <p:cNvPr id="436" name="Google Shape;436;p38"/>
          <p:cNvSpPr txBox="1"/>
          <p:nvPr/>
        </p:nvSpPr>
        <p:spPr>
          <a:xfrm>
            <a:off x="8515350" y="3979068"/>
            <a:ext cx="27051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Code runs fine but gives the wrong result. Hardest to find!</a:t>
            </a:r>
            <a:endParaRPr/>
          </a:p>
        </p:txBody>
      </p:sp>
      <p:pic>
        <p:nvPicPr>
          <p:cNvPr id="437" name="Google Shape;437;p3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2750343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3450" y="275034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5350" y="2750343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8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Common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Error Types</a:t>
            </a:r>
            <a:endParaRPr/>
          </a:p>
        </p:txBody>
      </p:sp>
      <p:sp>
        <p:nvSpPr>
          <p:cNvPr id="441" name="Google Shape;441;p38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9"/>
          <p:cNvSpPr txBox="1"/>
          <p:nvPr/>
        </p:nvSpPr>
        <p:spPr>
          <a:xfrm>
            <a:off x="771525" y="771525"/>
            <a:ext cx="4990623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Debugging</a:t>
            </a: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Mindset</a:t>
            </a:r>
            <a:endParaRPr/>
          </a:p>
        </p:txBody>
      </p:sp>
      <p:sp>
        <p:nvSpPr>
          <p:cNvPr id="448" name="Google Shape;448;p39"/>
          <p:cNvSpPr/>
          <p:nvPr/>
        </p:nvSpPr>
        <p:spPr>
          <a:xfrm>
            <a:off x="581025" y="771525"/>
            <a:ext cx="57150" cy="11049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9"/>
          <p:cNvSpPr txBox="1"/>
          <p:nvPr/>
        </p:nvSpPr>
        <p:spPr>
          <a:xfrm>
            <a:off x="1009650" y="2409825"/>
            <a:ext cx="45148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Read Error Messages: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Python usually tells you exactly where it failed.</a:t>
            </a:r>
            <a:endParaRPr/>
          </a:p>
        </p:txBody>
      </p:sp>
      <p:sp>
        <p:nvSpPr>
          <p:cNvPr id="451" name="Google Shape;451;p39"/>
          <p:cNvSpPr txBox="1"/>
          <p:nvPr/>
        </p:nvSpPr>
        <p:spPr>
          <a:xfrm>
            <a:off x="1009650" y="3219450"/>
            <a:ext cx="45148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Print Debugging: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Print variable values at every step.</a:t>
            </a:r>
            <a:endParaRPr/>
          </a:p>
        </p:txBody>
      </p:sp>
      <p:sp>
        <p:nvSpPr>
          <p:cNvPr id="452" name="Google Shape;452;p39"/>
          <p:cNvSpPr txBox="1"/>
          <p:nvPr/>
        </p:nvSpPr>
        <p:spPr>
          <a:xfrm>
            <a:off x="1009650" y="4029075"/>
            <a:ext cx="45148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Isolate: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Comment out code to find the failing section.</a:t>
            </a:r>
            <a:endParaRPr/>
          </a:p>
        </p:txBody>
      </p:sp>
      <p:pic>
        <p:nvPicPr>
          <p:cNvPr id="453" name="Google Shape;453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4574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2670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0767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0"/>
          <p:cNvSpPr txBox="1"/>
          <p:nvPr/>
        </p:nvSpPr>
        <p:spPr>
          <a:xfrm>
            <a:off x="1009650" y="3207543"/>
            <a:ext cx="48006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Machine language is </a:t>
            </a: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Binary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(0s and 1s).</a:t>
            </a:r>
            <a:endParaRPr/>
          </a:p>
        </p:txBody>
      </p:sp>
      <p:sp>
        <p:nvSpPr>
          <p:cNvPr id="462" name="Google Shape;462;p40"/>
          <p:cNvSpPr txBox="1"/>
          <p:nvPr/>
        </p:nvSpPr>
        <p:spPr>
          <a:xfrm>
            <a:off x="1009650" y="3717131"/>
            <a:ext cx="48006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input() always returns a </a:t>
            </a: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String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463" name="Google Shape;463;p40"/>
          <p:cNvSpPr txBox="1"/>
          <p:nvPr/>
        </p:nvSpPr>
        <p:spPr>
          <a:xfrm>
            <a:off x="1009650" y="4226718"/>
            <a:ext cx="48006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Use </a:t>
            </a: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Casting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(int, float) for math.</a:t>
            </a:r>
            <a:endParaRPr/>
          </a:p>
        </p:txBody>
      </p:sp>
      <p:sp>
        <p:nvSpPr>
          <p:cNvPr id="464" name="Google Shape;464;p40"/>
          <p:cNvSpPr txBox="1"/>
          <p:nvPr/>
        </p:nvSpPr>
        <p:spPr>
          <a:xfrm>
            <a:off x="6810375" y="3207543"/>
            <a:ext cx="48006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Operators act on </a:t>
            </a: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Operands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465" name="Google Shape;465;p40"/>
          <p:cNvSpPr txBox="1"/>
          <p:nvPr/>
        </p:nvSpPr>
        <p:spPr>
          <a:xfrm>
            <a:off x="6810375" y="3717131"/>
            <a:ext cx="48006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BODMAS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controls the math flow.</a:t>
            </a:r>
            <a:endParaRPr/>
          </a:p>
        </p:txBody>
      </p:sp>
      <p:sp>
        <p:nvSpPr>
          <p:cNvPr id="466" name="Google Shape;466;p40"/>
          <p:cNvSpPr txBox="1"/>
          <p:nvPr/>
        </p:nvSpPr>
        <p:spPr>
          <a:xfrm>
            <a:off x="6810375" y="4226718"/>
            <a:ext cx="48006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Logic Errors</a:t>
            </a: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are flaws in reasoning.</a:t>
            </a:r>
            <a:endParaRPr/>
          </a:p>
        </p:txBody>
      </p:sp>
      <p:pic>
        <p:nvPicPr>
          <p:cNvPr id="467" name="Google Shape;467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5516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76475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7434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25516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76475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274343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0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Class </a:t>
            </a: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Summary</a:t>
            </a:r>
            <a:endParaRPr/>
          </a:p>
        </p:txBody>
      </p:sp>
      <p:sp>
        <p:nvSpPr>
          <p:cNvPr id="474" name="Google Shape;474;p40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14475"/>
            <a:ext cx="110299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1"/>
          <p:cNvSpPr txBox="1"/>
          <p:nvPr/>
        </p:nvSpPr>
        <p:spPr>
          <a:xfrm>
            <a:off x="981075" y="1914525"/>
            <a:ext cx="107413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Task: Dynamic Calculator</a:t>
            </a:r>
            <a:endParaRPr/>
          </a:p>
        </p:txBody>
      </p:sp>
      <p:sp>
        <p:nvSpPr>
          <p:cNvPr id="482" name="Google Shape;482;p41"/>
          <p:cNvSpPr txBox="1"/>
          <p:nvPr/>
        </p:nvSpPr>
        <p:spPr>
          <a:xfrm>
            <a:off x="981075" y="2438400"/>
            <a:ext cx="102298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Create a Python script that:</a:t>
            </a:r>
            <a:endParaRPr/>
          </a:p>
        </p:txBody>
      </p:sp>
      <p:sp>
        <p:nvSpPr>
          <p:cNvPr id="483" name="Google Shape;483;p41"/>
          <p:cNvSpPr txBox="1"/>
          <p:nvPr/>
        </p:nvSpPr>
        <p:spPr>
          <a:xfrm>
            <a:off x="1266825" y="2936081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1.</a:t>
            </a:r>
            <a:endParaRPr/>
          </a:p>
        </p:txBody>
      </p:sp>
      <p:sp>
        <p:nvSpPr>
          <p:cNvPr id="484" name="Google Shape;484;p41"/>
          <p:cNvSpPr txBox="1"/>
          <p:nvPr/>
        </p:nvSpPr>
        <p:spPr>
          <a:xfrm>
            <a:off x="1362075" y="2938462"/>
            <a:ext cx="98488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Takes two numbers as input from the user.</a:t>
            </a:r>
            <a:endParaRPr/>
          </a:p>
        </p:txBody>
      </p:sp>
      <p:sp>
        <p:nvSpPr>
          <p:cNvPr id="485" name="Google Shape;485;p41"/>
          <p:cNvSpPr txBox="1"/>
          <p:nvPr/>
        </p:nvSpPr>
        <p:spPr>
          <a:xfrm>
            <a:off x="1219200" y="3236118"/>
            <a:ext cx="142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2.</a:t>
            </a:r>
            <a:endParaRPr/>
          </a:p>
        </p:txBody>
      </p:sp>
      <p:sp>
        <p:nvSpPr>
          <p:cNvPr id="486" name="Google Shape;486;p41"/>
          <p:cNvSpPr txBox="1"/>
          <p:nvPr/>
        </p:nvSpPr>
        <p:spPr>
          <a:xfrm>
            <a:off x="1362075" y="3238500"/>
            <a:ext cx="98488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Performs Addition, Multiplication, and Modulus.</a:t>
            </a:r>
            <a:endParaRPr/>
          </a:p>
        </p:txBody>
      </p:sp>
      <p:sp>
        <p:nvSpPr>
          <p:cNvPr id="487" name="Google Shape;487;p41"/>
          <p:cNvSpPr txBox="1"/>
          <p:nvPr/>
        </p:nvSpPr>
        <p:spPr>
          <a:xfrm>
            <a:off x="1228725" y="3536156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3.</a:t>
            </a:r>
            <a:endParaRPr/>
          </a:p>
        </p:txBody>
      </p:sp>
      <p:sp>
        <p:nvSpPr>
          <p:cNvPr id="488" name="Google Shape;488;p41"/>
          <p:cNvSpPr txBox="1"/>
          <p:nvPr/>
        </p:nvSpPr>
        <p:spPr>
          <a:xfrm>
            <a:off x="1362075" y="3538537"/>
            <a:ext cx="98488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Displays the results using string concatenation.</a:t>
            </a:r>
            <a:endParaRPr/>
          </a:p>
        </p:txBody>
      </p:sp>
      <p:sp>
        <p:nvSpPr>
          <p:cNvPr id="489" name="Google Shape;489;p41"/>
          <p:cNvSpPr txBox="1"/>
          <p:nvPr/>
        </p:nvSpPr>
        <p:spPr>
          <a:xfrm>
            <a:off x="1219200" y="3836193"/>
            <a:ext cx="14287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4</a:t>
            </a:r>
            <a:endParaRPr dirty="0"/>
          </a:p>
        </p:txBody>
      </p:sp>
      <p:sp>
        <p:nvSpPr>
          <p:cNvPr id="490" name="Google Shape;490;p41"/>
          <p:cNvSpPr txBox="1"/>
          <p:nvPr/>
        </p:nvSpPr>
        <p:spPr>
          <a:xfrm>
            <a:off x="1362075" y="3838575"/>
            <a:ext cx="98488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Handles decimals using float() conversion.</a:t>
            </a:r>
            <a:endParaRPr/>
          </a:p>
        </p:txBody>
      </p:sp>
      <p:sp>
        <p:nvSpPr>
          <p:cNvPr id="491" name="Google Shape;491;p41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Class</a:t>
            </a:r>
            <a:r>
              <a:rPr lang="en-US" sz="36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3600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Task</a:t>
            </a:r>
            <a:endParaRPr dirty="0"/>
          </a:p>
        </p:txBody>
      </p:sp>
      <p:sp>
        <p:nvSpPr>
          <p:cNvPr id="492" name="Google Shape;492;p41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2"/>
          <p:cNvSpPr txBox="1"/>
          <p:nvPr/>
        </p:nvSpPr>
        <p:spPr>
          <a:xfrm>
            <a:off x="305276" y="2143125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Any Questions?</a:t>
            </a:r>
            <a:endParaRPr/>
          </a:p>
        </p:txBody>
      </p:sp>
      <p:sp>
        <p:nvSpPr>
          <p:cNvPr id="499" name="Google Shape;499;p42"/>
          <p:cNvSpPr txBox="1"/>
          <p:nvPr/>
        </p:nvSpPr>
        <p:spPr>
          <a:xfrm>
            <a:off x="581025" y="3390900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Thank you for joining Live Class 2!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890</Words>
  <Application>Microsoft Office PowerPoint</Application>
  <PresentationFormat>Widescreen</PresentationFormat>
  <Paragraphs>178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Urbanist</vt:lpstr>
      <vt:lpstr>Urbanist Medium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Dell</cp:lastModifiedBy>
  <cp:revision>1</cp:revision>
  <dcterms:modified xsi:type="dcterms:W3CDTF">2026-07-01T16:25:41Z</dcterms:modified>
</cp:coreProperties>
</file>